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The claim is not that an 8 GB GPU defeats every cloud system. The claim is that useful language-model capability has become personal, programmable, and ownable. Preview the historical comparison and the live chess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only a 30-second teaser. Point out that the model is local and the full decision pipeline will be demonstrated later. Do not begin the live demo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Stanford's 2026 AI Index reported a 3.3% gap between the top closed and top open model in March 2026. Benchmarks are incomplete and local models are usually smaller than the best open models. Use the number only to establish that open models are credible, not identical. Define open-weight: downloadable weights under a model-specific license. It is not automatically the same as open-source software.
Sources:
• https://hai.stanford.edu/ai-index/2026-ai-index-report/technical-performance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ENIAC predates the mainframe category, so call it a room-scale centralized-computing precursor. Name the women shown: Ester Gerston and Gloria Gordon Bolotsky. The useful parallel is centralized access—not a claim that ENIAC and an LLM are the same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shows several people around an IBM System/360 Model 30 in New Haven. The terminal diagram illustrates time-sharing: many users interact with one centralized computer. Hosted AI has a similar access pattern, although modern infrastructure is 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History Museum dates the first Kenbak-1 sale to 1971 and calls it one of the earliest personal computers. Avoid declaring an undisputed single first PC. The PC did not eliminate centralized computing; it created a complementary personal layer.
Sources:
• https://www.computerhistory.org/timeline/computers/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Transformer was introduced in 2017. ChatGPT launched publicly in November 2022. Open-weight releases and local runtimes expanded rapidly in 2023. The time scales differ dramatically, and history does not guarantee the same market outcome.
Sources:
• https://research.google/pubs/attention-is-all-you-need/
• https://openai.com/index/chatgpt/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each benefit with constraints: smaller models, finite memory, energy use, setup, maintenance, and model-specific licenses. Hugging Face describes privacy, speed, control, and cost as advantages of local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Quantization is lossy numerical representation, not magical compression. Four-bit weights require roughly one quarter of the raw weight storage of 16-bit weights, but quantization metadata and runtime allocations mean total memory is not exactly one quarter. Q4_K_M uses mixed block quantization intended to preserve important weights better than a naive uniform four-bit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Hugging Face is a collaboration and distribution platform. GGUF is a model container format. llama.cpp is an MIT-licensed inference runtime. Ollama is an MIT-licensed application built around a simple local workflow. Model weights retain their own licenses; avoid calling every model open source.
Sources:
• https://huggingface.co/docs/hub/local-apps
• https://huggingface.co/docs/hub/gguf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llama.cpp is a runtime rather than a single graphical interface. It provides command-line tools and an OpenAI-compatible local server, and supports several CPU and GPU backends. In Chess Llama the server is bound to localhost and runs in a CUDA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Stockfish searches briefly on the CPU. The best move is always retained; alternatives are included only when close enough. Qwen is sampled at temperature 0.2 and must select from a JSON Schema enum. The gateway validates the answer independently. There is one retry, but no random or silent engine fallback. This showcases useful stochastic judgment inside a deterministic safety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run ./chess-llama doctor, load the model, and start the application. If all artifacts are cached and venue projection is independent of Wi-Fi, disconnect Wi-Fi before the move. Make one normal opening move. Narrate Request → Gateway → Stockfish → Llama → Saved. Point to model identity, Q4_K_M, CUDA, candidates, choice, commentary, latency, and tokens per second. If inference fails, use the embedded completed-decision visual and explain the resumable awaiting_ai state.
Sources:
• https://www.nvidia.com/en-us/geforce/news/ultimate-guide-to-4060/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thesis: local models are not a universal replacement. Their potential is that developers and students can own an increasingly useful layer of computation. End on the concrete invitation to choose one bounded task and try it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All links are embedded in the corresponding slide notes and in the presentation README. Facts and current-state figures were checked on 18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Full URLs, license links, file hashes, and alteration notes are in presentation/assets/ATTRIBUTION.md. Logos are used only to identify their projects and do not imply sponsorship or endorsement.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3EFE4"/>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65B35"/>
          </a:solidFill>
          <a:ln w="12700">
            <a:solidFill>
              <a:srgbClr val="D65B35"/>
            </a:solidFill>
            <a:prstDash val="solid"/>
          </a:ln>
        </p:spPr>
      </p:sp>
      <p:sp>
        <p:nvSpPr>
          <p:cNvPr id="3" name="Shape 1"/>
          <p:cNvSpPr/>
          <p:nvPr/>
        </p:nvSpPr>
        <p:spPr>
          <a:xfrm>
            <a:off x="502920" y="6528816"/>
            <a:ext cx="11183112" cy="0"/>
          </a:xfrm>
          <a:prstGeom prst="line">
            <a:avLst/>
          </a:prstGeom>
          <a:noFill/>
          <a:ln w="8890">
            <a:solidFill>
              <a:srgbClr val="D4CEBE"/>
            </a:solidFill>
            <a:prstDash val="solid"/>
          </a:ln>
        </p:spPr>
      </p:sp>
      <p:sp>
        <p:nvSpPr>
          <p:cNvPr id="4" name="Text 2"/>
          <p:cNvSpPr/>
          <p:nvPr/>
        </p:nvSpPr>
        <p:spPr>
          <a:xfrm>
            <a:off x="566928" y="6583680"/>
            <a:ext cx="3017520" cy="146304"/>
          </a:xfrm>
          <a:prstGeom prst="rect">
            <a:avLst/>
          </a:prstGeom>
          <a:noFill/>
          <a:ln/>
        </p:spPr>
        <p:txBody>
          <a:bodyPr wrap="square" lIns="0" tIns="0" rIns="0" bIns="0" rtlCol="0" anchor="ctr"/>
          <a:lstStyle/>
          <a:p>
            <a:pPr indent="0" marL="0">
              <a:buNone/>
            </a:pPr>
            <a:r>
              <a:rPr lang="en-US" sz="850" spc="150" kern="0" dirty="0">
                <a:solidFill>
                  <a:srgbClr val="62695D"/>
                </a:solidFill>
                <a:latin typeface="Liberation Mono" pitchFamily="34" charset="0"/>
                <a:ea typeface="Liberation Mono" pitchFamily="34" charset="-122"/>
                <a:cs typeface="Liberation Mono" pitchFamily="34" charset="-120"/>
              </a:rPr>
              <a:t>LOCAL LLMs · 8 GB VRAM</a:t>
            </a:r>
            <a:endParaRPr lang="en-US" sz="85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40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D65B35"/>
          </a:solidFill>
          <a:ln w="12700">
            <a:solidFill>
              <a:srgbClr val="D65B35">
                <a:alpha val="0"/>
              </a:srgbClr>
            </a:solidFill>
            <a:prstDash val="solid"/>
          </a:ln>
        </p:spPr>
      </p:sp>
      <p:sp>
        <p:nvSpPr>
          <p:cNvPr id="3" name="Shape 1"/>
          <p:cNvSpPr/>
          <p:nvPr/>
        </p:nvSpPr>
        <p:spPr>
          <a:xfrm>
            <a:off x="7882128" y="-365760"/>
            <a:ext cx="4754880" cy="7589520"/>
          </a:xfrm>
          <a:prstGeom prst="rect">
            <a:avLst/>
          </a:prstGeom>
          <a:solidFill>
            <a:srgbClr val="242922"/>
          </a:solidFill>
          <a:ln w="12700">
            <a:solidFill>
              <a:srgbClr val="242922">
                <a:alpha val="0"/>
              </a:srgbClr>
            </a:solidFill>
            <a:prstDash val="solid"/>
          </a:ln>
        </p:spPr>
      </p:sp>
      <p:sp>
        <p:nvSpPr>
          <p:cNvPr id="4" name="Shape 2"/>
          <p:cNvSpPr/>
          <p:nvPr/>
        </p:nvSpPr>
        <p:spPr>
          <a:xfrm>
            <a:off x="7891272" y="0"/>
            <a:ext cx="0" cy="6858000"/>
          </a:xfrm>
          <a:prstGeom prst="line">
            <a:avLst/>
          </a:prstGeom>
          <a:noFill/>
          <a:ln w="12700">
            <a:solidFill>
              <a:srgbClr val="444A3F"/>
            </a:solidFill>
            <a:prstDash val="solid"/>
          </a:ln>
        </p:spPr>
      </p:sp>
      <p:sp>
        <p:nvSpPr>
          <p:cNvPr id="5" name="Text 3"/>
          <p:cNvSpPr/>
          <p:nvPr/>
        </p:nvSpPr>
        <p:spPr>
          <a:xfrm>
            <a:off x="658368" y="594360"/>
            <a:ext cx="2834640" cy="274320"/>
          </a:xfrm>
          <a:prstGeom prst="rect">
            <a:avLst/>
          </a:prstGeom>
          <a:noFill/>
          <a:ln/>
        </p:spPr>
        <p:txBody>
          <a:bodyPr wrap="square" lIns="0" tIns="0" rIns="0" bIns="0" rtlCol="0" anchor="ctr">
            <a:normAutofit/>
          </a:bodyPr>
          <a:lstStyle/>
          <a:p>
            <a:pPr indent="0" marL="0">
              <a:buNone/>
            </a:pPr>
            <a:r>
              <a:rPr lang="en-US" sz="1200" b="1" spc="200" kern="0" dirty="0">
                <a:solidFill>
                  <a:srgbClr val="E89B45"/>
                </a:solidFill>
                <a:latin typeface="Liberation Mono" pitchFamily="34" charset="0"/>
                <a:ea typeface="Liberation Mono" pitchFamily="34" charset="-122"/>
                <a:cs typeface="Liberation Mono" pitchFamily="34" charset="-120"/>
              </a:rPr>
              <a:t>LOCAL LLMs</a:t>
            </a:r>
            <a:endParaRPr lang="en-US" sz="1200" dirty="0"/>
          </a:p>
        </p:txBody>
      </p:sp>
      <p:sp>
        <p:nvSpPr>
          <p:cNvPr id="6" name="Text 4"/>
          <p:cNvSpPr/>
          <p:nvPr/>
        </p:nvSpPr>
        <p:spPr>
          <a:xfrm>
            <a:off x="658368" y="1051560"/>
            <a:ext cx="6720840" cy="2148840"/>
          </a:xfrm>
          <a:prstGeom prst="rect">
            <a:avLst/>
          </a:prstGeom>
          <a:noFill/>
          <a:ln/>
        </p:spPr>
        <p:txBody>
          <a:bodyPr wrap="square" lIns="0" tIns="0" rIns="0" bIns="0" rtlCol="0" anchor="ctr">
            <a:normAutofit/>
          </a:bodyPr>
          <a:lstStyle/>
          <a:p>
            <a:pPr indent="0" marL="0">
              <a:buNone/>
            </a:pPr>
            <a:r>
              <a:rPr lang="en-US" sz="3500" b="1" dirty="0">
                <a:solidFill>
                  <a:srgbClr val="FFFDF7"/>
                </a:solidFill>
                <a:latin typeface="Liberation Sans" pitchFamily="34" charset="0"/>
                <a:ea typeface="Liberation Sans" pitchFamily="34" charset="-122"/>
                <a:cs typeface="Liberation Sans" pitchFamily="34" charset="-120"/>
              </a:rPr>
              <a:t>My 8GB VRAM</a:t>
            </a:r>
            <a:endParaRPr lang="en-US" sz="3500" dirty="0"/>
          </a:p>
          <a:p>
            <a:pPr indent="0" marL="0">
              <a:buNone/>
            </a:pPr>
            <a:r>
              <a:rPr lang="en-US" sz="3500" b="1" dirty="0">
                <a:solidFill>
                  <a:srgbClr val="FFFDF7"/>
                </a:solidFill>
                <a:latin typeface="Liberation Sans" pitchFamily="34" charset="0"/>
                <a:ea typeface="Liberation Sans" pitchFamily="34" charset="-122"/>
                <a:cs typeface="Liberation Sans" pitchFamily="34" charset="-120"/>
              </a:rPr>
              <a:t>vs the World</a:t>
            </a:r>
            <a:endParaRPr lang="en-US" sz="3500" dirty="0"/>
          </a:p>
        </p:txBody>
      </p:sp>
      <p:sp>
        <p:nvSpPr>
          <p:cNvPr id="7" name="Text 5"/>
          <p:cNvSpPr/>
          <p:nvPr/>
        </p:nvSpPr>
        <p:spPr>
          <a:xfrm>
            <a:off x="694944" y="3401568"/>
            <a:ext cx="6126480" cy="438912"/>
          </a:xfrm>
          <a:prstGeom prst="rect">
            <a:avLst/>
          </a:prstGeom>
          <a:noFill/>
          <a:ln/>
        </p:spPr>
        <p:txBody>
          <a:bodyPr wrap="square" lIns="0" tIns="0" rIns="0" bIns="0" rtlCol="0" anchor="ctr">
            <a:normAutofit/>
          </a:bodyPr>
          <a:lstStyle/>
          <a:p>
            <a:pPr indent="0" marL="0">
              <a:buNone/>
            </a:pPr>
            <a:r>
              <a:rPr lang="en-US" sz="2000" dirty="0">
                <a:solidFill>
                  <a:srgbClr val="D7DACE"/>
                </a:solidFill>
                <a:latin typeface="Liberation Sans" pitchFamily="34" charset="0"/>
                <a:ea typeface="Liberation Sans" pitchFamily="34" charset="-122"/>
                <a:cs typeface="Liberation Sans" pitchFamily="34" charset="-120"/>
              </a:rPr>
              <a:t>From centralized AI to models you can own</a:t>
            </a:r>
            <a:endParaRPr lang="en-US" sz="2000" dirty="0"/>
          </a:p>
        </p:txBody>
      </p:sp>
      <p:sp>
        <p:nvSpPr>
          <p:cNvPr id="8" name="Shape 6"/>
          <p:cNvSpPr/>
          <p:nvPr/>
        </p:nvSpPr>
        <p:spPr>
          <a:xfrm>
            <a:off x="685800" y="4087368"/>
            <a:ext cx="6263640" cy="0"/>
          </a:xfrm>
          <a:prstGeom prst="line">
            <a:avLst/>
          </a:prstGeom>
          <a:noFill/>
          <a:ln w="12700">
            <a:solidFill>
              <a:srgbClr val="51584B"/>
            </a:solidFill>
            <a:prstDash val="solid"/>
          </a:ln>
        </p:spPr>
      </p:sp>
      <p:sp>
        <p:nvSpPr>
          <p:cNvPr id="9" name="Text 7"/>
          <p:cNvSpPr/>
          <p:nvPr/>
        </p:nvSpPr>
        <p:spPr>
          <a:xfrm>
            <a:off x="694944" y="4279392"/>
            <a:ext cx="5852160" cy="320040"/>
          </a:xfrm>
          <a:prstGeom prst="rect">
            <a:avLst/>
          </a:prstGeom>
          <a:noFill/>
          <a:ln/>
        </p:spPr>
        <p:txBody>
          <a:bodyPr wrap="square" lIns="0" tIns="0" rIns="0" bIns="0" rtlCol="0" anchor="ctr">
            <a:normAutofit/>
          </a:bodyPr>
          <a:lstStyle/>
          <a:p>
            <a:pPr indent="0" marL="0">
              <a:buNone/>
            </a:pPr>
            <a:r>
              <a:rPr lang="en-US" sz="1300" dirty="0">
                <a:solidFill>
                  <a:srgbClr val="AEB5A8"/>
                </a:solidFill>
                <a:latin typeface="Liberation Sans" pitchFamily="34" charset="0"/>
                <a:ea typeface="Liberation Sans" pitchFamily="34" charset="-122"/>
                <a:cs typeface="Liberation Sans" pitchFamily="34" charset="-120"/>
              </a:rPr>
              <a:t>Presenter · Organization · Date</a:t>
            </a:r>
            <a:endParaRPr lang="en-US" sz="1300" dirty="0"/>
          </a:p>
        </p:txBody>
      </p:sp>
      <p:sp>
        <p:nvSpPr>
          <p:cNvPr id="10" name="Shape 8"/>
          <p:cNvSpPr/>
          <p:nvPr/>
        </p:nvSpPr>
        <p:spPr>
          <a:xfrm>
            <a:off x="8796528" y="1024128"/>
            <a:ext cx="2880360" cy="2880360"/>
          </a:xfrm>
          <a:prstGeom prst="roundRect">
            <a:avLst>
              <a:gd name="adj" fmla="val 6349"/>
            </a:avLst>
          </a:prstGeom>
          <a:solidFill>
            <a:srgbClr val="D65B35"/>
          </a:solidFill>
          <a:ln w="12700">
            <a:solidFill>
              <a:srgbClr val="D65B35">
                <a:alpha val="0"/>
              </a:srgbClr>
            </a:solidFill>
            <a:prstDash val="solid"/>
          </a:ln>
        </p:spPr>
      </p:sp>
      <p:sp>
        <p:nvSpPr>
          <p:cNvPr id="11" name="Shape 9"/>
          <p:cNvSpPr/>
          <p:nvPr/>
        </p:nvSpPr>
        <p:spPr>
          <a:xfrm>
            <a:off x="9079992" y="1307592"/>
            <a:ext cx="2313432" cy="2313432"/>
          </a:xfrm>
          <a:prstGeom prst="roundRect">
            <a:avLst>
              <a:gd name="adj" fmla="val 5929"/>
            </a:avLst>
          </a:prstGeom>
          <a:solidFill>
            <a:srgbClr val="11140F"/>
          </a:solidFill>
          <a:ln w="12700">
            <a:solidFill>
              <a:srgbClr val="11140F">
                <a:alpha val="0"/>
              </a:srgbClr>
            </a:solidFill>
            <a:prstDash val="solid"/>
          </a:ln>
        </p:spPr>
      </p:sp>
      <p:sp>
        <p:nvSpPr>
          <p:cNvPr id="12" name="Text 10"/>
          <p:cNvSpPr/>
          <p:nvPr/>
        </p:nvSpPr>
        <p:spPr>
          <a:xfrm>
            <a:off x="9034272" y="1170432"/>
            <a:ext cx="2395728" cy="1572768"/>
          </a:xfrm>
          <a:prstGeom prst="rect">
            <a:avLst/>
          </a:prstGeom>
          <a:noFill/>
          <a:ln/>
        </p:spPr>
        <p:txBody>
          <a:bodyPr wrap="square" lIns="0" tIns="0" rIns="0" bIns="0" rtlCol="0" anchor="ctr">
            <a:normAutofit/>
          </a:bodyPr>
          <a:lstStyle/>
          <a:p>
            <a:pPr algn="ctr" indent="0" marL="0">
              <a:buNone/>
            </a:pPr>
            <a:r>
              <a:rPr lang="en-US" sz="7500" b="1" dirty="0">
                <a:solidFill>
                  <a:srgbClr val="FFFDF7"/>
                </a:solidFill>
                <a:latin typeface="Liberation Sans" pitchFamily="34" charset="0"/>
                <a:ea typeface="Liberation Sans" pitchFamily="34" charset="-122"/>
                <a:cs typeface="Liberation Sans" pitchFamily="34" charset="-120"/>
              </a:rPr>
              <a:t>8</a:t>
            </a:r>
            <a:endParaRPr lang="en-US" sz="7500" dirty="0"/>
          </a:p>
        </p:txBody>
      </p:sp>
      <p:sp>
        <p:nvSpPr>
          <p:cNvPr id="13" name="Text 11"/>
          <p:cNvSpPr/>
          <p:nvPr/>
        </p:nvSpPr>
        <p:spPr>
          <a:xfrm>
            <a:off x="9189720" y="2615184"/>
            <a:ext cx="2084832" cy="411480"/>
          </a:xfrm>
          <a:prstGeom prst="rect">
            <a:avLst/>
          </a:prstGeom>
          <a:noFill/>
          <a:ln/>
        </p:spPr>
        <p:txBody>
          <a:bodyPr wrap="square" lIns="0" tIns="0" rIns="0" bIns="0" rtlCol="0" anchor="ctr">
            <a:normAutofit/>
          </a:bodyPr>
          <a:lstStyle/>
          <a:p>
            <a:pPr algn="ctr" indent="0" marL="0">
              <a:buNone/>
            </a:pPr>
            <a:r>
              <a:rPr lang="en-US" sz="2000" b="1" spc="400" kern="0" dirty="0">
                <a:solidFill>
                  <a:srgbClr val="E89B45"/>
                </a:solidFill>
                <a:latin typeface="Liberation Mono" pitchFamily="34" charset="0"/>
                <a:ea typeface="Liberation Mono" pitchFamily="34" charset="-122"/>
                <a:cs typeface="Liberation Mono" pitchFamily="34" charset="-120"/>
              </a:rPr>
              <a:t>GB</a:t>
            </a:r>
            <a:endParaRPr lang="en-US" sz="2000" dirty="0"/>
          </a:p>
        </p:txBody>
      </p:sp>
      <p:sp>
        <p:nvSpPr>
          <p:cNvPr id="14" name="Shape 12"/>
          <p:cNvSpPr/>
          <p:nvPr/>
        </p:nvSpPr>
        <p:spPr>
          <a:xfrm>
            <a:off x="8540496" y="1298448"/>
            <a:ext cx="256032" cy="0"/>
          </a:xfrm>
          <a:prstGeom prst="line">
            <a:avLst/>
          </a:prstGeom>
          <a:noFill/>
          <a:ln w="25400">
            <a:solidFill>
              <a:srgbClr val="E89B45"/>
            </a:solidFill>
            <a:prstDash val="solid"/>
          </a:ln>
        </p:spPr>
      </p:sp>
      <p:sp>
        <p:nvSpPr>
          <p:cNvPr id="15" name="Shape 13"/>
          <p:cNvSpPr/>
          <p:nvPr/>
        </p:nvSpPr>
        <p:spPr>
          <a:xfrm>
            <a:off x="11676888" y="1298448"/>
            <a:ext cx="256032" cy="0"/>
          </a:xfrm>
          <a:prstGeom prst="line">
            <a:avLst/>
          </a:prstGeom>
          <a:noFill/>
          <a:ln w="25400">
            <a:solidFill>
              <a:srgbClr val="E89B45"/>
            </a:solidFill>
            <a:prstDash val="solid"/>
          </a:ln>
        </p:spPr>
      </p:sp>
      <p:sp>
        <p:nvSpPr>
          <p:cNvPr id="16" name="Shape 14"/>
          <p:cNvSpPr/>
          <p:nvPr/>
        </p:nvSpPr>
        <p:spPr>
          <a:xfrm>
            <a:off x="8540496" y="1682496"/>
            <a:ext cx="256032" cy="0"/>
          </a:xfrm>
          <a:prstGeom prst="line">
            <a:avLst/>
          </a:prstGeom>
          <a:noFill/>
          <a:ln w="25400">
            <a:solidFill>
              <a:srgbClr val="E89B45"/>
            </a:solidFill>
            <a:prstDash val="solid"/>
          </a:ln>
        </p:spPr>
      </p:sp>
      <p:sp>
        <p:nvSpPr>
          <p:cNvPr id="17" name="Shape 15"/>
          <p:cNvSpPr/>
          <p:nvPr/>
        </p:nvSpPr>
        <p:spPr>
          <a:xfrm>
            <a:off x="11676888" y="1682496"/>
            <a:ext cx="256032" cy="0"/>
          </a:xfrm>
          <a:prstGeom prst="line">
            <a:avLst/>
          </a:prstGeom>
          <a:noFill/>
          <a:ln w="25400">
            <a:solidFill>
              <a:srgbClr val="E89B45"/>
            </a:solidFill>
            <a:prstDash val="solid"/>
          </a:ln>
        </p:spPr>
      </p:sp>
      <p:sp>
        <p:nvSpPr>
          <p:cNvPr id="18" name="Shape 16"/>
          <p:cNvSpPr/>
          <p:nvPr/>
        </p:nvSpPr>
        <p:spPr>
          <a:xfrm>
            <a:off x="8540496" y="2066544"/>
            <a:ext cx="256032" cy="0"/>
          </a:xfrm>
          <a:prstGeom prst="line">
            <a:avLst/>
          </a:prstGeom>
          <a:noFill/>
          <a:ln w="25400">
            <a:solidFill>
              <a:srgbClr val="E89B45"/>
            </a:solidFill>
            <a:prstDash val="solid"/>
          </a:ln>
        </p:spPr>
      </p:sp>
      <p:sp>
        <p:nvSpPr>
          <p:cNvPr id="19" name="Shape 17"/>
          <p:cNvSpPr/>
          <p:nvPr/>
        </p:nvSpPr>
        <p:spPr>
          <a:xfrm>
            <a:off x="11676888" y="2066544"/>
            <a:ext cx="256032" cy="0"/>
          </a:xfrm>
          <a:prstGeom prst="line">
            <a:avLst/>
          </a:prstGeom>
          <a:noFill/>
          <a:ln w="25400">
            <a:solidFill>
              <a:srgbClr val="E89B45"/>
            </a:solidFill>
            <a:prstDash val="solid"/>
          </a:ln>
        </p:spPr>
      </p:sp>
      <p:sp>
        <p:nvSpPr>
          <p:cNvPr id="20" name="Shape 18"/>
          <p:cNvSpPr/>
          <p:nvPr/>
        </p:nvSpPr>
        <p:spPr>
          <a:xfrm>
            <a:off x="8540496" y="2450592"/>
            <a:ext cx="256032" cy="0"/>
          </a:xfrm>
          <a:prstGeom prst="line">
            <a:avLst/>
          </a:prstGeom>
          <a:noFill/>
          <a:ln w="25400">
            <a:solidFill>
              <a:srgbClr val="E89B45"/>
            </a:solidFill>
            <a:prstDash val="solid"/>
          </a:ln>
        </p:spPr>
      </p:sp>
      <p:sp>
        <p:nvSpPr>
          <p:cNvPr id="21" name="Shape 19"/>
          <p:cNvSpPr/>
          <p:nvPr/>
        </p:nvSpPr>
        <p:spPr>
          <a:xfrm>
            <a:off x="11676888" y="2450592"/>
            <a:ext cx="256032" cy="0"/>
          </a:xfrm>
          <a:prstGeom prst="line">
            <a:avLst/>
          </a:prstGeom>
          <a:noFill/>
          <a:ln w="25400">
            <a:solidFill>
              <a:srgbClr val="E89B45"/>
            </a:solidFill>
            <a:prstDash val="solid"/>
          </a:ln>
        </p:spPr>
      </p:sp>
      <p:sp>
        <p:nvSpPr>
          <p:cNvPr id="22" name="Shape 20"/>
          <p:cNvSpPr/>
          <p:nvPr/>
        </p:nvSpPr>
        <p:spPr>
          <a:xfrm>
            <a:off x="8540496" y="2834640"/>
            <a:ext cx="256032" cy="0"/>
          </a:xfrm>
          <a:prstGeom prst="line">
            <a:avLst/>
          </a:prstGeom>
          <a:noFill/>
          <a:ln w="25400">
            <a:solidFill>
              <a:srgbClr val="E89B45"/>
            </a:solidFill>
            <a:prstDash val="solid"/>
          </a:ln>
        </p:spPr>
      </p:sp>
      <p:sp>
        <p:nvSpPr>
          <p:cNvPr id="23" name="Shape 21"/>
          <p:cNvSpPr/>
          <p:nvPr/>
        </p:nvSpPr>
        <p:spPr>
          <a:xfrm>
            <a:off x="11676888" y="2834640"/>
            <a:ext cx="256032" cy="0"/>
          </a:xfrm>
          <a:prstGeom prst="line">
            <a:avLst/>
          </a:prstGeom>
          <a:noFill/>
          <a:ln w="25400">
            <a:solidFill>
              <a:srgbClr val="E89B45"/>
            </a:solidFill>
            <a:prstDash val="solid"/>
          </a:ln>
        </p:spPr>
      </p:sp>
      <p:sp>
        <p:nvSpPr>
          <p:cNvPr id="24" name="Shape 22"/>
          <p:cNvSpPr/>
          <p:nvPr/>
        </p:nvSpPr>
        <p:spPr>
          <a:xfrm>
            <a:off x="8540496" y="3218688"/>
            <a:ext cx="256032" cy="0"/>
          </a:xfrm>
          <a:prstGeom prst="line">
            <a:avLst/>
          </a:prstGeom>
          <a:noFill/>
          <a:ln w="25400">
            <a:solidFill>
              <a:srgbClr val="E89B45"/>
            </a:solidFill>
            <a:prstDash val="solid"/>
          </a:ln>
        </p:spPr>
      </p:sp>
      <p:sp>
        <p:nvSpPr>
          <p:cNvPr id="25" name="Shape 23"/>
          <p:cNvSpPr/>
          <p:nvPr/>
        </p:nvSpPr>
        <p:spPr>
          <a:xfrm>
            <a:off x="11676888" y="3218688"/>
            <a:ext cx="256032" cy="0"/>
          </a:xfrm>
          <a:prstGeom prst="line">
            <a:avLst/>
          </a:prstGeom>
          <a:noFill/>
          <a:ln w="25400">
            <a:solidFill>
              <a:srgbClr val="E89B45"/>
            </a:solidFill>
            <a:prstDash val="solid"/>
          </a:ln>
        </p:spPr>
      </p:sp>
      <p:sp>
        <p:nvSpPr>
          <p:cNvPr id="26" name="Shape 24"/>
          <p:cNvSpPr/>
          <p:nvPr/>
        </p:nvSpPr>
        <p:spPr>
          <a:xfrm>
            <a:off x="8540496" y="3602736"/>
            <a:ext cx="256032" cy="0"/>
          </a:xfrm>
          <a:prstGeom prst="line">
            <a:avLst/>
          </a:prstGeom>
          <a:noFill/>
          <a:ln w="25400">
            <a:solidFill>
              <a:srgbClr val="E89B45"/>
            </a:solidFill>
            <a:prstDash val="solid"/>
          </a:ln>
        </p:spPr>
      </p:sp>
      <p:sp>
        <p:nvSpPr>
          <p:cNvPr id="27" name="Shape 25"/>
          <p:cNvSpPr/>
          <p:nvPr/>
        </p:nvSpPr>
        <p:spPr>
          <a:xfrm>
            <a:off x="11676888" y="3602736"/>
            <a:ext cx="256032" cy="0"/>
          </a:xfrm>
          <a:prstGeom prst="line">
            <a:avLst/>
          </a:prstGeom>
          <a:noFill/>
          <a:ln w="25400">
            <a:solidFill>
              <a:srgbClr val="E89B45"/>
            </a:solidFill>
            <a:prstDash val="solid"/>
          </a:ln>
        </p:spPr>
      </p:sp>
      <p:sp>
        <p:nvSpPr>
          <p:cNvPr id="28" name="Text 26"/>
          <p:cNvSpPr/>
          <p:nvPr/>
        </p:nvSpPr>
        <p:spPr>
          <a:xfrm>
            <a:off x="8412480" y="4617720"/>
            <a:ext cx="3291840" cy="950976"/>
          </a:xfrm>
          <a:prstGeom prst="rect">
            <a:avLst/>
          </a:prstGeom>
          <a:noFill/>
          <a:ln/>
        </p:spPr>
        <p:txBody>
          <a:bodyPr wrap="square" lIns="0" tIns="0" rIns="0" bIns="0" rtlCol="0" anchor="ctr">
            <a:normAutofit/>
          </a:bodyPr>
          <a:lstStyle/>
          <a:p>
            <a:pPr algn="ctr" indent="0" marL="0">
              <a:buNone/>
            </a:pPr>
            <a:r>
              <a:rPr lang="en-US" sz="1300" b="1" spc="140" kern="0" dirty="0">
                <a:solidFill>
                  <a:srgbClr val="CED3C6"/>
                </a:solidFill>
                <a:latin typeface="Liberation Mono" pitchFamily="34" charset="0"/>
                <a:ea typeface="Liberation Mono" pitchFamily="34" charset="-122"/>
                <a:cs typeface="Liberation Mono" pitchFamily="34" charset="-120"/>
              </a:rPr>
              <a:t>A PRACTICAL STORY OF</a:t>
            </a:r>
            <a:endParaRPr lang="en-US" sz="1300" dirty="0"/>
          </a:p>
          <a:p>
            <a:pPr algn="ctr" indent="0" marL="0">
              <a:buNone/>
            </a:pPr>
            <a:r>
              <a:rPr lang="en-US" sz="1300" b="1" spc="140" kern="0" dirty="0">
                <a:solidFill>
                  <a:srgbClr val="CED3C6"/>
                </a:solidFill>
                <a:latin typeface="Liberation Mono" pitchFamily="34" charset="0"/>
                <a:ea typeface="Liberation Mono" pitchFamily="34" charset="-122"/>
                <a:cs typeface="Liberation Mono" pitchFamily="34" charset="-120"/>
              </a:rPr>
              <a:t>OWNERSHIP, CONSTRAINTS,</a:t>
            </a:r>
            <a:endParaRPr lang="en-US" sz="1300" dirty="0"/>
          </a:p>
          <a:p>
            <a:pPr algn="ctr" indent="0" marL="0">
              <a:buNone/>
            </a:pPr>
            <a:r>
              <a:rPr lang="en-US" sz="1300" b="1" spc="140" kern="0" dirty="0">
                <a:solidFill>
                  <a:srgbClr val="CED3C6"/>
                </a:solidFill>
                <a:latin typeface="Liberation Mono" pitchFamily="34" charset="0"/>
                <a:ea typeface="Liberation Mono" pitchFamily="34" charset="-122"/>
                <a:cs typeface="Liberation Mono" pitchFamily="34" charset="-120"/>
              </a:rPr>
              <a:t>AND CONTROL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A MODEL IS ALREADY PLAYING ON THIS LAPTOP</a:t>
            </a:r>
            <a:endParaRPr lang="en-US" sz="1100" dirty="0"/>
          </a:p>
        </p:txBody>
      </p:sp>
      <p:sp>
        <p:nvSpPr>
          <p:cNvPr id="4" name="Text 1"/>
          <p:cNvSpPr/>
          <p:nvPr/>
        </p:nvSpPr>
        <p:spPr>
          <a:xfrm>
            <a:off x="566928" y="713232"/>
            <a:ext cx="5074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Your machine. Your model. Your move.</a:t>
            </a:r>
            <a:endParaRPr lang="en-US" sz="3100" dirty="0"/>
          </a:p>
        </p:txBody>
      </p:sp>
      <p:sp>
        <p:nvSpPr>
          <p:cNvPr id="5" name="Text 2"/>
          <p:cNvSpPr/>
          <p:nvPr/>
        </p:nvSpPr>
        <p:spPr>
          <a:xfrm>
            <a:off x="594360" y="1645920"/>
            <a:ext cx="4937760" cy="1417320"/>
          </a:xfrm>
          <a:prstGeom prst="rect">
            <a:avLst/>
          </a:prstGeom>
          <a:noFill/>
          <a:ln/>
        </p:spPr>
        <p:txBody>
          <a:bodyPr wrap="square" lIns="0" tIns="0" rIns="0" bIns="0" rtlCol="0" anchor="t">
            <a:normAutofit/>
          </a:bodyPr>
          <a:lstStyle/>
          <a:p>
            <a:pPr indent="0" marL="0">
              <a:buNone/>
            </a:pPr>
            <a:r>
              <a:rPr lang="en-US" sz="2200" dirty="0">
                <a:solidFill>
                  <a:srgbClr val="62695D"/>
                </a:solidFill>
                <a:latin typeface="Liberation Sans" pitchFamily="34" charset="0"/>
                <a:ea typeface="Liberation Sans" pitchFamily="34" charset="-122"/>
                <a:cs typeface="Liberation Sans" pitchFamily="34" charset="-120"/>
              </a:rPr>
              <a:t>Stockfish proposes credible moves. Qwen3-4B chooses one through llama.cpp—and explains it without sending the game away.</a:t>
            </a:r>
            <a:endParaRPr lang="en-US" sz="2200" dirty="0"/>
          </a:p>
        </p:txBody>
      </p:sp>
      <p:sp>
        <p:nvSpPr>
          <p:cNvPr id="6" name="Shape 3"/>
          <p:cNvSpPr/>
          <p:nvPr/>
        </p:nvSpPr>
        <p:spPr>
          <a:xfrm>
            <a:off x="594360" y="3886200"/>
            <a:ext cx="1234440" cy="402336"/>
          </a:xfrm>
          <a:prstGeom prst="roundRect">
            <a:avLst>
              <a:gd name="adj" fmla="val 27273"/>
            </a:avLst>
          </a:prstGeom>
          <a:solidFill>
            <a:srgbClr val="F3D8C6"/>
          </a:solidFill>
          <a:ln w="12700">
            <a:solidFill>
              <a:srgbClr val="F3D8C6">
                <a:alpha val="0"/>
              </a:srgbClr>
            </a:solidFill>
            <a:prstDash val="solid"/>
          </a:ln>
        </p:spPr>
      </p:sp>
      <p:sp>
        <p:nvSpPr>
          <p:cNvPr id="7" name="Text 4"/>
          <p:cNvSpPr/>
          <p:nvPr/>
        </p:nvSpPr>
        <p:spPr>
          <a:xfrm>
            <a:off x="594360" y="3886200"/>
            <a:ext cx="123444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Qwen3-4B</a:t>
            </a:r>
            <a:endParaRPr lang="en-US" sz="1100" dirty="0"/>
          </a:p>
        </p:txBody>
      </p:sp>
      <p:sp>
        <p:nvSpPr>
          <p:cNvPr id="8" name="Shape 5"/>
          <p:cNvSpPr/>
          <p:nvPr/>
        </p:nvSpPr>
        <p:spPr>
          <a:xfrm>
            <a:off x="2011680" y="3886200"/>
            <a:ext cx="1234440" cy="402336"/>
          </a:xfrm>
          <a:prstGeom prst="roundRect">
            <a:avLst>
              <a:gd name="adj" fmla="val 27273"/>
            </a:avLst>
          </a:prstGeom>
          <a:solidFill>
            <a:srgbClr val="F3D8C6"/>
          </a:solidFill>
          <a:ln w="12700">
            <a:solidFill>
              <a:srgbClr val="F3D8C6">
                <a:alpha val="0"/>
              </a:srgbClr>
            </a:solidFill>
            <a:prstDash val="solid"/>
          </a:ln>
        </p:spPr>
      </p:sp>
      <p:sp>
        <p:nvSpPr>
          <p:cNvPr id="9" name="Text 6"/>
          <p:cNvSpPr/>
          <p:nvPr/>
        </p:nvSpPr>
        <p:spPr>
          <a:xfrm>
            <a:off x="2011680" y="3886200"/>
            <a:ext cx="123444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Q4_K_M</a:t>
            </a:r>
            <a:endParaRPr lang="en-US" sz="1100" dirty="0"/>
          </a:p>
        </p:txBody>
      </p:sp>
      <p:sp>
        <p:nvSpPr>
          <p:cNvPr id="10" name="Shape 7"/>
          <p:cNvSpPr/>
          <p:nvPr/>
        </p:nvSpPr>
        <p:spPr>
          <a:xfrm>
            <a:off x="594360" y="4416552"/>
            <a:ext cx="1234440" cy="402336"/>
          </a:xfrm>
          <a:prstGeom prst="roundRect">
            <a:avLst>
              <a:gd name="adj" fmla="val 27273"/>
            </a:avLst>
          </a:prstGeom>
          <a:solidFill>
            <a:srgbClr val="F3D8C6"/>
          </a:solidFill>
          <a:ln w="12700">
            <a:solidFill>
              <a:srgbClr val="F3D8C6">
                <a:alpha val="0"/>
              </a:srgbClr>
            </a:solidFill>
            <a:prstDash val="solid"/>
          </a:ln>
        </p:spPr>
      </p:sp>
      <p:sp>
        <p:nvSpPr>
          <p:cNvPr id="11" name="Text 8"/>
          <p:cNvSpPr/>
          <p:nvPr/>
        </p:nvSpPr>
        <p:spPr>
          <a:xfrm>
            <a:off x="594360" y="4416552"/>
            <a:ext cx="123444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RTX 4060</a:t>
            </a:r>
            <a:endParaRPr lang="en-US" sz="1100" dirty="0"/>
          </a:p>
        </p:txBody>
      </p:sp>
      <p:sp>
        <p:nvSpPr>
          <p:cNvPr id="12" name="Shape 9"/>
          <p:cNvSpPr/>
          <p:nvPr/>
        </p:nvSpPr>
        <p:spPr>
          <a:xfrm>
            <a:off x="2011680" y="4416552"/>
            <a:ext cx="1234440" cy="402336"/>
          </a:xfrm>
          <a:prstGeom prst="roundRect">
            <a:avLst>
              <a:gd name="adj" fmla="val 27273"/>
            </a:avLst>
          </a:prstGeom>
          <a:solidFill>
            <a:srgbClr val="DCE8DF"/>
          </a:solidFill>
          <a:ln w="12700">
            <a:solidFill>
              <a:srgbClr val="DCE8DF">
                <a:alpha val="0"/>
              </a:srgbClr>
            </a:solidFill>
            <a:prstDash val="solid"/>
          </a:ln>
        </p:spPr>
      </p:sp>
      <p:sp>
        <p:nvSpPr>
          <p:cNvPr id="13" name="Text 10"/>
          <p:cNvSpPr/>
          <p:nvPr/>
        </p:nvSpPr>
        <p:spPr>
          <a:xfrm>
            <a:off x="2011680" y="4416552"/>
            <a:ext cx="123444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Local only</a:t>
            </a:r>
            <a:endParaRPr lang="en-US" sz="1100" dirty="0"/>
          </a:p>
        </p:txBody>
      </p:sp>
      <p:sp>
        <p:nvSpPr>
          <p:cNvPr id="14" name="Shape 11"/>
          <p:cNvSpPr/>
          <p:nvPr/>
        </p:nvSpPr>
        <p:spPr>
          <a:xfrm>
            <a:off x="5989320" y="548640"/>
            <a:ext cx="5559552" cy="5440680"/>
          </a:xfrm>
          <a:prstGeom prst="roundRect">
            <a:avLst>
              <a:gd name="adj" fmla="val 2521"/>
            </a:avLst>
          </a:prstGeom>
          <a:solidFill>
            <a:srgbClr val="11140F"/>
          </a:solidFill>
          <a:ln w="12700">
            <a:solidFill>
              <a:srgbClr val="11140F">
                <a:alpha val="0"/>
              </a:srgbClr>
            </a:solidFill>
            <a:prstDash val="solid"/>
          </a:ln>
        </p:spPr>
      </p:sp>
      <p:sp>
        <p:nvSpPr>
          <p:cNvPr id="15" name="Shape 12"/>
          <p:cNvSpPr/>
          <p:nvPr/>
        </p:nvSpPr>
        <p:spPr>
          <a:xfrm>
            <a:off x="6309360" y="960120"/>
            <a:ext cx="409194" cy="409194"/>
          </a:xfrm>
          <a:prstGeom prst="rect">
            <a:avLst/>
          </a:prstGeom>
          <a:solidFill>
            <a:srgbClr val="E5DCC8"/>
          </a:solidFill>
          <a:ln w="12700">
            <a:solidFill>
              <a:srgbClr val="E5DCC8">
                <a:alpha val="0"/>
              </a:srgbClr>
            </a:solidFill>
            <a:prstDash val="solid"/>
          </a:ln>
        </p:spPr>
      </p:sp>
      <p:sp>
        <p:nvSpPr>
          <p:cNvPr id="16" name="Shape 13"/>
          <p:cNvSpPr/>
          <p:nvPr/>
        </p:nvSpPr>
        <p:spPr>
          <a:xfrm>
            <a:off x="6718554" y="960120"/>
            <a:ext cx="409194" cy="409194"/>
          </a:xfrm>
          <a:prstGeom prst="rect">
            <a:avLst/>
          </a:prstGeom>
          <a:solidFill>
            <a:srgbClr val="66735F"/>
          </a:solidFill>
          <a:ln w="12700">
            <a:solidFill>
              <a:srgbClr val="66735F">
                <a:alpha val="0"/>
              </a:srgbClr>
            </a:solidFill>
            <a:prstDash val="solid"/>
          </a:ln>
        </p:spPr>
      </p:sp>
      <p:sp>
        <p:nvSpPr>
          <p:cNvPr id="17" name="Shape 14"/>
          <p:cNvSpPr/>
          <p:nvPr/>
        </p:nvSpPr>
        <p:spPr>
          <a:xfrm>
            <a:off x="7127748" y="960120"/>
            <a:ext cx="409194" cy="409194"/>
          </a:xfrm>
          <a:prstGeom prst="rect">
            <a:avLst/>
          </a:prstGeom>
          <a:solidFill>
            <a:srgbClr val="E5DCC8"/>
          </a:solidFill>
          <a:ln w="12700">
            <a:solidFill>
              <a:srgbClr val="E5DCC8">
                <a:alpha val="0"/>
              </a:srgbClr>
            </a:solidFill>
            <a:prstDash val="solid"/>
          </a:ln>
        </p:spPr>
      </p:sp>
      <p:sp>
        <p:nvSpPr>
          <p:cNvPr id="18" name="Shape 15"/>
          <p:cNvSpPr/>
          <p:nvPr/>
        </p:nvSpPr>
        <p:spPr>
          <a:xfrm>
            <a:off x="7536942" y="960120"/>
            <a:ext cx="409194" cy="409194"/>
          </a:xfrm>
          <a:prstGeom prst="rect">
            <a:avLst/>
          </a:prstGeom>
          <a:solidFill>
            <a:srgbClr val="66735F"/>
          </a:solidFill>
          <a:ln w="12700">
            <a:solidFill>
              <a:srgbClr val="66735F">
                <a:alpha val="0"/>
              </a:srgbClr>
            </a:solidFill>
            <a:prstDash val="solid"/>
          </a:ln>
        </p:spPr>
      </p:sp>
      <p:sp>
        <p:nvSpPr>
          <p:cNvPr id="19" name="Shape 16"/>
          <p:cNvSpPr/>
          <p:nvPr/>
        </p:nvSpPr>
        <p:spPr>
          <a:xfrm>
            <a:off x="7946136" y="960120"/>
            <a:ext cx="409194" cy="409194"/>
          </a:xfrm>
          <a:prstGeom prst="rect">
            <a:avLst/>
          </a:prstGeom>
          <a:solidFill>
            <a:srgbClr val="E5DCC8"/>
          </a:solidFill>
          <a:ln w="12700">
            <a:solidFill>
              <a:srgbClr val="E5DCC8">
                <a:alpha val="0"/>
              </a:srgbClr>
            </a:solidFill>
            <a:prstDash val="solid"/>
          </a:ln>
        </p:spPr>
      </p:sp>
      <p:sp>
        <p:nvSpPr>
          <p:cNvPr id="20" name="Shape 17"/>
          <p:cNvSpPr/>
          <p:nvPr/>
        </p:nvSpPr>
        <p:spPr>
          <a:xfrm>
            <a:off x="8355330" y="960120"/>
            <a:ext cx="409194" cy="409194"/>
          </a:xfrm>
          <a:prstGeom prst="rect">
            <a:avLst/>
          </a:prstGeom>
          <a:solidFill>
            <a:srgbClr val="66735F"/>
          </a:solidFill>
          <a:ln w="12700">
            <a:solidFill>
              <a:srgbClr val="66735F">
                <a:alpha val="0"/>
              </a:srgbClr>
            </a:solidFill>
            <a:prstDash val="solid"/>
          </a:ln>
        </p:spPr>
      </p:sp>
      <p:sp>
        <p:nvSpPr>
          <p:cNvPr id="21" name="Shape 18"/>
          <p:cNvSpPr/>
          <p:nvPr/>
        </p:nvSpPr>
        <p:spPr>
          <a:xfrm>
            <a:off x="8764524" y="960120"/>
            <a:ext cx="409194" cy="409194"/>
          </a:xfrm>
          <a:prstGeom prst="rect">
            <a:avLst/>
          </a:prstGeom>
          <a:solidFill>
            <a:srgbClr val="E5DCC8"/>
          </a:solidFill>
          <a:ln w="12700">
            <a:solidFill>
              <a:srgbClr val="E5DCC8">
                <a:alpha val="0"/>
              </a:srgbClr>
            </a:solidFill>
            <a:prstDash val="solid"/>
          </a:ln>
        </p:spPr>
      </p:sp>
      <p:sp>
        <p:nvSpPr>
          <p:cNvPr id="22" name="Shape 19"/>
          <p:cNvSpPr/>
          <p:nvPr/>
        </p:nvSpPr>
        <p:spPr>
          <a:xfrm>
            <a:off x="9173718" y="960120"/>
            <a:ext cx="409194" cy="409194"/>
          </a:xfrm>
          <a:prstGeom prst="rect">
            <a:avLst/>
          </a:prstGeom>
          <a:solidFill>
            <a:srgbClr val="66735F"/>
          </a:solidFill>
          <a:ln w="12700">
            <a:solidFill>
              <a:srgbClr val="66735F">
                <a:alpha val="0"/>
              </a:srgbClr>
            </a:solidFill>
            <a:prstDash val="solid"/>
          </a:ln>
        </p:spPr>
      </p:sp>
      <p:sp>
        <p:nvSpPr>
          <p:cNvPr id="23" name="Shape 20"/>
          <p:cNvSpPr/>
          <p:nvPr/>
        </p:nvSpPr>
        <p:spPr>
          <a:xfrm>
            <a:off x="6309360" y="1369314"/>
            <a:ext cx="409194" cy="409194"/>
          </a:xfrm>
          <a:prstGeom prst="rect">
            <a:avLst/>
          </a:prstGeom>
          <a:solidFill>
            <a:srgbClr val="66735F"/>
          </a:solidFill>
          <a:ln w="12700">
            <a:solidFill>
              <a:srgbClr val="66735F">
                <a:alpha val="0"/>
              </a:srgbClr>
            </a:solidFill>
            <a:prstDash val="solid"/>
          </a:ln>
        </p:spPr>
      </p:sp>
      <p:sp>
        <p:nvSpPr>
          <p:cNvPr id="24" name="Shape 21"/>
          <p:cNvSpPr/>
          <p:nvPr/>
        </p:nvSpPr>
        <p:spPr>
          <a:xfrm>
            <a:off x="6718554" y="1369314"/>
            <a:ext cx="409194" cy="409194"/>
          </a:xfrm>
          <a:prstGeom prst="rect">
            <a:avLst/>
          </a:prstGeom>
          <a:solidFill>
            <a:srgbClr val="E5DCC8"/>
          </a:solidFill>
          <a:ln w="12700">
            <a:solidFill>
              <a:srgbClr val="E5DCC8">
                <a:alpha val="0"/>
              </a:srgbClr>
            </a:solidFill>
            <a:prstDash val="solid"/>
          </a:ln>
        </p:spPr>
      </p:sp>
      <p:sp>
        <p:nvSpPr>
          <p:cNvPr id="25" name="Shape 22"/>
          <p:cNvSpPr/>
          <p:nvPr/>
        </p:nvSpPr>
        <p:spPr>
          <a:xfrm>
            <a:off x="7127748" y="1369314"/>
            <a:ext cx="409194" cy="409194"/>
          </a:xfrm>
          <a:prstGeom prst="rect">
            <a:avLst/>
          </a:prstGeom>
          <a:solidFill>
            <a:srgbClr val="66735F"/>
          </a:solidFill>
          <a:ln w="12700">
            <a:solidFill>
              <a:srgbClr val="66735F">
                <a:alpha val="0"/>
              </a:srgbClr>
            </a:solidFill>
            <a:prstDash val="solid"/>
          </a:ln>
        </p:spPr>
      </p:sp>
      <p:sp>
        <p:nvSpPr>
          <p:cNvPr id="26" name="Shape 23"/>
          <p:cNvSpPr/>
          <p:nvPr/>
        </p:nvSpPr>
        <p:spPr>
          <a:xfrm>
            <a:off x="7536942" y="1369314"/>
            <a:ext cx="409194" cy="409194"/>
          </a:xfrm>
          <a:prstGeom prst="rect">
            <a:avLst/>
          </a:prstGeom>
          <a:solidFill>
            <a:srgbClr val="E5DCC8"/>
          </a:solidFill>
          <a:ln w="12700">
            <a:solidFill>
              <a:srgbClr val="E5DCC8">
                <a:alpha val="0"/>
              </a:srgbClr>
            </a:solidFill>
            <a:prstDash val="solid"/>
          </a:ln>
        </p:spPr>
      </p:sp>
      <p:sp>
        <p:nvSpPr>
          <p:cNvPr id="27" name="Shape 24"/>
          <p:cNvSpPr/>
          <p:nvPr/>
        </p:nvSpPr>
        <p:spPr>
          <a:xfrm>
            <a:off x="7946136" y="1369314"/>
            <a:ext cx="409194" cy="409194"/>
          </a:xfrm>
          <a:prstGeom prst="rect">
            <a:avLst/>
          </a:prstGeom>
          <a:solidFill>
            <a:srgbClr val="66735F"/>
          </a:solidFill>
          <a:ln w="12700">
            <a:solidFill>
              <a:srgbClr val="66735F">
                <a:alpha val="0"/>
              </a:srgbClr>
            </a:solidFill>
            <a:prstDash val="solid"/>
          </a:ln>
        </p:spPr>
      </p:sp>
      <p:sp>
        <p:nvSpPr>
          <p:cNvPr id="28" name="Shape 25"/>
          <p:cNvSpPr/>
          <p:nvPr/>
        </p:nvSpPr>
        <p:spPr>
          <a:xfrm>
            <a:off x="8355330" y="1369314"/>
            <a:ext cx="409194" cy="409194"/>
          </a:xfrm>
          <a:prstGeom prst="rect">
            <a:avLst/>
          </a:prstGeom>
          <a:solidFill>
            <a:srgbClr val="E5DCC8"/>
          </a:solidFill>
          <a:ln w="12700">
            <a:solidFill>
              <a:srgbClr val="E5DCC8">
                <a:alpha val="0"/>
              </a:srgbClr>
            </a:solidFill>
            <a:prstDash val="solid"/>
          </a:ln>
        </p:spPr>
      </p:sp>
      <p:sp>
        <p:nvSpPr>
          <p:cNvPr id="29" name="Shape 26"/>
          <p:cNvSpPr/>
          <p:nvPr/>
        </p:nvSpPr>
        <p:spPr>
          <a:xfrm>
            <a:off x="8764524" y="1369314"/>
            <a:ext cx="409194" cy="409194"/>
          </a:xfrm>
          <a:prstGeom prst="rect">
            <a:avLst/>
          </a:prstGeom>
          <a:solidFill>
            <a:srgbClr val="66735F"/>
          </a:solidFill>
          <a:ln w="12700">
            <a:solidFill>
              <a:srgbClr val="66735F">
                <a:alpha val="0"/>
              </a:srgbClr>
            </a:solidFill>
            <a:prstDash val="solid"/>
          </a:ln>
        </p:spPr>
      </p:sp>
      <p:sp>
        <p:nvSpPr>
          <p:cNvPr id="30" name="Shape 27"/>
          <p:cNvSpPr/>
          <p:nvPr/>
        </p:nvSpPr>
        <p:spPr>
          <a:xfrm>
            <a:off x="9173718" y="1369314"/>
            <a:ext cx="409194" cy="409194"/>
          </a:xfrm>
          <a:prstGeom prst="rect">
            <a:avLst/>
          </a:prstGeom>
          <a:solidFill>
            <a:srgbClr val="E5DCC8"/>
          </a:solidFill>
          <a:ln w="12700">
            <a:solidFill>
              <a:srgbClr val="E5DCC8">
                <a:alpha val="0"/>
              </a:srgbClr>
            </a:solidFill>
            <a:prstDash val="solid"/>
          </a:ln>
        </p:spPr>
      </p:sp>
      <p:sp>
        <p:nvSpPr>
          <p:cNvPr id="31" name="Shape 28"/>
          <p:cNvSpPr/>
          <p:nvPr/>
        </p:nvSpPr>
        <p:spPr>
          <a:xfrm>
            <a:off x="6309360" y="1778508"/>
            <a:ext cx="409194" cy="409194"/>
          </a:xfrm>
          <a:prstGeom prst="rect">
            <a:avLst/>
          </a:prstGeom>
          <a:solidFill>
            <a:srgbClr val="E5DCC8"/>
          </a:solidFill>
          <a:ln w="12700">
            <a:solidFill>
              <a:srgbClr val="E5DCC8">
                <a:alpha val="0"/>
              </a:srgbClr>
            </a:solidFill>
            <a:prstDash val="solid"/>
          </a:ln>
        </p:spPr>
      </p:sp>
      <p:sp>
        <p:nvSpPr>
          <p:cNvPr id="32" name="Shape 29"/>
          <p:cNvSpPr/>
          <p:nvPr/>
        </p:nvSpPr>
        <p:spPr>
          <a:xfrm>
            <a:off x="6718554" y="1778508"/>
            <a:ext cx="409194" cy="409194"/>
          </a:xfrm>
          <a:prstGeom prst="rect">
            <a:avLst/>
          </a:prstGeom>
          <a:solidFill>
            <a:srgbClr val="66735F"/>
          </a:solidFill>
          <a:ln w="12700">
            <a:solidFill>
              <a:srgbClr val="66735F">
                <a:alpha val="0"/>
              </a:srgbClr>
            </a:solidFill>
            <a:prstDash val="solid"/>
          </a:ln>
        </p:spPr>
      </p:sp>
      <p:sp>
        <p:nvSpPr>
          <p:cNvPr id="33" name="Shape 30"/>
          <p:cNvSpPr/>
          <p:nvPr/>
        </p:nvSpPr>
        <p:spPr>
          <a:xfrm>
            <a:off x="7127748" y="1778508"/>
            <a:ext cx="409194" cy="409194"/>
          </a:xfrm>
          <a:prstGeom prst="rect">
            <a:avLst/>
          </a:prstGeom>
          <a:solidFill>
            <a:srgbClr val="E5DCC8"/>
          </a:solidFill>
          <a:ln w="12700">
            <a:solidFill>
              <a:srgbClr val="E5DCC8">
                <a:alpha val="0"/>
              </a:srgbClr>
            </a:solidFill>
            <a:prstDash val="solid"/>
          </a:ln>
        </p:spPr>
      </p:sp>
      <p:sp>
        <p:nvSpPr>
          <p:cNvPr id="34" name="Shape 31"/>
          <p:cNvSpPr/>
          <p:nvPr/>
        </p:nvSpPr>
        <p:spPr>
          <a:xfrm>
            <a:off x="7536942" y="1778508"/>
            <a:ext cx="409194" cy="409194"/>
          </a:xfrm>
          <a:prstGeom prst="rect">
            <a:avLst/>
          </a:prstGeom>
          <a:solidFill>
            <a:srgbClr val="66735F"/>
          </a:solidFill>
          <a:ln w="12700">
            <a:solidFill>
              <a:srgbClr val="66735F">
                <a:alpha val="0"/>
              </a:srgbClr>
            </a:solidFill>
            <a:prstDash val="solid"/>
          </a:ln>
        </p:spPr>
      </p:sp>
      <p:sp>
        <p:nvSpPr>
          <p:cNvPr id="35" name="Shape 32"/>
          <p:cNvSpPr/>
          <p:nvPr/>
        </p:nvSpPr>
        <p:spPr>
          <a:xfrm>
            <a:off x="7946136" y="1778508"/>
            <a:ext cx="409194" cy="409194"/>
          </a:xfrm>
          <a:prstGeom prst="rect">
            <a:avLst/>
          </a:prstGeom>
          <a:solidFill>
            <a:srgbClr val="E5DCC8"/>
          </a:solidFill>
          <a:ln w="12700">
            <a:solidFill>
              <a:srgbClr val="E5DCC8">
                <a:alpha val="0"/>
              </a:srgbClr>
            </a:solidFill>
            <a:prstDash val="solid"/>
          </a:ln>
        </p:spPr>
      </p:sp>
      <p:sp>
        <p:nvSpPr>
          <p:cNvPr id="36" name="Shape 33"/>
          <p:cNvSpPr/>
          <p:nvPr/>
        </p:nvSpPr>
        <p:spPr>
          <a:xfrm>
            <a:off x="8355330" y="1778508"/>
            <a:ext cx="409194" cy="409194"/>
          </a:xfrm>
          <a:prstGeom prst="rect">
            <a:avLst/>
          </a:prstGeom>
          <a:solidFill>
            <a:srgbClr val="66735F"/>
          </a:solidFill>
          <a:ln w="12700">
            <a:solidFill>
              <a:srgbClr val="66735F">
                <a:alpha val="0"/>
              </a:srgbClr>
            </a:solidFill>
            <a:prstDash val="solid"/>
          </a:ln>
        </p:spPr>
      </p:sp>
      <p:sp>
        <p:nvSpPr>
          <p:cNvPr id="37" name="Shape 34"/>
          <p:cNvSpPr/>
          <p:nvPr/>
        </p:nvSpPr>
        <p:spPr>
          <a:xfrm>
            <a:off x="8764524" y="1778508"/>
            <a:ext cx="409194" cy="409194"/>
          </a:xfrm>
          <a:prstGeom prst="rect">
            <a:avLst/>
          </a:prstGeom>
          <a:solidFill>
            <a:srgbClr val="E5DCC8"/>
          </a:solidFill>
          <a:ln w="12700">
            <a:solidFill>
              <a:srgbClr val="E5DCC8">
                <a:alpha val="0"/>
              </a:srgbClr>
            </a:solidFill>
            <a:prstDash val="solid"/>
          </a:ln>
        </p:spPr>
      </p:sp>
      <p:sp>
        <p:nvSpPr>
          <p:cNvPr id="38" name="Shape 35"/>
          <p:cNvSpPr/>
          <p:nvPr/>
        </p:nvSpPr>
        <p:spPr>
          <a:xfrm>
            <a:off x="9173718" y="1778508"/>
            <a:ext cx="409194" cy="409194"/>
          </a:xfrm>
          <a:prstGeom prst="rect">
            <a:avLst/>
          </a:prstGeom>
          <a:solidFill>
            <a:srgbClr val="66735F"/>
          </a:solidFill>
          <a:ln w="12700">
            <a:solidFill>
              <a:srgbClr val="66735F">
                <a:alpha val="0"/>
              </a:srgbClr>
            </a:solidFill>
            <a:prstDash val="solid"/>
          </a:ln>
        </p:spPr>
      </p:sp>
      <p:sp>
        <p:nvSpPr>
          <p:cNvPr id="39" name="Shape 36"/>
          <p:cNvSpPr/>
          <p:nvPr/>
        </p:nvSpPr>
        <p:spPr>
          <a:xfrm>
            <a:off x="6309360" y="2187702"/>
            <a:ext cx="409194" cy="409194"/>
          </a:xfrm>
          <a:prstGeom prst="rect">
            <a:avLst/>
          </a:prstGeom>
          <a:solidFill>
            <a:srgbClr val="66735F"/>
          </a:solidFill>
          <a:ln w="12700">
            <a:solidFill>
              <a:srgbClr val="66735F">
                <a:alpha val="0"/>
              </a:srgbClr>
            </a:solidFill>
            <a:prstDash val="solid"/>
          </a:ln>
        </p:spPr>
      </p:sp>
      <p:sp>
        <p:nvSpPr>
          <p:cNvPr id="40" name="Shape 37"/>
          <p:cNvSpPr/>
          <p:nvPr/>
        </p:nvSpPr>
        <p:spPr>
          <a:xfrm>
            <a:off x="6718554" y="2187702"/>
            <a:ext cx="409194" cy="409194"/>
          </a:xfrm>
          <a:prstGeom prst="rect">
            <a:avLst/>
          </a:prstGeom>
          <a:solidFill>
            <a:srgbClr val="E5DCC8"/>
          </a:solidFill>
          <a:ln w="12700">
            <a:solidFill>
              <a:srgbClr val="E5DCC8">
                <a:alpha val="0"/>
              </a:srgbClr>
            </a:solidFill>
            <a:prstDash val="solid"/>
          </a:ln>
        </p:spPr>
      </p:sp>
      <p:sp>
        <p:nvSpPr>
          <p:cNvPr id="41" name="Shape 38"/>
          <p:cNvSpPr/>
          <p:nvPr/>
        </p:nvSpPr>
        <p:spPr>
          <a:xfrm>
            <a:off x="7127748" y="2187702"/>
            <a:ext cx="409194" cy="409194"/>
          </a:xfrm>
          <a:prstGeom prst="rect">
            <a:avLst/>
          </a:prstGeom>
          <a:solidFill>
            <a:srgbClr val="66735F"/>
          </a:solidFill>
          <a:ln w="12700">
            <a:solidFill>
              <a:srgbClr val="66735F">
                <a:alpha val="0"/>
              </a:srgbClr>
            </a:solidFill>
            <a:prstDash val="solid"/>
          </a:ln>
        </p:spPr>
      </p:sp>
      <p:sp>
        <p:nvSpPr>
          <p:cNvPr id="42" name="Shape 39"/>
          <p:cNvSpPr/>
          <p:nvPr/>
        </p:nvSpPr>
        <p:spPr>
          <a:xfrm>
            <a:off x="7536942" y="2187702"/>
            <a:ext cx="409194" cy="409194"/>
          </a:xfrm>
          <a:prstGeom prst="rect">
            <a:avLst/>
          </a:prstGeom>
          <a:solidFill>
            <a:srgbClr val="E5DCC8"/>
          </a:solidFill>
          <a:ln w="12700">
            <a:solidFill>
              <a:srgbClr val="E5DCC8">
                <a:alpha val="0"/>
              </a:srgbClr>
            </a:solidFill>
            <a:prstDash val="solid"/>
          </a:ln>
        </p:spPr>
      </p:sp>
      <p:sp>
        <p:nvSpPr>
          <p:cNvPr id="43" name="Shape 40"/>
          <p:cNvSpPr/>
          <p:nvPr/>
        </p:nvSpPr>
        <p:spPr>
          <a:xfrm>
            <a:off x="7946136" y="2187702"/>
            <a:ext cx="409194" cy="409194"/>
          </a:xfrm>
          <a:prstGeom prst="rect">
            <a:avLst/>
          </a:prstGeom>
          <a:solidFill>
            <a:srgbClr val="66735F"/>
          </a:solidFill>
          <a:ln w="12700">
            <a:solidFill>
              <a:srgbClr val="66735F">
                <a:alpha val="0"/>
              </a:srgbClr>
            </a:solidFill>
            <a:prstDash val="solid"/>
          </a:ln>
        </p:spPr>
      </p:sp>
      <p:sp>
        <p:nvSpPr>
          <p:cNvPr id="44" name="Shape 41"/>
          <p:cNvSpPr/>
          <p:nvPr/>
        </p:nvSpPr>
        <p:spPr>
          <a:xfrm>
            <a:off x="8355330" y="2187702"/>
            <a:ext cx="409194" cy="409194"/>
          </a:xfrm>
          <a:prstGeom prst="rect">
            <a:avLst/>
          </a:prstGeom>
          <a:solidFill>
            <a:srgbClr val="E5DCC8"/>
          </a:solidFill>
          <a:ln w="12700">
            <a:solidFill>
              <a:srgbClr val="E5DCC8">
                <a:alpha val="0"/>
              </a:srgbClr>
            </a:solidFill>
            <a:prstDash val="solid"/>
          </a:ln>
        </p:spPr>
      </p:sp>
      <p:sp>
        <p:nvSpPr>
          <p:cNvPr id="45" name="Shape 42"/>
          <p:cNvSpPr/>
          <p:nvPr/>
        </p:nvSpPr>
        <p:spPr>
          <a:xfrm>
            <a:off x="8764524" y="2187702"/>
            <a:ext cx="409194" cy="409194"/>
          </a:xfrm>
          <a:prstGeom prst="rect">
            <a:avLst/>
          </a:prstGeom>
          <a:solidFill>
            <a:srgbClr val="66735F"/>
          </a:solidFill>
          <a:ln w="12700">
            <a:solidFill>
              <a:srgbClr val="66735F">
                <a:alpha val="0"/>
              </a:srgbClr>
            </a:solidFill>
            <a:prstDash val="solid"/>
          </a:ln>
        </p:spPr>
      </p:sp>
      <p:sp>
        <p:nvSpPr>
          <p:cNvPr id="46" name="Shape 43"/>
          <p:cNvSpPr/>
          <p:nvPr/>
        </p:nvSpPr>
        <p:spPr>
          <a:xfrm>
            <a:off x="9173718" y="2187702"/>
            <a:ext cx="409194" cy="409194"/>
          </a:xfrm>
          <a:prstGeom prst="rect">
            <a:avLst/>
          </a:prstGeom>
          <a:solidFill>
            <a:srgbClr val="E5DCC8"/>
          </a:solidFill>
          <a:ln w="12700">
            <a:solidFill>
              <a:srgbClr val="E5DCC8">
                <a:alpha val="0"/>
              </a:srgbClr>
            </a:solidFill>
            <a:prstDash val="solid"/>
          </a:ln>
        </p:spPr>
      </p:sp>
      <p:sp>
        <p:nvSpPr>
          <p:cNvPr id="47" name="Shape 44"/>
          <p:cNvSpPr/>
          <p:nvPr/>
        </p:nvSpPr>
        <p:spPr>
          <a:xfrm>
            <a:off x="6309360" y="2596896"/>
            <a:ext cx="409194" cy="409194"/>
          </a:xfrm>
          <a:prstGeom prst="rect">
            <a:avLst/>
          </a:prstGeom>
          <a:solidFill>
            <a:srgbClr val="E5DCC8"/>
          </a:solidFill>
          <a:ln w="12700">
            <a:solidFill>
              <a:srgbClr val="E5DCC8">
                <a:alpha val="0"/>
              </a:srgbClr>
            </a:solidFill>
            <a:prstDash val="solid"/>
          </a:ln>
        </p:spPr>
      </p:sp>
      <p:sp>
        <p:nvSpPr>
          <p:cNvPr id="48" name="Shape 45"/>
          <p:cNvSpPr/>
          <p:nvPr/>
        </p:nvSpPr>
        <p:spPr>
          <a:xfrm>
            <a:off x="6718554" y="2596896"/>
            <a:ext cx="409194" cy="409194"/>
          </a:xfrm>
          <a:prstGeom prst="rect">
            <a:avLst/>
          </a:prstGeom>
          <a:solidFill>
            <a:srgbClr val="66735F"/>
          </a:solidFill>
          <a:ln w="12700">
            <a:solidFill>
              <a:srgbClr val="66735F">
                <a:alpha val="0"/>
              </a:srgbClr>
            </a:solidFill>
            <a:prstDash val="solid"/>
          </a:ln>
        </p:spPr>
      </p:sp>
      <p:sp>
        <p:nvSpPr>
          <p:cNvPr id="49" name="Shape 46"/>
          <p:cNvSpPr/>
          <p:nvPr/>
        </p:nvSpPr>
        <p:spPr>
          <a:xfrm>
            <a:off x="7127748" y="2596896"/>
            <a:ext cx="409194" cy="409194"/>
          </a:xfrm>
          <a:prstGeom prst="rect">
            <a:avLst/>
          </a:prstGeom>
          <a:solidFill>
            <a:srgbClr val="E5DCC8"/>
          </a:solidFill>
          <a:ln w="12700">
            <a:solidFill>
              <a:srgbClr val="E5DCC8">
                <a:alpha val="0"/>
              </a:srgbClr>
            </a:solidFill>
            <a:prstDash val="solid"/>
          </a:ln>
        </p:spPr>
      </p:sp>
      <p:sp>
        <p:nvSpPr>
          <p:cNvPr id="50" name="Shape 47"/>
          <p:cNvSpPr/>
          <p:nvPr/>
        </p:nvSpPr>
        <p:spPr>
          <a:xfrm>
            <a:off x="7536942" y="2596896"/>
            <a:ext cx="409194" cy="409194"/>
          </a:xfrm>
          <a:prstGeom prst="rect">
            <a:avLst/>
          </a:prstGeom>
          <a:solidFill>
            <a:srgbClr val="66735F"/>
          </a:solidFill>
          <a:ln w="12700">
            <a:solidFill>
              <a:srgbClr val="66735F">
                <a:alpha val="0"/>
              </a:srgbClr>
            </a:solidFill>
            <a:prstDash val="solid"/>
          </a:ln>
        </p:spPr>
      </p:sp>
      <p:sp>
        <p:nvSpPr>
          <p:cNvPr id="51" name="Shape 48"/>
          <p:cNvSpPr/>
          <p:nvPr/>
        </p:nvSpPr>
        <p:spPr>
          <a:xfrm>
            <a:off x="7946136" y="2596896"/>
            <a:ext cx="409194" cy="409194"/>
          </a:xfrm>
          <a:prstGeom prst="rect">
            <a:avLst/>
          </a:prstGeom>
          <a:solidFill>
            <a:srgbClr val="E5DCC8"/>
          </a:solidFill>
          <a:ln w="12700">
            <a:solidFill>
              <a:srgbClr val="E5DCC8">
                <a:alpha val="0"/>
              </a:srgbClr>
            </a:solidFill>
            <a:prstDash val="solid"/>
          </a:ln>
        </p:spPr>
      </p:sp>
      <p:sp>
        <p:nvSpPr>
          <p:cNvPr id="52" name="Shape 49"/>
          <p:cNvSpPr/>
          <p:nvPr/>
        </p:nvSpPr>
        <p:spPr>
          <a:xfrm>
            <a:off x="8355330" y="2596896"/>
            <a:ext cx="409194" cy="409194"/>
          </a:xfrm>
          <a:prstGeom prst="rect">
            <a:avLst/>
          </a:prstGeom>
          <a:solidFill>
            <a:srgbClr val="66735F"/>
          </a:solidFill>
          <a:ln w="12700">
            <a:solidFill>
              <a:srgbClr val="66735F">
                <a:alpha val="0"/>
              </a:srgbClr>
            </a:solidFill>
            <a:prstDash val="solid"/>
          </a:ln>
        </p:spPr>
      </p:sp>
      <p:sp>
        <p:nvSpPr>
          <p:cNvPr id="53" name="Shape 50"/>
          <p:cNvSpPr/>
          <p:nvPr/>
        </p:nvSpPr>
        <p:spPr>
          <a:xfrm>
            <a:off x="8764524" y="2596896"/>
            <a:ext cx="409194" cy="409194"/>
          </a:xfrm>
          <a:prstGeom prst="rect">
            <a:avLst/>
          </a:prstGeom>
          <a:solidFill>
            <a:srgbClr val="E5DCC8"/>
          </a:solidFill>
          <a:ln w="12700">
            <a:solidFill>
              <a:srgbClr val="E5DCC8">
                <a:alpha val="0"/>
              </a:srgbClr>
            </a:solidFill>
            <a:prstDash val="solid"/>
          </a:ln>
        </p:spPr>
      </p:sp>
      <p:sp>
        <p:nvSpPr>
          <p:cNvPr id="54" name="Shape 51"/>
          <p:cNvSpPr/>
          <p:nvPr/>
        </p:nvSpPr>
        <p:spPr>
          <a:xfrm>
            <a:off x="9173718" y="2596896"/>
            <a:ext cx="409194" cy="409194"/>
          </a:xfrm>
          <a:prstGeom prst="rect">
            <a:avLst/>
          </a:prstGeom>
          <a:solidFill>
            <a:srgbClr val="66735F"/>
          </a:solidFill>
          <a:ln w="12700">
            <a:solidFill>
              <a:srgbClr val="66735F">
                <a:alpha val="0"/>
              </a:srgbClr>
            </a:solidFill>
            <a:prstDash val="solid"/>
          </a:ln>
        </p:spPr>
      </p:sp>
      <p:sp>
        <p:nvSpPr>
          <p:cNvPr id="55" name="Shape 52"/>
          <p:cNvSpPr/>
          <p:nvPr/>
        </p:nvSpPr>
        <p:spPr>
          <a:xfrm>
            <a:off x="6309360" y="3006090"/>
            <a:ext cx="409194" cy="409194"/>
          </a:xfrm>
          <a:prstGeom prst="rect">
            <a:avLst/>
          </a:prstGeom>
          <a:solidFill>
            <a:srgbClr val="66735F"/>
          </a:solidFill>
          <a:ln w="12700">
            <a:solidFill>
              <a:srgbClr val="66735F">
                <a:alpha val="0"/>
              </a:srgbClr>
            </a:solidFill>
            <a:prstDash val="solid"/>
          </a:ln>
        </p:spPr>
      </p:sp>
      <p:sp>
        <p:nvSpPr>
          <p:cNvPr id="56" name="Shape 53"/>
          <p:cNvSpPr/>
          <p:nvPr/>
        </p:nvSpPr>
        <p:spPr>
          <a:xfrm>
            <a:off x="6718554" y="3006090"/>
            <a:ext cx="409194" cy="409194"/>
          </a:xfrm>
          <a:prstGeom prst="rect">
            <a:avLst/>
          </a:prstGeom>
          <a:solidFill>
            <a:srgbClr val="E5DCC8"/>
          </a:solidFill>
          <a:ln w="12700">
            <a:solidFill>
              <a:srgbClr val="E5DCC8">
                <a:alpha val="0"/>
              </a:srgbClr>
            </a:solidFill>
            <a:prstDash val="solid"/>
          </a:ln>
        </p:spPr>
      </p:sp>
      <p:sp>
        <p:nvSpPr>
          <p:cNvPr id="57" name="Shape 54"/>
          <p:cNvSpPr/>
          <p:nvPr/>
        </p:nvSpPr>
        <p:spPr>
          <a:xfrm>
            <a:off x="7127748" y="3006090"/>
            <a:ext cx="409194" cy="409194"/>
          </a:xfrm>
          <a:prstGeom prst="rect">
            <a:avLst/>
          </a:prstGeom>
          <a:solidFill>
            <a:srgbClr val="66735F"/>
          </a:solidFill>
          <a:ln w="12700">
            <a:solidFill>
              <a:srgbClr val="66735F">
                <a:alpha val="0"/>
              </a:srgbClr>
            </a:solidFill>
            <a:prstDash val="solid"/>
          </a:ln>
        </p:spPr>
      </p:sp>
      <p:sp>
        <p:nvSpPr>
          <p:cNvPr id="58" name="Shape 55"/>
          <p:cNvSpPr/>
          <p:nvPr/>
        </p:nvSpPr>
        <p:spPr>
          <a:xfrm>
            <a:off x="7536942" y="3006090"/>
            <a:ext cx="409194" cy="409194"/>
          </a:xfrm>
          <a:prstGeom prst="rect">
            <a:avLst/>
          </a:prstGeom>
          <a:solidFill>
            <a:srgbClr val="E5DCC8"/>
          </a:solidFill>
          <a:ln w="12700">
            <a:solidFill>
              <a:srgbClr val="E5DCC8">
                <a:alpha val="0"/>
              </a:srgbClr>
            </a:solidFill>
            <a:prstDash val="solid"/>
          </a:ln>
        </p:spPr>
      </p:sp>
      <p:sp>
        <p:nvSpPr>
          <p:cNvPr id="59" name="Shape 56"/>
          <p:cNvSpPr/>
          <p:nvPr/>
        </p:nvSpPr>
        <p:spPr>
          <a:xfrm>
            <a:off x="7946136" y="3006090"/>
            <a:ext cx="409194" cy="409194"/>
          </a:xfrm>
          <a:prstGeom prst="rect">
            <a:avLst/>
          </a:prstGeom>
          <a:solidFill>
            <a:srgbClr val="66735F"/>
          </a:solidFill>
          <a:ln w="12700">
            <a:solidFill>
              <a:srgbClr val="66735F">
                <a:alpha val="0"/>
              </a:srgbClr>
            </a:solidFill>
            <a:prstDash val="solid"/>
          </a:ln>
        </p:spPr>
      </p:sp>
      <p:sp>
        <p:nvSpPr>
          <p:cNvPr id="60" name="Shape 57"/>
          <p:cNvSpPr/>
          <p:nvPr/>
        </p:nvSpPr>
        <p:spPr>
          <a:xfrm>
            <a:off x="8355330" y="3006090"/>
            <a:ext cx="409194" cy="409194"/>
          </a:xfrm>
          <a:prstGeom prst="rect">
            <a:avLst/>
          </a:prstGeom>
          <a:solidFill>
            <a:srgbClr val="E5DCC8"/>
          </a:solidFill>
          <a:ln w="12700">
            <a:solidFill>
              <a:srgbClr val="E5DCC8">
                <a:alpha val="0"/>
              </a:srgbClr>
            </a:solidFill>
            <a:prstDash val="solid"/>
          </a:ln>
        </p:spPr>
      </p:sp>
      <p:sp>
        <p:nvSpPr>
          <p:cNvPr id="61" name="Shape 58"/>
          <p:cNvSpPr/>
          <p:nvPr/>
        </p:nvSpPr>
        <p:spPr>
          <a:xfrm>
            <a:off x="8764524" y="3006090"/>
            <a:ext cx="409194" cy="409194"/>
          </a:xfrm>
          <a:prstGeom prst="rect">
            <a:avLst/>
          </a:prstGeom>
          <a:solidFill>
            <a:srgbClr val="66735F"/>
          </a:solidFill>
          <a:ln w="12700">
            <a:solidFill>
              <a:srgbClr val="66735F">
                <a:alpha val="0"/>
              </a:srgbClr>
            </a:solidFill>
            <a:prstDash val="solid"/>
          </a:ln>
        </p:spPr>
      </p:sp>
      <p:sp>
        <p:nvSpPr>
          <p:cNvPr id="62" name="Shape 59"/>
          <p:cNvSpPr/>
          <p:nvPr/>
        </p:nvSpPr>
        <p:spPr>
          <a:xfrm>
            <a:off x="9173718" y="3006090"/>
            <a:ext cx="409194" cy="409194"/>
          </a:xfrm>
          <a:prstGeom prst="rect">
            <a:avLst/>
          </a:prstGeom>
          <a:solidFill>
            <a:srgbClr val="E5DCC8"/>
          </a:solidFill>
          <a:ln w="12700">
            <a:solidFill>
              <a:srgbClr val="E5DCC8">
                <a:alpha val="0"/>
              </a:srgbClr>
            </a:solidFill>
            <a:prstDash val="solid"/>
          </a:ln>
        </p:spPr>
      </p:sp>
      <p:sp>
        <p:nvSpPr>
          <p:cNvPr id="63" name="Shape 60"/>
          <p:cNvSpPr/>
          <p:nvPr/>
        </p:nvSpPr>
        <p:spPr>
          <a:xfrm>
            <a:off x="6309360" y="3415284"/>
            <a:ext cx="409194" cy="409194"/>
          </a:xfrm>
          <a:prstGeom prst="rect">
            <a:avLst/>
          </a:prstGeom>
          <a:solidFill>
            <a:srgbClr val="E5DCC8"/>
          </a:solidFill>
          <a:ln w="12700">
            <a:solidFill>
              <a:srgbClr val="E5DCC8">
                <a:alpha val="0"/>
              </a:srgbClr>
            </a:solidFill>
            <a:prstDash val="solid"/>
          </a:ln>
        </p:spPr>
      </p:sp>
      <p:sp>
        <p:nvSpPr>
          <p:cNvPr id="64" name="Shape 61"/>
          <p:cNvSpPr/>
          <p:nvPr/>
        </p:nvSpPr>
        <p:spPr>
          <a:xfrm>
            <a:off x="6718554" y="3415284"/>
            <a:ext cx="409194" cy="409194"/>
          </a:xfrm>
          <a:prstGeom prst="rect">
            <a:avLst/>
          </a:prstGeom>
          <a:solidFill>
            <a:srgbClr val="66735F"/>
          </a:solidFill>
          <a:ln w="12700">
            <a:solidFill>
              <a:srgbClr val="66735F">
                <a:alpha val="0"/>
              </a:srgbClr>
            </a:solidFill>
            <a:prstDash val="solid"/>
          </a:ln>
        </p:spPr>
      </p:sp>
      <p:sp>
        <p:nvSpPr>
          <p:cNvPr id="65" name="Shape 62"/>
          <p:cNvSpPr/>
          <p:nvPr/>
        </p:nvSpPr>
        <p:spPr>
          <a:xfrm>
            <a:off x="7127748" y="3415284"/>
            <a:ext cx="409194" cy="409194"/>
          </a:xfrm>
          <a:prstGeom prst="rect">
            <a:avLst/>
          </a:prstGeom>
          <a:solidFill>
            <a:srgbClr val="E5DCC8"/>
          </a:solidFill>
          <a:ln w="12700">
            <a:solidFill>
              <a:srgbClr val="E5DCC8">
                <a:alpha val="0"/>
              </a:srgbClr>
            </a:solidFill>
            <a:prstDash val="solid"/>
          </a:ln>
        </p:spPr>
      </p:sp>
      <p:sp>
        <p:nvSpPr>
          <p:cNvPr id="66" name="Shape 63"/>
          <p:cNvSpPr/>
          <p:nvPr/>
        </p:nvSpPr>
        <p:spPr>
          <a:xfrm>
            <a:off x="7536942" y="3415284"/>
            <a:ext cx="409194" cy="409194"/>
          </a:xfrm>
          <a:prstGeom prst="rect">
            <a:avLst/>
          </a:prstGeom>
          <a:solidFill>
            <a:srgbClr val="66735F"/>
          </a:solidFill>
          <a:ln w="12700">
            <a:solidFill>
              <a:srgbClr val="66735F">
                <a:alpha val="0"/>
              </a:srgbClr>
            </a:solidFill>
            <a:prstDash val="solid"/>
          </a:ln>
        </p:spPr>
      </p:sp>
      <p:sp>
        <p:nvSpPr>
          <p:cNvPr id="67" name="Shape 64"/>
          <p:cNvSpPr/>
          <p:nvPr/>
        </p:nvSpPr>
        <p:spPr>
          <a:xfrm>
            <a:off x="7946136" y="3415284"/>
            <a:ext cx="409194" cy="409194"/>
          </a:xfrm>
          <a:prstGeom prst="rect">
            <a:avLst/>
          </a:prstGeom>
          <a:solidFill>
            <a:srgbClr val="E5DCC8"/>
          </a:solidFill>
          <a:ln w="12700">
            <a:solidFill>
              <a:srgbClr val="E5DCC8">
                <a:alpha val="0"/>
              </a:srgbClr>
            </a:solidFill>
            <a:prstDash val="solid"/>
          </a:ln>
        </p:spPr>
      </p:sp>
      <p:sp>
        <p:nvSpPr>
          <p:cNvPr id="68" name="Shape 65"/>
          <p:cNvSpPr/>
          <p:nvPr/>
        </p:nvSpPr>
        <p:spPr>
          <a:xfrm>
            <a:off x="8355330" y="3415284"/>
            <a:ext cx="409194" cy="409194"/>
          </a:xfrm>
          <a:prstGeom prst="rect">
            <a:avLst/>
          </a:prstGeom>
          <a:solidFill>
            <a:srgbClr val="66735F"/>
          </a:solidFill>
          <a:ln w="12700">
            <a:solidFill>
              <a:srgbClr val="66735F">
                <a:alpha val="0"/>
              </a:srgbClr>
            </a:solidFill>
            <a:prstDash val="solid"/>
          </a:ln>
        </p:spPr>
      </p:sp>
      <p:sp>
        <p:nvSpPr>
          <p:cNvPr id="69" name="Shape 66"/>
          <p:cNvSpPr/>
          <p:nvPr/>
        </p:nvSpPr>
        <p:spPr>
          <a:xfrm>
            <a:off x="8764524" y="3415284"/>
            <a:ext cx="409194" cy="409194"/>
          </a:xfrm>
          <a:prstGeom prst="rect">
            <a:avLst/>
          </a:prstGeom>
          <a:solidFill>
            <a:srgbClr val="E5DCC8"/>
          </a:solidFill>
          <a:ln w="12700">
            <a:solidFill>
              <a:srgbClr val="E5DCC8">
                <a:alpha val="0"/>
              </a:srgbClr>
            </a:solidFill>
            <a:prstDash val="solid"/>
          </a:ln>
        </p:spPr>
      </p:sp>
      <p:sp>
        <p:nvSpPr>
          <p:cNvPr id="70" name="Shape 67"/>
          <p:cNvSpPr/>
          <p:nvPr/>
        </p:nvSpPr>
        <p:spPr>
          <a:xfrm>
            <a:off x="9173718" y="3415284"/>
            <a:ext cx="409194" cy="409194"/>
          </a:xfrm>
          <a:prstGeom prst="rect">
            <a:avLst/>
          </a:prstGeom>
          <a:solidFill>
            <a:srgbClr val="66735F"/>
          </a:solidFill>
          <a:ln w="12700">
            <a:solidFill>
              <a:srgbClr val="66735F">
                <a:alpha val="0"/>
              </a:srgbClr>
            </a:solidFill>
            <a:prstDash val="solid"/>
          </a:ln>
        </p:spPr>
      </p:sp>
      <p:sp>
        <p:nvSpPr>
          <p:cNvPr id="71" name="Shape 68"/>
          <p:cNvSpPr/>
          <p:nvPr/>
        </p:nvSpPr>
        <p:spPr>
          <a:xfrm>
            <a:off x="6309360" y="3824478"/>
            <a:ext cx="409194" cy="409194"/>
          </a:xfrm>
          <a:prstGeom prst="rect">
            <a:avLst/>
          </a:prstGeom>
          <a:solidFill>
            <a:srgbClr val="66735F"/>
          </a:solidFill>
          <a:ln w="12700">
            <a:solidFill>
              <a:srgbClr val="66735F">
                <a:alpha val="0"/>
              </a:srgbClr>
            </a:solidFill>
            <a:prstDash val="solid"/>
          </a:ln>
        </p:spPr>
      </p:sp>
      <p:sp>
        <p:nvSpPr>
          <p:cNvPr id="72" name="Shape 69"/>
          <p:cNvSpPr/>
          <p:nvPr/>
        </p:nvSpPr>
        <p:spPr>
          <a:xfrm>
            <a:off x="6718554" y="3824478"/>
            <a:ext cx="409194" cy="409194"/>
          </a:xfrm>
          <a:prstGeom prst="rect">
            <a:avLst/>
          </a:prstGeom>
          <a:solidFill>
            <a:srgbClr val="E5DCC8"/>
          </a:solidFill>
          <a:ln w="12700">
            <a:solidFill>
              <a:srgbClr val="E5DCC8">
                <a:alpha val="0"/>
              </a:srgbClr>
            </a:solidFill>
            <a:prstDash val="solid"/>
          </a:ln>
        </p:spPr>
      </p:sp>
      <p:sp>
        <p:nvSpPr>
          <p:cNvPr id="73" name="Shape 70"/>
          <p:cNvSpPr/>
          <p:nvPr/>
        </p:nvSpPr>
        <p:spPr>
          <a:xfrm>
            <a:off x="7127748" y="3824478"/>
            <a:ext cx="409194" cy="409194"/>
          </a:xfrm>
          <a:prstGeom prst="rect">
            <a:avLst/>
          </a:prstGeom>
          <a:solidFill>
            <a:srgbClr val="66735F"/>
          </a:solidFill>
          <a:ln w="12700">
            <a:solidFill>
              <a:srgbClr val="66735F">
                <a:alpha val="0"/>
              </a:srgbClr>
            </a:solidFill>
            <a:prstDash val="solid"/>
          </a:ln>
        </p:spPr>
      </p:sp>
      <p:sp>
        <p:nvSpPr>
          <p:cNvPr id="74" name="Shape 71"/>
          <p:cNvSpPr/>
          <p:nvPr/>
        </p:nvSpPr>
        <p:spPr>
          <a:xfrm>
            <a:off x="7536942" y="3824478"/>
            <a:ext cx="409194" cy="409194"/>
          </a:xfrm>
          <a:prstGeom prst="rect">
            <a:avLst/>
          </a:prstGeom>
          <a:solidFill>
            <a:srgbClr val="E5DCC8"/>
          </a:solidFill>
          <a:ln w="12700">
            <a:solidFill>
              <a:srgbClr val="E5DCC8">
                <a:alpha val="0"/>
              </a:srgbClr>
            </a:solidFill>
            <a:prstDash val="solid"/>
          </a:ln>
        </p:spPr>
      </p:sp>
      <p:sp>
        <p:nvSpPr>
          <p:cNvPr id="75" name="Shape 72"/>
          <p:cNvSpPr/>
          <p:nvPr/>
        </p:nvSpPr>
        <p:spPr>
          <a:xfrm>
            <a:off x="7946136" y="3824478"/>
            <a:ext cx="409194" cy="409194"/>
          </a:xfrm>
          <a:prstGeom prst="rect">
            <a:avLst/>
          </a:prstGeom>
          <a:solidFill>
            <a:srgbClr val="66735F"/>
          </a:solidFill>
          <a:ln w="12700">
            <a:solidFill>
              <a:srgbClr val="66735F">
                <a:alpha val="0"/>
              </a:srgbClr>
            </a:solidFill>
            <a:prstDash val="solid"/>
          </a:ln>
        </p:spPr>
      </p:sp>
      <p:sp>
        <p:nvSpPr>
          <p:cNvPr id="76" name="Shape 73"/>
          <p:cNvSpPr/>
          <p:nvPr/>
        </p:nvSpPr>
        <p:spPr>
          <a:xfrm>
            <a:off x="8355330" y="3824478"/>
            <a:ext cx="409194" cy="409194"/>
          </a:xfrm>
          <a:prstGeom prst="rect">
            <a:avLst/>
          </a:prstGeom>
          <a:solidFill>
            <a:srgbClr val="E5DCC8"/>
          </a:solidFill>
          <a:ln w="12700">
            <a:solidFill>
              <a:srgbClr val="E5DCC8">
                <a:alpha val="0"/>
              </a:srgbClr>
            </a:solidFill>
            <a:prstDash val="solid"/>
          </a:ln>
        </p:spPr>
      </p:sp>
      <p:sp>
        <p:nvSpPr>
          <p:cNvPr id="77" name="Shape 74"/>
          <p:cNvSpPr/>
          <p:nvPr/>
        </p:nvSpPr>
        <p:spPr>
          <a:xfrm>
            <a:off x="8764524" y="3824478"/>
            <a:ext cx="409194" cy="409194"/>
          </a:xfrm>
          <a:prstGeom prst="rect">
            <a:avLst/>
          </a:prstGeom>
          <a:solidFill>
            <a:srgbClr val="66735F"/>
          </a:solidFill>
          <a:ln w="12700">
            <a:solidFill>
              <a:srgbClr val="66735F">
                <a:alpha val="0"/>
              </a:srgbClr>
            </a:solidFill>
            <a:prstDash val="solid"/>
          </a:ln>
        </p:spPr>
      </p:sp>
      <p:sp>
        <p:nvSpPr>
          <p:cNvPr id="78" name="Shape 75"/>
          <p:cNvSpPr/>
          <p:nvPr/>
        </p:nvSpPr>
        <p:spPr>
          <a:xfrm>
            <a:off x="9173718" y="3824478"/>
            <a:ext cx="409194" cy="409194"/>
          </a:xfrm>
          <a:prstGeom prst="rect">
            <a:avLst/>
          </a:prstGeom>
          <a:solidFill>
            <a:srgbClr val="E5DCC8"/>
          </a:solidFill>
          <a:ln w="12700">
            <a:solidFill>
              <a:srgbClr val="E5DCC8">
                <a:alpha val="0"/>
              </a:srgbClr>
            </a:solidFill>
            <a:prstDash val="solid"/>
          </a:ln>
        </p:spPr>
      </p:sp>
      <p:sp>
        <p:nvSpPr>
          <p:cNvPr id="79" name="Text 76"/>
          <p:cNvSpPr/>
          <p:nvPr/>
        </p:nvSpPr>
        <p:spPr>
          <a:xfrm>
            <a:off x="6309360" y="941832"/>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080A08"/>
                </a:solidFill>
                <a:latin typeface="DejaVu Sans" pitchFamily="34" charset="0"/>
                <a:ea typeface="DejaVu Sans" pitchFamily="34" charset="-122"/>
                <a:cs typeface="DejaVu Sans" pitchFamily="34" charset="-120"/>
              </a:rPr>
              <a:t>♜</a:t>
            </a:r>
            <a:endParaRPr lang="en-US" sz="1253" dirty="0"/>
          </a:p>
        </p:txBody>
      </p:sp>
      <p:sp>
        <p:nvSpPr>
          <p:cNvPr id="80" name="Text 77"/>
          <p:cNvSpPr/>
          <p:nvPr/>
        </p:nvSpPr>
        <p:spPr>
          <a:xfrm>
            <a:off x="7946136" y="941832"/>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080A08"/>
                </a:solidFill>
                <a:latin typeface="DejaVu Sans" pitchFamily="34" charset="0"/>
                <a:ea typeface="DejaVu Sans" pitchFamily="34" charset="-122"/>
                <a:cs typeface="DejaVu Sans" pitchFamily="34" charset="-120"/>
              </a:rPr>
              <a:t>♚</a:t>
            </a:r>
            <a:endParaRPr lang="en-US" sz="1253" dirty="0"/>
          </a:p>
        </p:txBody>
      </p:sp>
      <p:sp>
        <p:nvSpPr>
          <p:cNvPr id="81" name="Text 78"/>
          <p:cNvSpPr/>
          <p:nvPr/>
        </p:nvSpPr>
        <p:spPr>
          <a:xfrm>
            <a:off x="9173718" y="941832"/>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080A08"/>
                </a:solidFill>
                <a:latin typeface="DejaVu Sans" pitchFamily="34" charset="0"/>
                <a:ea typeface="DejaVu Sans" pitchFamily="34" charset="-122"/>
                <a:cs typeface="DejaVu Sans" pitchFamily="34" charset="-120"/>
              </a:rPr>
              <a:t>♜</a:t>
            </a:r>
            <a:endParaRPr lang="en-US" sz="1253" dirty="0"/>
          </a:p>
        </p:txBody>
      </p:sp>
      <p:sp>
        <p:nvSpPr>
          <p:cNvPr id="82" name="Text 79"/>
          <p:cNvSpPr/>
          <p:nvPr/>
        </p:nvSpPr>
        <p:spPr>
          <a:xfrm>
            <a:off x="7536942" y="1351026"/>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080A08"/>
                </a:solidFill>
                <a:latin typeface="DejaVu Sans" pitchFamily="34" charset="0"/>
                <a:ea typeface="DejaVu Sans" pitchFamily="34" charset="-122"/>
                <a:cs typeface="DejaVu Sans" pitchFamily="34" charset="-120"/>
              </a:rPr>
              <a:t>♟</a:t>
            </a:r>
            <a:endParaRPr lang="en-US" sz="1253" dirty="0"/>
          </a:p>
        </p:txBody>
      </p:sp>
      <p:sp>
        <p:nvSpPr>
          <p:cNvPr id="83" name="Text 80"/>
          <p:cNvSpPr/>
          <p:nvPr/>
        </p:nvSpPr>
        <p:spPr>
          <a:xfrm>
            <a:off x="7946136" y="2169414"/>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080A08"/>
                </a:solidFill>
                <a:latin typeface="DejaVu Sans" pitchFamily="34" charset="0"/>
                <a:ea typeface="DejaVu Sans" pitchFamily="34" charset="-122"/>
                <a:cs typeface="DejaVu Sans" pitchFamily="34" charset="-120"/>
              </a:rPr>
              <a:t>♟</a:t>
            </a:r>
            <a:endParaRPr lang="en-US" sz="1253" dirty="0"/>
          </a:p>
        </p:txBody>
      </p:sp>
      <p:sp>
        <p:nvSpPr>
          <p:cNvPr id="84" name="Text 81"/>
          <p:cNvSpPr/>
          <p:nvPr/>
        </p:nvSpPr>
        <p:spPr>
          <a:xfrm>
            <a:off x="7536942" y="2578608"/>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FFFDF7"/>
                </a:solidFill>
                <a:latin typeface="DejaVu Sans" pitchFamily="34" charset="0"/>
                <a:ea typeface="DejaVu Sans" pitchFamily="34" charset="-122"/>
                <a:cs typeface="DejaVu Sans" pitchFamily="34" charset="-120"/>
              </a:rPr>
              <a:t>♙</a:t>
            </a:r>
            <a:endParaRPr lang="en-US" sz="1253" dirty="0"/>
          </a:p>
        </p:txBody>
      </p:sp>
      <p:sp>
        <p:nvSpPr>
          <p:cNvPr id="85" name="Text 82"/>
          <p:cNvSpPr/>
          <p:nvPr/>
        </p:nvSpPr>
        <p:spPr>
          <a:xfrm>
            <a:off x="7946136" y="3396996"/>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FFFDF7"/>
                </a:solidFill>
                <a:latin typeface="DejaVu Sans" pitchFamily="34" charset="0"/>
                <a:ea typeface="DejaVu Sans" pitchFamily="34" charset="-122"/>
                <a:cs typeface="DejaVu Sans" pitchFamily="34" charset="-120"/>
              </a:rPr>
              <a:t>♙</a:t>
            </a:r>
            <a:endParaRPr lang="en-US" sz="1253" dirty="0"/>
          </a:p>
        </p:txBody>
      </p:sp>
      <p:sp>
        <p:nvSpPr>
          <p:cNvPr id="86" name="Text 83"/>
          <p:cNvSpPr/>
          <p:nvPr/>
        </p:nvSpPr>
        <p:spPr>
          <a:xfrm>
            <a:off x="6309360" y="3806190"/>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FFFDF7"/>
                </a:solidFill>
                <a:latin typeface="DejaVu Sans" pitchFamily="34" charset="0"/>
                <a:ea typeface="DejaVu Sans" pitchFamily="34" charset="-122"/>
                <a:cs typeface="DejaVu Sans" pitchFamily="34" charset="-120"/>
              </a:rPr>
              <a:t>♖</a:t>
            </a:r>
            <a:endParaRPr lang="en-US" sz="1253" dirty="0"/>
          </a:p>
        </p:txBody>
      </p:sp>
      <p:sp>
        <p:nvSpPr>
          <p:cNvPr id="87" name="Text 84"/>
          <p:cNvSpPr/>
          <p:nvPr/>
        </p:nvSpPr>
        <p:spPr>
          <a:xfrm>
            <a:off x="7946136" y="3806190"/>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FFFDF7"/>
                </a:solidFill>
                <a:latin typeface="DejaVu Sans" pitchFamily="34" charset="0"/>
                <a:ea typeface="DejaVu Sans" pitchFamily="34" charset="-122"/>
                <a:cs typeface="DejaVu Sans" pitchFamily="34" charset="-120"/>
              </a:rPr>
              <a:t>♔</a:t>
            </a:r>
            <a:endParaRPr lang="en-US" sz="1253" dirty="0"/>
          </a:p>
        </p:txBody>
      </p:sp>
      <p:sp>
        <p:nvSpPr>
          <p:cNvPr id="88" name="Text 85"/>
          <p:cNvSpPr/>
          <p:nvPr/>
        </p:nvSpPr>
        <p:spPr>
          <a:xfrm>
            <a:off x="9173718" y="3806190"/>
            <a:ext cx="409194" cy="409194"/>
          </a:xfrm>
          <a:prstGeom prst="rect">
            <a:avLst/>
          </a:prstGeom>
          <a:noFill/>
          <a:ln/>
        </p:spPr>
        <p:txBody>
          <a:bodyPr wrap="square" lIns="0" tIns="0" rIns="0" bIns="0" rtlCol="0" anchor="ctr">
            <a:normAutofit/>
          </a:bodyPr>
          <a:lstStyle/>
          <a:p>
            <a:pPr algn="ctr" indent="0" marL="0">
              <a:buNone/>
            </a:pPr>
            <a:r>
              <a:rPr lang="en-US" sz="1253" dirty="0">
                <a:solidFill>
                  <a:srgbClr val="FFFDF7"/>
                </a:solidFill>
                <a:latin typeface="DejaVu Sans" pitchFamily="34" charset="0"/>
                <a:ea typeface="DejaVu Sans" pitchFamily="34" charset="-122"/>
                <a:cs typeface="DejaVu Sans" pitchFamily="34" charset="-120"/>
              </a:rPr>
              <a:t>♖</a:t>
            </a:r>
            <a:endParaRPr lang="en-US" sz="1253" dirty="0"/>
          </a:p>
        </p:txBody>
      </p:sp>
      <p:sp>
        <p:nvSpPr>
          <p:cNvPr id="89" name="Text 86"/>
          <p:cNvSpPr/>
          <p:nvPr/>
        </p:nvSpPr>
        <p:spPr>
          <a:xfrm>
            <a:off x="9848088" y="1005840"/>
            <a:ext cx="1335024" cy="219456"/>
          </a:xfrm>
          <a:prstGeom prst="rect">
            <a:avLst/>
          </a:prstGeom>
          <a:noFill/>
          <a:ln/>
        </p:spPr>
        <p:txBody>
          <a:bodyPr wrap="square" lIns="0" tIns="0" rIns="0" bIns="0" rtlCol="0" anchor="ctr">
            <a:normAutofit/>
          </a:bodyPr>
          <a:lstStyle/>
          <a:p>
            <a:pPr indent="0" marL="0">
              <a:buNone/>
            </a:pPr>
            <a:r>
              <a:rPr lang="en-US" sz="950" b="1" dirty="0">
                <a:solidFill>
                  <a:srgbClr val="E89B45"/>
                </a:solidFill>
                <a:latin typeface="Liberation Mono" pitchFamily="34" charset="0"/>
                <a:ea typeface="Liberation Mono" pitchFamily="34" charset="-122"/>
                <a:cs typeface="Liberation Mono" pitchFamily="34" charset="-120"/>
              </a:rPr>
              <a:t>LOCAL DECISION</a:t>
            </a:r>
            <a:endParaRPr lang="en-US" sz="950" dirty="0"/>
          </a:p>
        </p:txBody>
      </p:sp>
      <p:sp>
        <p:nvSpPr>
          <p:cNvPr id="90" name="Text 87"/>
          <p:cNvSpPr/>
          <p:nvPr/>
        </p:nvSpPr>
        <p:spPr>
          <a:xfrm>
            <a:off x="9848088" y="1389888"/>
            <a:ext cx="1417320" cy="246888"/>
          </a:xfrm>
          <a:prstGeom prst="rect">
            <a:avLst/>
          </a:prstGeom>
          <a:noFill/>
          <a:ln/>
        </p:spPr>
        <p:txBody>
          <a:bodyPr wrap="square" lIns="0" tIns="0" rIns="0" bIns="0" rtlCol="0" anchor="ctr">
            <a:normAutofit/>
          </a:bodyPr>
          <a:lstStyle/>
          <a:p>
            <a:pPr indent="0" marL="0">
              <a:buNone/>
            </a:pPr>
            <a:r>
              <a:rPr lang="en-US" sz="1300" b="1" dirty="0">
                <a:solidFill>
                  <a:srgbClr val="FFFDF7"/>
                </a:solidFill>
                <a:latin typeface="Liberation Sans" pitchFamily="34" charset="0"/>
                <a:ea typeface="Liberation Sans" pitchFamily="34" charset="-122"/>
                <a:cs typeface="Liberation Sans" pitchFamily="34" charset="-120"/>
              </a:rPr>
              <a:t>Candidate moves</a:t>
            </a:r>
            <a:endParaRPr lang="en-US" sz="1300" dirty="0"/>
          </a:p>
        </p:txBody>
      </p:sp>
      <p:sp>
        <p:nvSpPr>
          <p:cNvPr id="91" name="Shape 88"/>
          <p:cNvSpPr/>
          <p:nvPr/>
        </p:nvSpPr>
        <p:spPr>
          <a:xfrm>
            <a:off x="9829800" y="1746504"/>
            <a:ext cx="1252728" cy="329184"/>
          </a:xfrm>
          <a:prstGeom prst="roundRect">
            <a:avLst>
              <a:gd name="adj" fmla="val 16667"/>
            </a:avLst>
          </a:prstGeom>
          <a:solidFill>
            <a:srgbClr val="D65B35"/>
          </a:solidFill>
          <a:ln w="12700">
            <a:solidFill>
              <a:srgbClr val="D65B35">
                <a:alpha val="0"/>
              </a:srgbClr>
            </a:solidFill>
            <a:prstDash val="solid"/>
          </a:ln>
        </p:spPr>
      </p:sp>
      <p:sp>
        <p:nvSpPr>
          <p:cNvPr id="92" name="Text 89"/>
          <p:cNvSpPr/>
          <p:nvPr/>
        </p:nvSpPr>
        <p:spPr>
          <a:xfrm>
            <a:off x="9930384" y="1746504"/>
            <a:ext cx="1051560" cy="329184"/>
          </a:xfrm>
          <a:prstGeom prst="rect">
            <a:avLst/>
          </a:prstGeom>
          <a:noFill/>
          <a:ln/>
        </p:spPr>
        <p:txBody>
          <a:bodyPr wrap="square" lIns="0" tIns="0" rIns="0" bIns="0" rtlCol="0" anchor="ctr">
            <a:normAutofit/>
          </a:bodyPr>
          <a:lstStyle/>
          <a:p>
            <a:pPr indent="0" marL="0">
              <a:buNone/>
            </a:pPr>
            <a:r>
              <a:rPr lang="en-US" sz="1200" b="1" dirty="0">
                <a:solidFill>
                  <a:srgbClr val="FFFDF7"/>
                </a:solidFill>
                <a:latin typeface="Liberation Mono" pitchFamily="34" charset="0"/>
                <a:ea typeface="Liberation Mono" pitchFamily="34" charset="-122"/>
                <a:cs typeface="Liberation Mono" pitchFamily="34" charset="-120"/>
              </a:rPr>
              <a:t>1  e4</a:t>
            </a:r>
            <a:endParaRPr lang="en-US" sz="1200" dirty="0"/>
          </a:p>
        </p:txBody>
      </p:sp>
      <p:sp>
        <p:nvSpPr>
          <p:cNvPr id="93" name="Shape 90"/>
          <p:cNvSpPr/>
          <p:nvPr/>
        </p:nvSpPr>
        <p:spPr>
          <a:xfrm>
            <a:off x="9829800" y="2194560"/>
            <a:ext cx="1252728" cy="329184"/>
          </a:xfrm>
          <a:prstGeom prst="roundRect">
            <a:avLst>
              <a:gd name="adj" fmla="val 16667"/>
            </a:avLst>
          </a:prstGeom>
          <a:solidFill>
            <a:srgbClr val="30362E"/>
          </a:solidFill>
          <a:ln w="12700">
            <a:solidFill>
              <a:srgbClr val="30362E">
                <a:alpha val="0"/>
              </a:srgbClr>
            </a:solidFill>
            <a:prstDash val="solid"/>
          </a:ln>
        </p:spPr>
      </p:sp>
      <p:sp>
        <p:nvSpPr>
          <p:cNvPr id="94" name="Text 91"/>
          <p:cNvSpPr/>
          <p:nvPr/>
        </p:nvSpPr>
        <p:spPr>
          <a:xfrm>
            <a:off x="9930384" y="2194560"/>
            <a:ext cx="1051560" cy="329184"/>
          </a:xfrm>
          <a:prstGeom prst="rect">
            <a:avLst/>
          </a:prstGeom>
          <a:noFill/>
          <a:ln/>
        </p:spPr>
        <p:txBody>
          <a:bodyPr wrap="square" lIns="0" tIns="0" rIns="0" bIns="0" rtlCol="0" anchor="ctr">
            <a:normAutofit/>
          </a:bodyPr>
          <a:lstStyle/>
          <a:p>
            <a:pPr indent="0" marL="0">
              <a:buNone/>
            </a:pPr>
            <a:r>
              <a:rPr lang="en-US" sz="1200" dirty="0">
                <a:solidFill>
                  <a:srgbClr val="FFFDF7"/>
                </a:solidFill>
                <a:latin typeface="Liberation Mono" pitchFamily="34" charset="0"/>
                <a:ea typeface="Liberation Mono" pitchFamily="34" charset="-122"/>
                <a:cs typeface="Liberation Mono" pitchFamily="34" charset="-120"/>
              </a:rPr>
              <a:t>2  Nf3</a:t>
            </a:r>
            <a:endParaRPr lang="en-US" sz="1200" dirty="0"/>
          </a:p>
        </p:txBody>
      </p:sp>
      <p:sp>
        <p:nvSpPr>
          <p:cNvPr id="95" name="Shape 92"/>
          <p:cNvSpPr/>
          <p:nvPr/>
        </p:nvSpPr>
        <p:spPr>
          <a:xfrm>
            <a:off x="9829800" y="2642616"/>
            <a:ext cx="1252728" cy="329184"/>
          </a:xfrm>
          <a:prstGeom prst="roundRect">
            <a:avLst>
              <a:gd name="adj" fmla="val 16667"/>
            </a:avLst>
          </a:prstGeom>
          <a:solidFill>
            <a:srgbClr val="30362E"/>
          </a:solidFill>
          <a:ln w="12700">
            <a:solidFill>
              <a:srgbClr val="30362E">
                <a:alpha val="0"/>
              </a:srgbClr>
            </a:solidFill>
            <a:prstDash val="solid"/>
          </a:ln>
        </p:spPr>
      </p:sp>
      <p:sp>
        <p:nvSpPr>
          <p:cNvPr id="96" name="Text 93"/>
          <p:cNvSpPr/>
          <p:nvPr/>
        </p:nvSpPr>
        <p:spPr>
          <a:xfrm>
            <a:off x="9930384" y="2642616"/>
            <a:ext cx="1051560" cy="329184"/>
          </a:xfrm>
          <a:prstGeom prst="rect">
            <a:avLst/>
          </a:prstGeom>
          <a:noFill/>
          <a:ln/>
        </p:spPr>
        <p:txBody>
          <a:bodyPr wrap="square" lIns="0" tIns="0" rIns="0" bIns="0" rtlCol="0" anchor="ctr">
            <a:normAutofit/>
          </a:bodyPr>
          <a:lstStyle/>
          <a:p>
            <a:pPr indent="0" marL="0">
              <a:buNone/>
            </a:pPr>
            <a:r>
              <a:rPr lang="en-US" sz="1200" dirty="0">
                <a:solidFill>
                  <a:srgbClr val="FFFDF7"/>
                </a:solidFill>
                <a:latin typeface="Liberation Mono" pitchFamily="34" charset="0"/>
                <a:ea typeface="Liberation Mono" pitchFamily="34" charset="-122"/>
                <a:cs typeface="Liberation Mono" pitchFamily="34" charset="-120"/>
              </a:rPr>
              <a:t>3  d4</a:t>
            </a:r>
            <a:endParaRPr lang="en-US" sz="1200" dirty="0"/>
          </a:p>
        </p:txBody>
      </p:sp>
      <p:sp>
        <p:nvSpPr>
          <p:cNvPr id="97" name="Text 94"/>
          <p:cNvSpPr/>
          <p:nvPr/>
        </p:nvSpPr>
        <p:spPr>
          <a:xfrm>
            <a:off x="9829800" y="3401568"/>
            <a:ext cx="1344168" cy="1097280"/>
          </a:xfrm>
          <a:prstGeom prst="rect">
            <a:avLst/>
          </a:prstGeom>
          <a:noFill/>
          <a:ln/>
        </p:spPr>
        <p:txBody>
          <a:bodyPr wrap="square" lIns="0" tIns="0" rIns="0" bIns="0" rtlCol="0" anchor="t">
            <a:normAutofit/>
          </a:bodyPr>
          <a:lstStyle/>
          <a:p>
            <a:pPr indent="0" marL="0">
              <a:buNone/>
            </a:pPr>
            <a:r>
              <a:rPr lang="en-US" sz="1250" i="1" dirty="0">
                <a:solidFill>
                  <a:srgbClr val="D7DACE"/>
                </a:solidFill>
                <a:latin typeface="Liberation Sans" pitchFamily="34" charset="0"/>
                <a:ea typeface="Liberation Sans" pitchFamily="34" charset="-122"/>
                <a:cs typeface="Liberation Sans" pitchFamily="34" charset="-120"/>
              </a:rPr>
              <a:t>“I’ll take space in the center while keeping options open.”</a:t>
            </a:r>
            <a:endParaRPr lang="en-US" sz="1250" dirty="0"/>
          </a:p>
        </p:txBody>
      </p:sp>
      <p:sp>
        <p:nvSpPr>
          <p:cNvPr id="98" name="Shape 95"/>
          <p:cNvSpPr/>
          <p:nvPr/>
        </p:nvSpPr>
        <p:spPr>
          <a:xfrm>
            <a:off x="9820656" y="5056632"/>
            <a:ext cx="1316736" cy="402336"/>
          </a:xfrm>
          <a:prstGeom prst="roundRect">
            <a:avLst>
              <a:gd name="adj" fmla="val 27273"/>
            </a:avLst>
          </a:prstGeom>
          <a:solidFill>
            <a:srgbClr val="34735B"/>
          </a:solidFill>
          <a:ln w="12700">
            <a:solidFill>
              <a:srgbClr val="34735B">
                <a:alpha val="0"/>
              </a:srgbClr>
            </a:solidFill>
            <a:prstDash val="solid"/>
          </a:ln>
        </p:spPr>
      </p:sp>
      <p:sp>
        <p:nvSpPr>
          <p:cNvPr id="99" name="Text 96"/>
          <p:cNvSpPr/>
          <p:nvPr/>
        </p:nvSpPr>
        <p:spPr>
          <a:xfrm>
            <a:off x="9820656" y="5056632"/>
            <a:ext cx="1316736" cy="402336"/>
          </a:xfrm>
          <a:prstGeom prst="rect">
            <a:avLst/>
          </a:prstGeom>
          <a:noFill/>
          <a:ln/>
        </p:spPr>
        <p:txBody>
          <a:bodyPr wrap="square" lIns="0" tIns="0" rIns="0" bIns="0" rtlCol="0" anchor="ctr">
            <a:normAutofit/>
          </a:bodyPr>
          <a:lstStyle/>
          <a:p>
            <a:pPr algn="ctr" indent="0" marL="0">
              <a:buNone/>
            </a:pPr>
            <a:r>
              <a:rPr lang="en-US" sz="1100" b="1" dirty="0">
                <a:solidFill>
                  <a:srgbClr val="FFFDF7"/>
                </a:solidFill>
                <a:latin typeface="Liberation Mono" pitchFamily="34" charset="0"/>
                <a:ea typeface="Liberation Mono" pitchFamily="34" charset="-122"/>
                <a:cs typeface="Liberation Mono" pitchFamily="34" charset="-120"/>
              </a:rPr>
              <a:t>LOCALHOST</a:t>
            </a:r>
            <a:endParaRPr lang="en-US" sz="11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THE CURRENT STATE</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Two useful tiers—not one winner</a:t>
            </a:r>
            <a:endParaRPr lang="en-US" sz="3100" dirty="0"/>
          </a:p>
        </p:txBody>
      </p:sp>
      <p:sp>
        <p:nvSpPr>
          <p:cNvPr id="5" name="Shape 2"/>
          <p:cNvSpPr/>
          <p:nvPr/>
        </p:nvSpPr>
        <p:spPr>
          <a:xfrm>
            <a:off x="594360" y="1600200"/>
            <a:ext cx="5257800" cy="3794760"/>
          </a:xfrm>
          <a:prstGeom prst="roundRect">
            <a:avLst>
              <a:gd name="adj" fmla="val 3133"/>
            </a:avLst>
          </a:prstGeom>
          <a:solidFill>
            <a:srgbClr val="11140F"/>
          </a:solidFill>
          <a:ln w="12700">
            <a:solidFill>
              <a:srgbClr val="11140F">
                <a:alpha val="0"/>
              </a:srgbClr>
            </a:solidFill>
            <a:prstDash val="solid"/>
          </a:ln>
        </p:spPr>
      </p:sp>
      <p:sp>
        <p:nvSpPr>
          <p:cNvPr id="6" name="Shape 3"/>
          <p:cNvSpPr/>
          <p:nvPr/>
        </p:nvSpPr>
        <p:spPr>
          <a:xfrm>
            <a:off x="868680" y="1856232"/>
            <a:ext cx="960120" cy="402336"/>
          </a:xfrm>
          <a:prstGeom prst="roundRect">
            <a:avLst>
              <a:gd name="adj" fmla="val 27273"/>
            </a:avLst>
          </a:prstGeom>
          <a:solidFill>
            <a:srgbClr val="D65B35"/>
          </a:solidFill>
          <a:ln w="12700">
            <a:solidFill>
              <a:srgbClr val="D65B35">
                <a:alpha val="0"/>
              </a:srgbClr>
            </a:solidFill>
            <a:prstDash val="solid"/>
          </a:ln>
        </p:spPr>
      </p:sp>
      <p:sp>
        <p:nvSpPr>
          <p:cNvPr id="7" name="Text 4"/>
          <p:cNvSpPr/>
          <p:nvPr/>
        </p:nvSpPr>
        <p:spPr>
          <a:xfrm>
            <a:off x="868680" y="1856232"/>
            <a:ext cx="960120" cy="402336"/>
          </a:xfrm>
          <a:prstGeom prst="rect">
            <a:avLst/>
          </a:prstGeom>
          <a:noFill/>
          <a:ln/>
        </p:spPr>
        <p:txBody>
          <a:bodyPr wrap="square" lIns="0" tIns="0" rIns="0" bIns="0" rtlCol="0" anchor="ctr">
            <a:normAutofit/>
          </a:bodyPr>
          <a:lstStyle/>
          <a:p>
            <a:pPr algn="ctr" indent="0" marL="0">
              <a:buNone/>
            </a:pPr>
            <a:r>
              <a:rPr lang="en-US" sz="1100" b="1" dirty="0">
                <a:solidFill>
                  <a:srgbClr val="FFFDF7"/>
                </a:solidFill>
                <a:latin typeface="Liberation Mono" pitchFamily="34" charset="0"/>
                <a:ea typeface="Liberation Mono" pitchFamily="34" charset="-122"/>
                <a:cs typeface="Liberation Mono" pitchFamily="34" charset="-120"/>
              </a:rPr>
              <a:t>CLOUD</a:t>
            </a:r>
            <a:endParaRPr lang="en-US" sz="1100" dirty="0"/>
          </a:p>
        </p:txBody>
      </p:sp>
      <p:sp>
        <p:nvSpPr>
          <p:cNvPr id="8" name="Text 5"/>
          <p:cNvSpPr/>
          <p:nvPr/>
        </p:nvSpPr>
        <p:spPr>
          <a:xfrm>
            <a:off x="868680" y="2350008"/>
            <a:ext cx="4480560" cy="438912"/>
          </a:xfrm>
          <a:prstGeom prst="rect">
            <a:avLst/>
          </a:prstGeom>
          <a:noFill/>
          <a:ln/>
        </p:spPr>
        <p:txBody>
          <a:bodyPr wrap="square" lIns="0" tIns="0" rIns="0" bIns="0" rtlCol="0" anchor="ctr">
            <a:normAutofit/>
          </a:bodyPr>
          <a:lstStyle/>
          <a:p>
            <a:pPr indent="0" marL="0">
              <a:buNone/>
            </a:pPr>
            <a:r>
              <a:rPr lang="en-US" sz="2400" b="1" dirty="0">
                <a:solidFill>
                  <a:srgbClr val="FFFDF7"/>
                </a:solidFill>
                <a:latin typeface="Liberation Sans" pitchFamily="34" charset="0"/>
                <a:ea typeface="Liberation Sans" pitchFamily="34" charset="-122"/>
                <a:cs typeface="Liberation Sans" pitchFamily="34" charset="-120"/>
              </a:rPr>
              <a:t>Hosted frontier</a:t>
            </a:r>
            <a:endParaRPr lang="en-US" sz="2400" dirty="0"/>
          </a:p>
        </p:txBody>
      </p:sp>
      <p:sp>
        <p:nvSpPr>
          <p:cNvPr id="9" name="Shape 6"/>
          <p:cNvSpPr/>
          <p:nvPr/>
        </p:nvSpPr>
        <p:spPr>
          <a:xfrm>
            <a:off x="905256" y="3017520"/>
            <a:ext cx="155448" cy="155448"/>
          </a:xfrm>
          <a:prstGeom prst="roundRect">
            <a:avLst>
              <a:gd name="adj" fmla="val 23529"/>
            </a:avLst>
          </a:prstGeom>
          <a:solidFill>
            <a:srgbClr val="E89B45"/>
          </a:solidFill>
          <a:ln w="12700">
            <a:solidFill>
              <a:srgbClr val="E89B45">
                <a:alpha val="0"/>
              </a:srgbClr>
            </a:solidFill>
            <a:prstDash val="solid"/>
          </a:ln>
        </p:spPr>
      </p:sp>
      <p:sp>
        <p:nvSpPr>
          <p:cNvPr id="10" name="Text 7"/>
          <p:cNvSpPr/>
          <p:nvPr/>
        </p:nvSpPr>
        <p:spPr>
          <a:xfrm>
            <a:off x="1234440" y="2889504"/>
            <a:ext cx="4114800" cy="438912"/>
          </a:xfrm>
          <a:prstGeom prst="rect">
            <a:avLst/>
          </a:prstGeom>
          <a:noFill/>
          <a:ln/>
        </p:spPr>
        <p:txBody>
          <a:bodyPr wrap="square" lIns="0" tIns="0" rIns="0" bIns="0" rtlCol="0" anchor="ctr">
            <a:normAutofit/>
          </a:bodyPr>
          <a:lstStyle/>
          <a:p>
            <a:pPr indent="0" marL="0">
              <a:buNone/>
            </a:pPr>
            <a:r>
              <a:rPr lang="en-US" sz="1700" dirty="0">
                <a:solidFill>
                  <a:srgbClr val="FFFDF7"/>
                </a:solidFill>
                <a:latin typeface="Liberation Sans" pitchFamily="34" charset="0"/>
                <a:ea typeface="Liberation Sans" pitchFamily="34" charset="-122"/>
                <a:cs typeface="Liberation Sans" pitchFamily="34" charset="-120"/>
              </a:rPr>
              <a:t>Maximum general capability</a:t>
            </a:r>
            <a:endParaRPr lang="en-US" sz="1700" dirty="0"/>
          </a:p>
        </p:txBody>
      </p:sp>
      <p:sp>
        <p:nvSpPr>
          <p:cNvPr id="11" name="Shape 8"/>
          <p:cNvSpPr/>
          <p:nvPr/>
        </p:nvSpPr>
        <p:spPr>
          <a:xfrm>
            <a:off x="905256" y="3639312"/>
            <a:ext cx="155448" cy="155448"/>
          </a:xfrm>
          <a:prstGeom prst="roundRect">
            <a:avLst>
              <a:gd name="adj" fmla="val 23529"/>
            </a:avLst>
          </a:prstGeom>
          <a:solidFill>
            <a:srgbClr val="E89B45"/>
          </a:solidFill>
          <a:ln w="12700">
            <a:solidFill>
              <a:srgbClr val="E89B45">
                <a:alpha val="0"/>
              </a:srgbClr>
            </a:solidFill>
            <a:prstDash val="solid"/>
          </a:ln>
        </p:spPr>
      </p:sp>
      <p:sp>
        <p:nvSpPr>
          <p:cNvPr id="12" name="Text 9"/>
          <p:cNvSpPr/>
          <p:nvPr/>
        </p:nvSpPr>
        <p:spPr>
          <a:xfrm>
            <a:off x="1234440" y="3511296"/>
            <a:ext cx="4114800" cy="438912"/>
          </a:xfrm>
          <a:prstGeom prst="rect">
            <a:avLst/>
          </a:prstGeom>
          <a:noFill/>
          <a:ln/>
        </p:spPr>
        <p:txBody>
          <a:bodyPr wrap="square" lIns="0" tIns="0" rIns="0" bIns="0" rtlCol="0" anchor="ctr">
            <a:normAutofit/>
          </a:bodyPr>
          <a:lstStyle/>
          <a:p>
            <a:pPr indent="0" marL="0">
              <a:buNone/>
            </a:pPr>
            <a:r>
              <a:rPr lang="en-US" sz="1700" dirty="0">
                <a:solidFill>
                  <a:srgbClr val="FFFDF7"/>
                </a:solidFill>
                <a:latin typeface="Liberation Sans" pitchFamily="34" charset="0"/>
                <a:ea typeface="Liberation Sans" pitchFamily="34" charset="-122"/>
                <a:cs typeface="Liberation Sans" pitchFamily="34" charset="-120"/>
              </a:rPr>
              <a:t>Large-scale tools and context</a:t>
            </a:r>
            <a:endParaRPr lang="en-US" sz="1700" dirty="0"/>
          </a:p>
        </p:txBody>
      </p:sp>
      <p:sp>
        <p:nvSpPr>
          <p:cNvPr id="13" name="Shape 10"/>
          <p:cNvSpPr/>
          <p:nvPr/>
        </p:nvSpPr>
        <p:spPr>
          <a:xfrm>
            <a:off x="905256" y="4261104"/>
            <a:ext cx="155448" cy="155448"/>
          </a:xfrm>
          <a:prstGeom prst="roundRect">
            <a:avLst>
              <a:gd name="adj" fmla="val 23529"/>
            </a:avLst>
          </a:prstGeom>
          <a:solidFill>
            <a:srgbClr val="E89B45"/>
          </a:solidFill>
          <a:ln w="12700">
            <a:solidFill>
              <a:srgbClr val="E89B45">
                <a:alpha val="0"/>
              </a:srgbClr>
            </a:solidFill>
            <a:prstDash val="solid"/>
          </a:ln>
        </p:spPr>
      </p:sp>
      <p:sp>
        <p:nvSpPr>
          <p:cNvPr id="14" name="Text 11"/>
          <p:cNvSpPr/>
          <p:nvPr/>
        </p:nvSpPr>
        <p:spPr>
          <a:xfrm>
            <a:off x="1234440" y="4133088"/>
            <a:ext cx="4114800" cy="438912"/>
          </a:xfrm>
          <a:prstGeom prst="rect">
            <a:avLst/>
          </a:prstGeom>
          <a:noFill/>
          <a:ln/>
        </p:spPr>
        <p:txBody>
          <a:bodyPr wrap="square" lIns="0" tIns="0" rIns="0" bIns="0" rtlCol="0" anchor="ctr">
            <a:normAutofit/>
          </a:bodyPr>
          <a:lstStyle/>
          <a:p>
            <a:pPr indent="0" marL="0">
              <a:buNone/>
            </a:pPr>
            <a:r>
              <a:rPr lang="en-US" sz="1700" dirty="0">
                <a:solidFill>
                  <a:srgbClr val="FFFDF7"/>
                </a:solidFill>
                <a:latin typeface="Liberation Sans" pitchFamily="34" charset="0"/>
                <a:ea typeface="Liberation Sans" pitchFamily="34" charset="-122"/>
                <a:cs typeface="Liberation Sans" pitchFamily="34" charset="-120"/>
              </a:rPr>
              <a:t>Someone else runs the infrastructure</a:t>
            </a:r>
            <a:endParaRPr lang="en-US" sz="1700" dirty="0"/>
          </a:p>
        </p:txBody>
      </p:sp>
      <p:sp>
        <p:nvSpPr>
          <p:cNvPr id="15" name="Shape 12"/>
          <p:cNvSpPr/>
          <p:nvPr/>
        </p:nvSpPr>
        <p:spPr>
          <a:xfrm>
            <a:off x="6217920" y="1600200"/>
            <a:ext cx="5257800" cy="3794760"/>
          </a:xfrm>
          <a:prstGeom prst="roundRect">
            <a:avLst>
              <a:gd name="adj" fmla="val 3133"/>
            </a:avLst>
          </a:prstGeom>
          <a:solidFill>
            <a:srgbClr val="FFFDF6"/>
          </a:solidFill>
          <a:ln w="12700">
            <a:solidFill>
              <a:srgbClr val="D4CEBE"/>
            </a:solidFill>
            <a:prstDash val="solid"/>
          </a:ln>
        </p:spPr>
      </p:sp>
      <p:sp>
        <p:nvSpPr>
          <p:cNvPr id="16" name="Shape 13"/>
          <p:cNvSpPr/>
          <p:nvPr/>
        </p:nvSpPr>
        <p:spPr>
          <a:xfrm>
            <a:off x="6492240" y="1856232"/>
            <a:ext cx="960120" cy="402336"/>
          </a:xfrm>
          <a:prstGeom prst="roundRect">
            <a:avLst>
              <a:gd name="adj" fmla="val 27273"/>
            </a:avLst>
          </a:prstGeom>
          <a:solidFill>
            <a:srgbClr val="F3D8C6"/>
          </a:solidFill>
          <a:ln w="12700">
            <a:solidFill>
              <a:srgbClr val="F3D8C6">
                <a:alpha val="0"/>
              </a:srgbClr>
            </a:solidFill>
            <a:prstDash val="solid"/>
          </a:ln>
        </p:spPr>
      </p:sp>
      <p:sp>
        <p:nvSpPr>
          <p:cNvPr id="17" name="Text 14"/>
          <p:cNvSpPr/>
          <p:nvPr/>
        </p:nvSpPr>
        <p:spPr>
          <a:xfrm>
            <a:off x="6492240" y="1856232"/>
            <a:ext cx="96012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LOCAL</a:t>
            </a:r>
            <a:endParaRPr lang="en-US" sz="1100" dirty="0"/>
          </a:p>
        </p:txBody>
      </p:sp>
      <p:sp>
        <p:nvSpPr>
          <p:cNvPr id="18" name="Text 15"/>
          <p:cNvSpPr/>
          <p:nvPr/>
        </p:nvSpPr>
        <p:spPr>
          <a:xfrm>
            <a:off x="6492240" y="2350008"/>
            <a:ext cx="4480560" cy="438912"/>
          </a:xfrm>
          <a:prstGeom prst="rect">
            <a:avLst/>
          </a:prstGeom>
          <a:noFill/>
          <a:ln/>
        </p:spPr>
        <p:txBody>
          <a:bodyPr wrap="square" lIns="0" tIns="0" rIns="0" bIns="0" rtlCol="0" anchor="ctr">
            <a:normAutofit/>
          </a:bodyPr>
          <a:lstStyle/>
          <a:p>
            <a:pPr indent="0" marL="0">
              <a:buNone/>
            </a:pPr>
            <a:r>
              <a:rPr lang="en-US" sz="2400" b="1" dirty="0">
                <a:solidFill>
                  <a:srgbClr val="171A16"/>
                </a:solidFill>
                <a:latin typeface="Liberation Sans" pitchFamily="34" charset="0"/>
                <a:ea typeface="Liberation Sans" pitchFamily="34" charset="-122"/>
                <a:cs typeface="Liberation Sans" pitchFamily="34" charset="-120"/>
              </a:rPr>
              <a:t>Local / open-weight</a:t>
            </a:r>
            <a:endParaRPr lang="en-US" sz="2400" dirty="0"/>
          </a:p>
        </p:txBody>
      </p:sp>
      <p:sp>
        <p:nvSpPr>
          <p:cNvPr id="19" name="Shape 16"/>
          <p:cNvSpPr/>
          <p:nvPr/>
        </p:nvSpPr>
        <p:spPr>
          <a:xfrm>
            <a:off x="6528816" y="3017520"/>
            <a:ext cx="155448" cy="155448"/>
          </a:xfrm>
          <a:prstGeom prst="roundRect">
            <a:avLst>
              <a:gd name="adj" fmla="val 23529"/>
            </a:avLst>
          </a:prstGeom>
          <a:solidFill>
            <a:srgbClr val="D65B35"/>
          </a:solidFill>
          <a:ln w="12700">
            <a:solidFill>
              <a:srgbClr val="D65B35">
                <a:alpha val="0"/>
              </a:srgbClr>
            </a:solidFill>
            <a:prstDash val="solid"/>
          </a:ln>
        </p:spPr>
      </p:sp>
      <p:sp>
        <p:nvSpPr>
          <p:cNvPr id="20" name="Text 17"/>
          <p:cNvSpPr/>
          <p:nvPr/>
        </p:nvSpPr>
        <p:spPr>
          <a:xfrm>
            <a:off x="6858000" y="2889504"/>
            <a:ext cx="4114800" cy="438912"/>
          </a:xfrm>
          <a:prstGeom prst="rect">
            <a:avLst/>
          </a:prstGeom>
          <a:noFill/>
          <a:ln/>
        </p:spPr>
        <p:txBody>
          <a:bodyPr wrap="square" lIns="0" tIns="0" rIns="0" bIns="0" rtlCol="0" anchor="ctr">
            <a:normAutofit/>
          </a:bodyPr>
          <a:lstStyle/>
          <a:p>
            <a:pPr indent="0" marL="0">
              <a:buNone/>
            </a:pPr>
            <a:r>
              <a:rPr lang="en-US" sz="1700" dirty="0">
                <a:solidFill>
                  <a:srgbClr val="171A16"/>
                </a:solidFill>
                <a:latin typeface="Liberation Sans" pitchFamily="34" charset="0"/>
                <a:ea typeface="Liberation Sans" pitchFamily="34" charset="-122"/>
                <a:cs typeface="Liberation Sans" pitchFamily="34" charset="-120"/>
              </a:rPr>
              <a:t>Private and offline workflows</a:t>
            </a:r>
            <a:endParaRPr lang="en-US" sz="1700" dirty="0"/>
          </a:p>
        </p:txBody>
      </p:sp>
      <p:sp>
        <p:nvSpPr>
          <p:cNvPr id="21" name="Shape 18"/>
          <p:cNvSpPr/>
          <p:nvPr/>
        </p:nvSpPr>
        <p:spPr>
          <a:xfrm>
            <a:off x="6528816" y="3639312"/>
            <a:ext cx="155448" cy="155448"/>
          </a:xfrm>
          <a:prstGeom prst="roundRect">
            <a:avLst>
              <a:gd name="adj" fmla="val 23529"/>
            </a:avLst>
          </a:prstGeom>
          <a:solidFill>
            <a:srgbClr val="D65B35"/>
          </a:solidFill>
          <a:ln w="12700">
            <a:solidFill>
              <a:srgbClr val="D65B35">
                <a:alpha val="0"/>
              </a:srgbClr>
            </a:solidFill>
            <a:prstDash val="solid"/>
          </a:ln>
        </p:spPr>
      </p:sp>
      <p:sp>
        <p:nvSpPr>
          <p:cNvPr id="22" name="Text 19"/>
          <p:cNvSpPr/>
          <p:nvPr/>
        </p:nvSpPr>
        <p:spPr>
          <a:xfrm>
            <a:off x="6858000" y="3511296"/>
            <a:ext cx="4114800" cy="438912"/>
          </a:xfrm>
          <a:prstGeom prst="rect">
            <a:avLst/>
          </a:prstGeom>
          <a:noFill/>
          <a:ln/>
        </p:spPr>
        <p:txBody>
          <a:bodyPr wrap="square" lIns="0" tIns="0" rIns="0" bIns="0" rtlCol="0" anchor="ctr">
            <a:normAutofit/>
          </a:bodyPr>
          <a:lstStyle/>
          <a:p>
            <a:pPr indent="0" marL="0">
              <a:buNone/>
            </a:pPr>
            <a:r>
              <a:rPr lang="en-US" sz="1700" dirty="0">
                <a:solidFill>
                  <a:srgbClr val="171A16"/>
                </a:solidFill>
                <a:latin typeface="Liberation Sans" pitchFamily="34" charset="0"/>
                <a:ea typeface="Liberation Sans" pitchFamily="34" charset="-122"/>
                <a:cs typeface="Liberation Sans" pitchFamily="34" charset="-120"/>
              </a:rPr>
              <a:t>Control over model and runtime</a:t>
            </a:r>
            <a:endParaRPr lang="en-US" sz="1700" dirty="0"/>
          </a:p>
        </p:txBody>
      </p:sp>
      <p:sp>
        <p:nvSpPr>
          <p:cNvPr id="23" name="Shape 20"/>
          <p:cNvSpPr/>
          <p:nvPr/>
        </p:nvSpPr>
        <p:spPr>
          <a:xfrm>
            <a:off x="6528816" y="4261104"/>
            <a:ext cx="155448" cy="155448"/>
          </a:xfrm>
          <a:prstGeom prst="roundRect">
            <a:avLst>
              <a:gd name="adj" fmla="val 23529"/>
            </a:avLst>
          </a:prstGeom>
          <a:solidFill>
            <a:srgbClr val="D65B35"/>
          </a:solidFill>
          <a:ln w="12700">
            <a:solidFill>
              <a:srgbClr val="D65B35">
                <a:alpha val="0"/>
              </a:srgbClr>
            </a:solidFill>
            <a:prstDash val="solid"/>
          </a:ln>
        </p:spPr>
      </p:sp>
      <p:sp>
        <p:nvSpPr>
          <p:cNvPr id="24" name="Text 21"/>
          <p:cNvSpPr/>
          <p:nvPr/>
        </p:nvSpPr>
        <p:spPr>
          <a:xfrm>
            <a:off x="6858000" y="4133088"/>
            <a:ext cx="4114800" cy="438912"/>
          </a:xfrm>
          <a:prstGeom prst="rect">
            <a:avLst/>
          </a:prstGeom>
          <a:noFill/>
          <a:ln/>
        </p:spPr>
        <p:txBody>
          <a:bodyPr wrap="square" lIns="0" tIns="0" rIns="0" bIns="0" rtlCol="0" anchor="ctr">
            <a:normAutofit/>
          </a:bodyPr>
          <a:lstStyle/>
          <a:p>
            <a:pPr indent="0" marL="0">
              <a:buNone/>
            </a:pPr>
            <a:r>
              <a:rPr lang="en-US" sz="1700" dirty="0">
                <a:solidFill>
                  <a:srgbClr val="171A16"/>
                </a:solidFill>
                <a:latin typeface="Liberation Sans" pitchFamily="34" charset="0"/>
                <a:ea typeface="Liberation Sans" pitchFamily="34" charset="-122"/>
                <a:cs typeface="Liberation Sans" pitchFamily="34" charset="-120"/>
              </a:rPr>
              <a:t>Fast, bounded, repeatable tasks</a:t>
            </a:r>
            <a:endParaRPr lang="en-US" sz="1700" dirty="0"/>
          </a:p>
        </p:txBody>
      </p:sp>
      <p:sp>
        <p:nvSpPr>
          <p:cNvPr id="25" name="Text 22"/>
          <p:cNvSpPr/>
          <p:nvPr/>
        </p:nvSpPr>
        <p:spPr>
          <a:xfrm>
            <a:off x="594360" y="5806440"/>
            <a:ext cx="10972800" cy="384048"/>
          </a:xfrm>
          <a:prstGeom prst="rect">
            <a:avLst/>
          </a:prstGeom>
          <a:noFill/>
          <a:ln/>
        </p:spPr>
        <p:txBody>
          <a:bodyPr wrap="square" lIns="0" tIns="0" rIns="0" bIns="0" rtlCol="0" anchor="ctr">
            <a:normAutofit/>
          </a:bodyPr>
          <a:lstStyle/>
          <a:p>
            <a:pPr algn="ctr" indent="0" marL="0">
              <a:buNone/>
            </a:pPr>
            <a:r>
              <a:rPr lang="en-US" sz="1900" b="1" dirty="0">
                <a:solidFill>
                  <a:srgbClr val="34735B"/>
                </a:solidFill>
                <a:latin typeface="Liberation Sans" pitchFamily="34" charset="0"/>
                <a:ea typeface="Liberation Sans" pitchFamily="34" charset="-122"/>
                <a:cs typeface="Liberation Sans" pitchFamily="34" charset="-120"/>
              </a:rPr>
              <a:t>Local complements cloud. The job decides the tool.</a:t>
            </a:r>
            <a:endParaRPr lang="en-US" sz="19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BEFORE COMPUTING BECAME PERSONAL</a:t>
            </a:r>
            <a:endParaRPr lang="en-US" sz="1100" dirty="0"/>
          </a:p>
        </p:txBody>
      </p:sp>
      <p:sp>
        <p:nvSpPr>
          <p:cNvPr id="4" name="Text 1"/>
          <p:cNvSpPr/>
          <p:nvPr/>
        </p:nvSpPr>
        <p:spPr>
          <a:xfrm>
            <a:off x="566928" y="713232"/>
            <a:ext cx="5074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Capability arrived before accessibility</a:t>
            </a:r>
            <a:endParaRPr lang="en-US" sz="3100" dirty="0"/>
          </a:p>
        </p:txBody>
      </p:sp>
      <p:sp>
        <p:nvSpPr>
          <p:cNvPr id="5" name="Shape 2"/>
          <p:cNvSpPr/>
          <p:nvPr/>
        </p:nvSpPr>
        <p:spPr>
          <a:xfrm>
            <a:off x="6108192" y="950976"/>
            <a:ext cx="5303520" cy="5093208"/>
          </a:xfrm>
          <a:prstGeom prst="roundRect">
            <a:avLst>
              <a:gd name="adj" fmla="val 1616"/>
            </a:avLst>
          </a:prstGeom>
          <a:solidFill>
            <a:srgbClr val="171A16"/>
          </a:solidFill>
          <a:ln w="12700">
            <a:solidFill>
              <a:srgbClr val="171A16">
                <a:alpha val="0"/>
              </a:srgbClr>
            </a:solidFill>
            <a:prstDash val="solid"/>
          </a:ln>
        </p:spPr>
      </p:sp>
      <p:pic>
        <p:nvPicPr>
          <p:cNvPr id="6" name="Image 0" descr="/work/assets/source/eniac.png">    </p:cNvPr>
          <p:cNvPicPr>
            <a:picLocks noChangeAspect="1"/>
          </p:cNvPicPr>
          <p:nvPr/>
        </p:nvPicPr>
        <p:blipFill>
          <a:blip r:embed="rId1"/>
          <a:srcRect l="14160" r="14160" t="0" b="0"/>
          <a:stretch/>
        </p:blipFill>
        <p:spPr>
          <a:xfrm>
            <a:off x="6153912" y="996696"/>
            <a:ext cx="5212080" cy="4736592"/>
          </a:xfrm>
          <a:prstGeom prst="rect">
            <a:avLst/>
          </a:prstGeom>
        </p:spPr>
      </p:pic>
      <p:sp>
        <p:nvSpPr>
          <p:cNvPr id="7" name="Text 3"/>
          <p:cNvSpPr/>
          <p:nvPr/>
        </p:nvSpPr>
        <p:spPr>
          <a:xfrm>
            <a:off x="6153912" y="5769864"/>
            <a:ext cx="5212080" cy="246888"/>
          </a:xfrm>
          <a:prstGeom prst="rect">
            <a:avLst/>
          </a:prstGeom>
          <a:noFill/>
          <a:ln/>
        </p:spPr>
        <p:txBody>
          <a:bodyPr wrap="square" lIns="0" tIns="0" rIns="0" bIns="0" rtlCol="0" anchor="ctr">
            <a:normAutofit/>
          </a:bodyPr>
          <a:lstStyle/>
          <a:p>
            <a:pPr algn="r" indent="0" marL="0">
              <a:buNone/>
            </a:pPr>
            <a:r>
              <a:rPr lang="en-US" sz="950" i="1" dirty="0">
                <a:solidFill>
                  <a:srgbClr val="62695D"/>
                </a:solidFill>
                <a:latin typeface="Liberation Sans" pitchFamily="34" charset="0"/>
                <a:ea typeface="Liberation Sans" pitchFamily="34" charset="-122"/>
                <a:cs typeface="Liberation Sans" pitchFamily="34" charset="-120"/>
              </a:rPr>
              <a:t>U.S. Army, 1946 · Public domain</a:t>
            </a:r>
            <a:endParaRPr lang="en-US" sz="950" dirty="0"/>
          </a:p>
        </p:txBody>
      </p:sp>
      <p:sp>
        <p:nvSpPr>
          <p:cNvPr id="8" name="Text 4"/>
          <p:cNvSpPr/>
          <p:nvPr/>
        </p:nvSpPr>
        <p:spPr>
          <a:xfrm>
            <a:off x="594360" y="1874520"/>
            <a:ext cx="4800600" cy="1481328"/>
          </a:xfrm>
          <a:prstGeom prst="rect">
            <a:avLst/>
          </a:prstGeom>
          <a:noFill/>
          <a:ln/>
        </p:spPr>
        <p:txBody>
          <a:bodyPr wrap="square" lIns="0" tIns="0" rIns="0" bIns="0" rtlCol="0" anchor="t">
            <a:normAutofit/>
          </a:bodyPr>
          <a:lstStyle/>
          <a:p>
            <a:pPr indent="0" marL="0">
              <a:buNone/>
            </a:pPr>
            <a:r>
              <a:rPr lang="en-US" sz="2300" dirty="0">
                <a:solidFill>
                  <a:srgbClr val="62695D"/>
                </a:solidFill>
                <a:latin typeface="Liberation Sans" pitchFamily="34" charset="0"/>
                <a:ea typeface="Liberation Sans" pitchFamily="34" charset="-122"/>
                <a:cs typeface="Liberation Sans" pitchFamily="34" charset="-120"/>
              </a:rPr>
              <a:t>ENIAC filled a room. Programming it meant physically reconfiguring the machine.</a:t>
            </a:r>
            <a:endParaRPr lang="en-US" sz="2300" dirty="0"/>
          </a:p>
        </p:txBody>
      </p:sp>
      <p:sp>
        <p:nvSpPr>
          <p:cNvPr id="9" name="Shape 5"/>
          <p:cNvSpPr/>
          <p:nvPr/>
        </p:nvSpPr>
        <p:spPr>
          <a:xfrm>
            <a:off x="594360" y="4041648"/>
            <a:ext cx="1508760" cy="347472"/>
          </a:xfrm>
          <a:prstGeom prst="roundRect">
            <a:avLst>
              <a:gd name="adj" fmla="val 18421"/>
            </a:avLst>
          </a:prstGeom>
          <a:solidFill>
            <a:srgbClr val="171A16"/>
          </a:solidFill>
          <a:ln w="12700">
            <a:solidFill>
              <a:srgbClr val="171A16">
                <a:alpha val="0"/>
              </a:srgbClr>
            </a:solidFill>
            <a:prstDash val="solid"/>
          </a:ln>
        </p:spPr>
      </p:sp>
      <p:sp>
        <p:nvSpPr>
          <p:cNvPr id="10" name="Text 6"/>
          <p:cNvSpPr/>
          <p:nvPr/>
        </p:nvSpPr>
        <p:spPr>
          <a:xfrm>
            <a:off x="685800" y="4041648"/>
            <a:ext cx="1325880" cy="347472"/>
          </a:xfrm>
          <a:prstGeom prst="rect">
            <a:avLst/>
          </a:prstGeom>
          <a:noFill/>
          <a:ln/>
        </p:spPr>
        <p:txBody>
          <a:bodyPr wrap="square" lIns="0" tIns="0" rIns="0" bIns="0" rtlCol="0" anchor="ctr">
            <a:normAutofit/>
          </a:bodyPr>
          <a:lstStyle/>
          <a:p>
            <a:pPr algn="ctr" indent="0" marL="0">
              <a:buNone/>
            </a:pPr>
            <a:r>
              <a:rPr lang="en-US" sz="1050" b="1" dirty="0">
                <a:solidFill>
                  <a:srgbClr val="FFFDF7"/>
                </a:solidFill>
                <a:latin typeface="Liberation Mono" pitchFamily="34" charset="0"/>
                <a:ea typeface="Liberation Mono" pitchFamily="34" charset="-122"/>
                <a:cs typeface="Liberation Mono" pitchFamily="34" charset="-120"/>
              </a:rPr>
              <a:t>ROOM-SCALE</a:t>
            </a:r>
            <a:endParaRPr lang="en-US" sz="1050" dirty="0"/>
          </a:p>
        </p:txBody>
      </p:sp>
      <p:sp>
        <p:nvSpPr>
          <p:cNvPr id="11" name="Shape 7"/>
          <p:cNvSpPr/>
          <p:nvPr/>
        </p:nvSpPr>
        <p:spPr>
          <a:xfrm>
            <a:off x="594360" y="4764024"/>
            <a:ext cx="4343400" cy="0"/>
          </a:xfrm>
          <a:prstGeom prst="line">
            <a:avLst/>
          </a:prstGeom>
          <a:noFill/>
          <a:ln w="15240">
            <a:solidFill>
              <a:srgbClr val="D4CEBE"/>
            </a:solidFill>
            <a:prstDash val="solid"/>
          </a:ln>
        </p:spPr>
      </p:sp>
      <p:sp>
        <p:nvSpPr>
          <p:cNvPr id="12" name="Text 8"/>
          <p:cNvSpPr/>
          <p:nvPr/>
        </p:nvSpPr>
        <p:spPr>
          <a:xfrm>
            <a:off x="594360" y="4965192"/>
            <a:ext cx="4434840" cy="658368"/>
          </a:xfrm>
          <a:prstGeom prst="rect">
            <a:avLst/>
          </a:prstGeom>
          <a:noFill/>
          <a:ln/>
        </p:spPr>
        <p:txBody>
          <a:bodyPr wrap="square" lIns="0" tIns="0" rIns="0" bIns="0" rtlCol="0" anchor="ctr">
            <a:normAutofit/>
          </a:bodyPr>
          <a:lstStyle/>
          <a:p>
            <a:pPr indent="0" marL="0">
              <a:buNone/>
            </a:pPr>
            <a:r>
              <a:rPr lang="en-US" sz="1800" b="1" dirty="0">
                <a:solidFill>
                  <a:srgbClr val="34735B"/>
                </a:solidFill>
                <a:latin typeface="Liberation Sans" pitchFamily="34" charset="0"/>
                <a:ea typeface="Liberation Sans" pitchFamily="34" charset="-122"/>
                <a:cs typeface="Liberation Sans" pitchFamily="34" charset="-120"/>
              </a:rPr>
              <a:t>Centralized capability came first.</a:t>
            </a:r>
            <a:endParaRPr lang="en-US" sz="18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4652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THE MAINFRAME ERA</a:t>
            </a:r>
            <a:endParaRPr lang="en-US" sz="1100" dirty="0"/>
          </a:p>
        </p:txBody>
      </p:sp>
      <p:sp>
        <p:nvSpPr>
          <p:cNvPr id="4" name="Text 1"/>
          <p:cNvSpPr/>
          <p:nvPr/>
        </p:nvSpPr>
        <p:spPr>
          <a:xfrm>
            <a:off x="6446520" y="713232"/>
            <a:ext cx="5074920" cy="868680"/>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One powerful machine. Many users.</a:t>
            </a:r>
            <a:endParaRPr lang="en-US" sz="3100" dirty="0"/>
          </a:p>
        </p:txBody>
      </p:sp>
      <p:sp>
        <p:nvSpPr>
          <p:cNvPr id="5" name="Shape 2"/>
          <p:cNvSpPr/>
          <p:nvPr/>
        </p:nvSpPr>
        <p:spPr>
          <a:xfrm>
            <a:off x="521208" y="950976"/>
            <a:ext cx="5303520" cy="5093208"/>
          </a:xfrm>
          <a:prstGeom prst="roundRect">
            <a:avLst>
              <a:gd name="adj" fmla="val 1616"/>
            </a:avLst>
          </a:prstGeom>
          <a:solidFill>
            <a:srgbClr val="171A16"/>
          </a:solidFill>
          <a:ln w="12700">
            <a:solidFill>
              <a:srgbClr val="171A16">
                <a:alpha val="0"/>
              </a:srgbClr>
            </a:solidFill>
            <a:prstDash val="solid"/>
          </a:ln>
        </p:spPr>
      </p:sp>
      <p:pic>
        <p:nvPicPr>
          <p:cNvPr id="6" name="Image 0" descr="/work/assets/source/ibm-2030.jpg">    </p:cNvPr>
          <p:cNvPicPr>
            <a:picLocks noChangeAspect="1"/>
          </p:cNvPicPr>
          <p:nvPr/>
        </p:nvPicPr>
        <p:blipFill>
          <a:blip r:embed="rId1"/>
          <a:srcRect l="0" r="0" t="19642" b="19642"/>
          <a:stretch/>
        </p:blipFill>
        <p:spPr>
          <a:xfrm>
            <a:off x="566928" y="996696"/>
            <a:ext cx="5212080" cy="4736592"/>
          </a:xfrm>
          <a:prstGeom prst="rect">
            <a:avLst/>
          </a:prstGeom>
        </p:spPr>
      </p:pic>
      <p:sp>
        <p:nvSpPr>
          <p:cNvPr id="7" name="Text 3"/>
          <p:cNvSpPr/>
          <p:nvPr/>
        </p:nvSpPr>
        <p:spPr>
          <a:xfrm>
            <a:off x="566928" y="5769864"/>
            <a:ext cx="5212080" cy="246888"/>
          </a:xfrm>
          <a:prstGeom prst="rect">
            <a:avLst/>
          </a:prstGeom>
          <a:noFill/>
          <a:ln/>
        </p:spPr>
        <p:txBody>
          <a:bodyPr wrap="square" lIns="0" tIns="0" rIns="0" bIns="0" rtlCol="0" anchor="ctr">
            <a:normAutofit/>
          </a:bodyPr>
          <a:lstStyle/>
          <a:p>
            <a:pPr algn="r" indent="0" marL="0">
              <a:buNone/>
            </a:pPr>
            <a:r>
              <a:rPr lang="en-US" sz="950" i="1" dirty="0">
                <a:solidFill>
                  <a:srgbClr val="62695D"/>
                </a:solidFill>
                <a:latin typeface="Liberation Sans" pitchFamily="34" charset="0"/>
                <a:ea typeface="Liberation Sans" pitchFamily="34" charset="-122"/>
                <a:cs typeface="Liberation Sans" pitchFamily="34" charset="-120"/>
              </a:rPr>
              <a:t>Warren K. Leffler / Library of Congress, 1967 · Public domain</a:t>
            </a:r>
            <a:endParaRPr lang="en-US" sz="950" dirty="0"/>
          </a:p>
        </p:txBody>
      </p:sp>
      <p:sp>
        <p:nvSpPr>
          <p:cNvPr id="8" name="Text 4"/>
          <p:cNvSpPr/>
          <p:nvPr/>
        </p:nvSpPr>
        <p:spPr>
          <a:xfrm>
            <a:off x="6446520" y="1874520"/>
            <a:ext cx="4800600" cy="1481328"/>
          </a:xfrm>
          <a:prstGeom prst="rect">
            <a:avLst/>
          </a:prstGeom>
          <a:noFill/>
          <a:ln/>
        </p:spPr>
        <p:txBody>
          <a:bodyPr wrap="square" lIns="0" tIns="0" rIns="0" bIns="0" rtlCol="0" anchor="t">
            <a:normAutofit/>
          </a:bodyPr>
          <a:lstStyle/>
          <a:p>
            <a:pPr indent="0" marL="0">
              <a:buNone/>
            </a:pPr>
            <a:r>
              <a:rPr lang="en-US" sz="2300" dirty="0">
                <a:solidFill>
                  <a:srgbClr val="62695D"/>
                </a:solidFill>
                <a:latin typeface="Liberation Sans" pitchFamily="34" charset="0"/>
                <a:ea typeface="Liberation Sans" pitchFamily="34" charset="-122"/>
                <a:cs typeface="Liberation Sans" pitchFamily="34" charset="-120"/>
              </a:rPr>
              <a:t>Access was shared, scheduled, and mediated by an institution.</a:t>
            </a:r>
            <a:endParaRPr lang="en-US" sz="2300" dirty="0"/>
          </a:p>
        </p:txBody>
      </p:sp>
      <p:sp>
        <p:nvSpPr>
          <p:cNvPr id="9" name="Text 5"/>
          <p:cNvSpPr/>
          <p:nvPr/>
        </p:nvSpPr>
        <p:spPr>
          <a:xfrm>
            <a:off x="6473952" y="3886200"/>
            <a:ext cx="1664208" cy="256032"/>
          </a:xfrm>
          <a:prstGeom prst="rect">
            <a:avLst/>
          </a:prstGeom>
          <a:noFill/>
          <a:ln/>
        </p:spPr>
        <p:txBody>
          <a:bodyPr wrap="square" lIns="0" tIns="0" rIns="0" bIns="0" rtlCol="0" anchor="ctr">
            <a:normAutofit/>
          </a:bodyPr>
          <a:lstStyle/>
          <a:p>
            <a:pPr indent="0" marL="0">
              <a:buNone/>
            </a:pPr>
            <a:r>
              <a:rPr lang="en-US" sz="1000" b="1" dirty="0">
                <a:solidFill>
                  <a:srgbClr val="D65B35"/>
                </a:solidFill>
                <a:latin typeface="Liberation Mono" pitchFamily="34" charset="0"/>
                <a:ea typeface="Liberation Mono" pitchFamily="34" charset="-122"/>
                <a:cs typeface="Liberation Mono" pitchFamily="34" charset="-120"/>
              </a:rPr>
              <a:t>CENTRAL COMPUTER</a:t>
            </a:r>
            <a:endParaRPr lang="en-US" sz="1000" dirty="0"/>
          </a:p>
        </p:txBody>
      </p:sp>
      <p:sp>
        <p:nvSpPr>
          <p:cNvPr id="10" name="Shape 6"/>
          <p:cNvSpPr/>
          <p:nvPr/>
        </p:nvSpPr>
        <p:spPr>
          <a:xfrm>
            <a:off x="8284464" y="3712464"/>
            <a:ext cx="1280160" cy="621792"/>
          </a:xfrm>
          <a:prstGeom prst="roundRect">
            <a:avLst>
              <a:gd name="adj" fmla="val 10294"/>
            </a:avLst>
          </a:prstGeom>
          <a:solidFill>
            <a:srgbClr val="171A16"/>
          </a:solidFill>
          <a:ln w="12700">
            <a:solidFill>
              <a:srgbClr val="171A16">
                <a:alpha val="0"/>
              </a:srgbClr>
            </a:solidFill>
            <a:prstDash val="solid"/>
          </a:ln>
        </p:spPr>
      </p:sp>
      <p:sp>
        <p:nvSpPr>
          <p:cNvPr id="11" name="Text 7"/>
          <p:cNvSpPr/>
          <p:nvPr/>
        </p:nvSpPr>
        <p:spPr>
          <a:xfrm>
            <a:off x="8284464" y="3712464"/>
            <a:ext cx="1280160" cy="621792"/>
          </a:xfrm>
          <a:prstGeom prst="rect">
            <a:avLst/>
          </a:prstGeom>
          <a:noFill/>
          <a:ln/>
        </p:spPr>
        <p:txBody>
          <a:bodyPr wrap="square" lIns="0" tIns="0" rIns="0" bIns="0" rtlCol="0" anchor="ctr">
            <a:normAutofit/>
          </a:bodyPr>
          <a:lstStyle/>
          <a:p>
            <a:pPr algn="ctr" indent="0" marL="0">
              <a:buNone/>
            </a:pPr>
            <a:r>
              <a:rPr lang="en-US" sz="1000" b="1" dirty="0">
                <a:solidFill>
                  <a:srgbClr val="FFFDF7"/>
                </a:solidFill>
                <a:latin typeface="Liberation Mono" pitchFamily="34" charset="0"/>
                <a:ea typeface="Liberation Mono" pitchFamily="34" charset="-122"/>
                <a:cs typeface="Liberation Mono" pitchFamily="34" charset="-120"/>
              </a:rPr>
              <a:t>SYSTEM / 360</a:t>
            </a:r>
            <a:endParaRPr lang="en-US" sz="1000" dirty="0"/>
          </a:p>
        </p:txBody>
      </p:sp>
      <p:sp>
        <p:nvSpPr>
          <p:cNvPr id="12" name="Shape 8"/>
          <p:cNvSpPr/>
          <p:nvPr/>
        </p:nvSpPr>
        <p:spPr>
          <a:xfrm>
            <a:off x="8924544" y="4352544"/>
            <a:ext cx="-1234440" cy="685800"/>
          </a:xfrm>
          <a:prstGeom prst="line">
            <a:avLst/>
          </a:prstGeom>
          <a:noFill/>
          <a:ln w="17780">
            <a:solidFill>
              <a:srgbClr val="D65B35"/>
            </a:solidFill>
            <a:prstDash val="solid"/>
          </a:ln>
        </p:spPr>
      </p:sp>
      <p:sp>
        <p:nvSpPr>
          <p:cNvPr id="13" name="Shape 9"/>
          <p:cNvSpPr/>
          <p:nvPr/>
        </p:nvSpPr>
        <p:spPr>
          <a:xfrm>
            <a:off x="7315200" y="5029200"/>
            <a:ext cx="960120" cy="438912"/>
          </a:xfrm>
          <a:prstGeom prst="roundRect">
            <a:avLst>
              <a:gd name="adj" fmla="val 12500"/>
            </a:avLst>
          </a:prstGeom>
          <a:solidFill>
            <a:srgbClr val="FFFDF6"/>
          </a:solidFill>
          <a:ln w="12700">
            <a:solidFill>
              <a:srgbClr val="D4CEBE"/>
            </a:solidFill>
            <a:prstDash val="solid"/>
          </a:ln>
        </p:spPr>
      </p:sp>
      <p:sp>
        <p:nvSpPr>
          <p:cNvPr id="14" name="Text 10"/>
          <p:cNvSpPr/>
          <p:nvPr/>
        </p:nvSpPr>
        <p:spPr>
          <a:xfrm>
            <a:off x="7315200" y="5029200"/>
            <a:ext cx="960120" cy="438912"/>
          </a:xfrm>
          <a:prstGeom prst="rect">
            <a:avLst/>
          </a:prstGeom>
          <a:noFill/>
          <a:ln/>
        </p:spPr>
        <p:txBody>
          <a:bodyPr wrap="square" lIns="0" tIns="0" rIns="0" bIns="0" rtlCol="0" anchor="ctr">
            <a:normAutofit/>
          </a:bodyPr>
          <a:lstStyle/>
          <a:p>
            <a:pPr algn="ctr" indent="0" marL="0">
              <a:buNone/>
            </a:pPr>
            <a:r>
              <a:rPr lang="en-US" sz="900" b="1" dirty="0">
                <a:solidFill>
                  <a:srgbClr val="171A16"/>
                </a:solidFill>
                <a:latin typeface="Liberation Mono" pitchFamily="34" charset="0"/>
                <a:ea typeface="Liberation Mono" pitchFamily="34" charset="-122"/>
                <a:cs typeface="Liberation Mono" pitchFamily="34" charset="-120"/>
              </a:rPr>
              <a:t>USER 1</a:t>
            </a:r>
            <a:endParaRPr lang="en-US" sz="900" dirty="0"/>
          </a:p>
        </p:txBody>
      </p:sp>
      <p:sp>
        <p:nvSpPr>
          <p:cNvPr id="15" name="Shape 11"/>
          <p:cNvSpPr/>
          <p:nvPr/>
        </p:nvSpPr>
        <p:spPr>
          <a:xfrm>
            <a:off x="8924544" y="4352544"/>
            <a:ext cx="91440" cy="685800"/>
          </a:xfrm>
          <a:prstGeom prst="line">
            <a:avLst/>
          </a:prstGeom>
          <a:noFill/>
          <a:ln w="17780">
            <a:solidFill>
              <a:srgbClr val="D65B35"/>
            </a:solidFill>
            <a:prstDash val="solid"/>
          </a:ln>
        </p:spPr>
      </p:sp>
      <p:sp>
        <p:nvSpPr>
          <p:cNvPr id="16" name="Shape 12"/>
          <p:cNvSpPr/>
          <p:nvPr/>
        </p:nvSpPr>
        <p:spPr>
          <a:xfrm>
            <a:off x="8641080" y="5029200"/>
            <a:ext cx="960120" cy="438912"/>
          </a:xfrm>
          <a:prstGeom prst="roundRect">
            <a:avLst>
              <a:gd name="adj" fmla="val 12500"/>
            </a:avLst>
          </a:prstGeom>
          <a:solidFill>
            <a:srgbClr val="FFFDF6"/>
          </a:solidFill>
          <a:ln w="12700">
            <a:solidFill>
              <a:srgbClr val="D4CEBE"/>
            </a:solidFill>
            <a:prstDash val="solid"/>
          </a:ln>
        </p:spPr>
      </p:sp>
      <p:sp>
        <p:nvSpPr>
          <p:cNvPr id="17" name="Text 13"/>
          <p:cNvSpPr/>
          <p:nvPr/>
        </p:nvSpPr>
        <p:spPr>
          <a:xfrm>
            <a:off x="8641080" y="5029200"/>
            <a:ext cx="960120" cy="438912"/>
          </a:xfrm>
          <a:prstGeom prst="rect">
            <a:avLst/>
          </a:prstGeom>
          <a:noFill/>
          <a:ln/>
        </p:spPr>
        <p:txBody>
          <a:bodyPr wrap="square" lIns="0" tIns="0" rIns="0" bIns="0" rtlCol="0" anchor="ctr">
            <a:normAutofit/>
          </a:bodyPr>
          <a:lstStyle/>
          <a:p>
            <a:pPr algn="ctr" indent="0" marL="0">
              <a:buNone/>
            </a:pPr>
            <a:r>
              <a:rPr lang="en-US" sz="900" b="1" dirty="0">
                <a:solidFill>
                  <a:srgbClr val="171A16"/>
                </a:solidFill>
                <a:latin typeface="Liberation Mono" pitchFamily="34" charset="0"/>
                <a:ea typeface="Liberation Mono" pitchFamily="34" charset="-122"/>
                <a:cs typeface="Liberation Mono" pitchFamily="34" charset="-120"/>
              </a:rPr>
              <a:t>USER 2</a:t>
            </a:r>
            <a:endParaRPr lang="en-US" sz="900" dirty="0"/>
          </a:p>
        </p:txBody>
      </p:sp>
      <p:sp>
        <p:nvSpPr>
          <p:cNvPr id="18" name="Shape 14"/>
          <p:cNvSpPr/>
          <p:nvPr/>
        </p:nvSpPr>
        <p:spPr>
          <a:xfrm>
            <a:off x="8924544" y="4352544"/>
            <a:ext cx="1417320" cy="685800"/>
          </a:xfrm>
          <a:prstGeom prst="line">
            <a:avLst/>
          </a:prstGeom>
          <a:noFill/>
          <a:ln w="17780">
            <a:solidFill>
              <a:srgbClr val="D65B35"/>
            </a:solidFill>
            <a:prstDash val="solid"/>
          </a:ln>
        </p:spPr>
      </p:sp>
      <p:sp>
        <p:nvSpPr>
          <p:cNvPr id="19" name="Shape 15"/>
          <p:cNvSpPr/>
          <p:nvPr/>
        </p:nvSpPr>
        <p:spPr>
          <a:xfrm>
            <a:off x="9966960" y="5029200"/>
            <a:ext cx="960120" cy="438912"/>
          </a:xfrm>
          <a:prstGeom prst="roundRect">
            <a:avLst>
              <a:gd name="adj" fmla="val 12500"/>
            </a:avLst>
          </a:prstGeom>
          <a:solidFill>
            <a:srgbClr val="FFFDF6"/>
          </a:solidFill>
          <a:ln w="12700">
            <a:solidFill>
              <a:srgbClr val="D4CEBE"/>
            </a:solidFill>
            <a:prstDash val="solid"/>
          </a:ln>
        </p:spPr>
      </p:sp>
      <p:sp>
        <p:nvSpPr>
          <p:cNvPr id="20" name="Text 16"/>
          <p:cNvSpPr/>
          <p:nvPr/>
        </p:nvSpPr>
        <p:spPr>
          <a:xfrm>
            <a:off x="9966960" y="5029200"/>
            <a:ext cx="960120" cy="438912"/>
          </a:xfrm>
          <a:prstGeom prst="rect">
            <a:avLst/>
          </a:prstGeom>
          <a:noFill/>
          <a:ln/>
        </p:spPr>
        <p:txBody>
          <a:bodyPr wrap="square" lIns="0" tIns="0" rIns="0" bIns="0" rtlCol="0" anchor="ctr">
            <a:normAutofit/>
          </a:bodyPr>
          <a:lstStyle/>
          <a:p>
            <a:pPr algn="ctr" indent="0" marL="0">
              <a:buNone/>
            </a:pPr>
            <a:r>
              <a:rPr lang="en-US" sz="900" b="1" dirty="0">
                <a:solidFill>
                  <a:srgbClr val="171A16"/>
                </a:solidFill>
                <a:latin typeface="Liberation Mono" pitchFamily="34" charset="0"/>
                <a:ea typeface="Liberation Mono" pitchFamily="34" charset="-122"/>
                <a:cs typeface="Liberation Mono" pitchFamily="34" charset="-120"/>
              </a:rPr>
              <a:t>USER 3</a:t>
            </a:r>
            <a:endParaRPr lang="en-US" sz="900" dirty="0"/>
          </a:p>
        </p:txBody>
      </p:sp>
      <p:sp>
        <p:nvSpPr>
          <p:cNvPr id="21" name="Text 17"/>
          <p:cNvSpPr/>
          <p:nvPr/>
        </p:nvSpPr>
        <p:spPr>
          <a:xfrm>
            <a:off x="6464808" y="5733288"/>
            <a:ext cx="4754880" cy="274320"/>
          </a:xfrm>
          <a:prstGeom prst="rect">
            <a:avLst/>
          </a:prstGeom>
          <a:noFill/>
          <a:ln/>
        </p:spPr>
        <p:txBody>
          <a:bodyPr wrap="square" lIns="0" tIns="0" rIns="0" bIns="0" rtlCol="0" anchor="ctr">
            <a:normAutofit/>
          </a:bodyPr>
          <a:lstStyle/>
          <a:p>
            <a:pPr algn="ctr" indent="0" marL="0">
              <a:buNone/>
            </a:pPr>
            <a:r>
              <a:rPr lang="en-US" sz="1500" b="1" dirty="0">
                <a:solidFill>
                  <a:srgbClr val="34735B"/>
                </a:solidFill>
                <a:latin typeface="Liberation Sans" pitchFamily="34" charset="0"/>
                <a:ea typeface="Liberation Sans" pitchFamily="34" charset="-122"/>
                <a:cs typeface="Liberation Sans" pitchFamily="34" charset="-120"/>
              </a:rPr>
              <a:t>Many access points · one shared center</a:t>
            </a:r>
            <a:endParaRPr lang="en-US" sz="15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THE PERSONAL-COMPUTER SHIFT</a:t>
            </a:r>
            <a:endParaRPr lang="en-US" sz="1100" dirty="0"/>
          </a:p>
        </p:txBody>
      </p:sp>
      <p:sp>
        <p:nvSpPr>
          <p:cNvPr id="4" name="Text 1"/>
          <p:cNvSpPr/>
          <p:nvPr/>
        </p:nvSpPr>
        <p:spPr>
          <a:xfrm>
            <a:off x="566928" y="713232"/>
            <a:ext cx="5074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Ownership changed who could experiment</a:t>
            </a:r>
            <a:endParaRPr lang="en-US" sz="3100" dirty="0"/>
          </a:p>
        </p:txBody>
      </p:sp>
      <p:sp>
        <p:nvSpPr>
          <p:cNvPr id="5" name="Shape 2"/>
          <p:cNvSpPr/>
          <p:nvPr/>
        </p:nvSpPr>
        <p:spPr>
          <a:xfrm>
            <a:off x="6108192" y="950976"/>
            <a:ext cx="5303520" cy="5093208"/>
          </a:xfrm>
          <a:prstGeom prst="roundRect">
            <a:avLst>
              <a:gd name="adj" fmla="val 1616"/>
            </a:avLst>
          </a:prstGeom>
          <a:solidFill>
            <a:srgbClr val="171A16"/>
          </a:solidFill>
          <a:ln w="12700">
            <a:solidFill>
              <a:srgbClr val="171A16">
                <a:alpha val="0"/>
              </a:srgbClr>
            </a:solidFill>
            <a:prstDash val="solid"/>
          </a:ln>
        </p:spPr>
      </p:sp>
      <p:pic>
        <p:nvPicPr>
          <p:cNvPr id="6" name="Image 0" descr="/work/assets/source/kenbak1.jpg">    </p:cNvPr>
          <p:cNvPicPr>
            <a:picLocks noChangeAspect="1"/>
          </p:cNvPicPr>
          <p:nvPr/>
        </p:nvPicPr>
        <p:blipFill>
          <a:blip r:embed="rId1"/>
          <a:srcRect l="8929" r="8929" t="0" b="0"/>
          <a:stretch/>
        </p:blipFill>
        <p:spPr>
          <a:xfrm>
            <a:off x="6153912" y="996696"/>
            <a:ext cx="5212080" cy="4736592"/>
          </a:xfrm>
          <a:prstGeom prst="rect">
            <a:avLst/>
          </a:prstGeom>
        </p:spPr>
      </p:pic>
      <p:sp>
        <p:nvSpPr>
          <p:cNvPr id="7" name="Text 3"/>
          <p:cNvSpPr/>
          <p:nvPr/>
        </p:nvSpPr>
        <p:spPr>
          <a:xfrm>
            <a:off x="6153912" y="5769864"/>
            <a:ext cx="5212080" cy="246888"/>
          </a:xfrm>
          <a:prstGeom prst="rect">
            <a:avLst/>
          </a:prstGeom>
          <a:noFill/>
          <a:ln/>
        </p:spPr>
        <p:txBody>
          <a:bodyPr wrap="square" lIns="0" tIns="0" rIns="0" bIns="0" rtlCol="0" anchor="ctr">
            <a:normAutofit/>
          </a:bodyPr>
          <a:lstStyle/>
          <a:p>
            <a:pPr algn="r" indent="0" marL="0">
              <a:buNone/>
            </a:pPr>
            <a:r>
              <a:rPr lang="en-US" sz="950" i="1" dirty="0">
                <a:solidFill>
                  <a:srgbClr val="62695D"/>
                </a:solidFill>
                <a:latin typeface="Liberation Sans" pitchFamily="34" charset="0"/>
                <a:ea typeface="Liberation Sans" pitchFamily="34" charset="-122"/>
                <a:cs typeface="Liberation Sans" pitchFamily="34" charset="-120"/>
              </a:rPr>
              <a:t>Kathryn Greenhill · CC BY-SA 2.0</a:t>
            </a:r>
            <a:endParaRPr lang="en-US" sz="950" dirty="0"/>
          </a:p>
        </p:txBody>
      </p:sp>
      <p:sp>
        <p:nvSpPr>
          <p:cNvPr id="8" name="Text 4"/>
          <p:cNvSpPr/>
          <p:nvPr/>
        </p:nvSpPr>
        <p:spPr>
          <a:xfrm>
            <a:off x="594360" y="1874520"/>
            <a:ext cx="4800600" cy="1481328"/>
          </a:xfrm>
          <a:prstGeom prst="rect">
            <a:avLst/>
          </a:prstGeom>
          <a:noFill/>
          <a:ln/>
        </p:spPr>
        <p:txBody>
          <a:bodyPr wrap="square" lIns="0" tIns="0" rIns="0" bIns="0" rtlCol="0" anchor="t">
            <a:normAutofit/>
          </a:bodyPr>
          <a:lstStyle/>
          <a:p>
            <a:pPr indent="0" marL="0">
              <a:buNone/>
            </a:pPr>
            <a:r>
              <a:rPr lang="en-US" sz="2300" dirty="0">
                <a:solidFill>
                  <a:srgbClr val="62695D"/>
                </a:solidFill>
                <a:latin typeface="Liberation Sans" pitchFamily="34" charset="0"/>
                <a:ea typeface="Liberation Sans" pitchFamily="34" charset="-122"/>
                <a:cs typeface="Liberation Sans" pitchFamily="34" charset="-120"/>
              </a:rPr>
              <a:t>The Kenbak-1 was one of the earliest commercial personal computers. The revolution was not only smaller hardware—it was direct access.</a:t>
            </a:r>
            <a:endParaRPr lang="en-US" sz="2300" dirty="0"/>
          </a:p>
        </p:txBody>
      </p:sp>
      <p:sp>
        <p:nvSpPr>
          <p:cNvPr id="9" name="Shape 5"/>
          <p:cNvSpPr/>
          <p:nvPr/>
        </p:nvSpPr>
        <p:spPr>
          <a:xfrm>
            <a:off x="594360" y="4041648"/>
            <a:ext cx="1508760" cy="347472"/>
          </a:xfrm>
          <a:prstGeom prst="roundRect">
            <a:avLst>
              <a:gd name="adj" fmla="val 18421"/>
            </a:avLst>
          </a:prstGeom>
          <a:solidFill>
            <a:srgbClr val="171A16"/>
          </a:solidFill>
          <a:ln w="12700">
            <a:solidFill>
              <a:srgbClr val="171A16">
                <a:alpha val="0"/>
              </a:srgbClr>
            </a:solidFill>
            <a:prstDash val="solid"/>
          </a:ln>
        </p:spPr>
      </p:sp>
      <p:sp>
        <p:nvSpPr>
          <p:cNvPr id="10" name="Text 6"/>
          <p:cNvSpPr/>
          <p:nvPr/>
        </p:nvSpPr>
        <p:spPr>
          <a:xfrm>
            <a:off x="685800" y="4041648"/>
            <a:ext cx="1325880" cy="347472"/>
          </a:xfrm>
          <a:prstGeom prst="rect">
            <a:avLst/>
          </a:prstGeom>
          <a:noFill/>
          <a:ln/>
        </p:spPr>
        <p:txBody>
          <a:bodyPr wrap="square" lIns="0" tIns="0" rIns="0" bIns="0" rtlCol="0" anchor="ctr">
            <a:normAutofit/>
          </a:bodyPr>
          <a:lstStyle/>
          <a:p>
            <a:pPr algn="ctr" indent="0" marL="0">
              <a:buNone/>
            </a:pPr>
            <a:r>
              <a:rPr lang="en-US" sz="1050" b="1" dirty="0">
                <a:solidFill>
                  <a:srgbClr val="FFFDF7"/>
                </a:solidFill>
                <a:latin typeface="Liberation Mono" pitchFamily="34" charset="0"/>
                <a:ea typeface="Liberation Mono" pitchFamily="34" charset="-122"/>
                <a:cs typeface="Liberation Mono" pitchFamily="34" charset="-120"/>
              </a:rPr>
              <a:t>DIRECT ACCESS</a:t>
            </a:r>
            <a:endParaRPr lang="en-US" sz="1050" dirty="0"/>
          </a:p>
        </p:txBody>
      </p:sp>
      <p:sp>
        <p:nvSpPr>
          <p:cNvPr id="11" name="Shape 7"/>
          <p:cNvSpPr/>
          <p:nvPr/>
        </p:nvSpPr>
        <p:spPr>
          <a:xfrm>
            <a:off x="594360" y="4764024"/>
            <a:ext cx="4343400" cy="0"/>
          </a:xfrm>
          <a:prstGeom prst="line">
            <a:avLst/>
          </a:prstGeom>
          <a:noFill/>
          <a:ln w="15240">
            <a:solidFill>
              <a:srgbClr val="D4CEBE"/>
            </a:solidFill>
            <a:prstDash val="solid"/>
          </a:ln>
        </p:spPr>
      </p:sp>
      <p:sp>
        <p:nvSpPr>
          <p:cNvPr id="12" name="Text 8"/>
          <p:cNvSpPr/>
          <p:nvPr/>
        </p:nvSpPr>
        <p:spPr>
          <a:xfrm>
            <a:off x="594360" y="4965192"/>
            <a:ext cx="4434840" cy="658368"/>
          </a:xfrm>
          <a:prstGeom prst="rect">
            <a:avLst/>
          </a:prstGeom>
          <a:noFill/>
          <a:ln/>
        </p:spPr>
        <p:txBody>
          <a:bodyPr wrap="square" lIns="0" tIns="0" rIns="0" bIns="0" rtlCol="0" anchor="ctr">
            <a:normAutofit/>
          </a:bodyPr>
          <a:lstStyle/>
          <a:p>
            <a:pPr indent="0" marL="0">
              <a:buNone/>
            </a:pPr>
            <a:r>
              <a:rPr lang="en-US" sz="1800" b="1" dirty="0">
                <a:solidFill>
                  <a:srgbClr val="34735B"/>
                </a:solidFill>
                <a:latin typeface="Liberation Sans" pitchFamily="34" charset="0"/>
                <a:ea typeface="Liberation Sans" pitchFamily="34" charset="-122"/>
                <a:cs typeface="Liberation Sans" pitchFamily="34" charset="-120"/>
              </a:rPr>
              <a:t>Personal access changed the pace of learning.</a:t>
            </a:r>
            <a:endParaRPr lang="en-US" sz="18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THE TIMELINES RHYME</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Decades in computing. Years in language models.</a:t>
            </a:r>
            <a:endParaRPr lang="en-US" sz="3100" dirty="0"/>
          </a:p>
        </p:txBody>
      </p:sp>
      <p:sp>
        <p:nvSpPr>
          <p:cNvPr id="5" name="Text 2"/>
          <p:cNvSpPr/>
          <p:nvPr/>
        </p:nvSpPr>
        <p:spPr>
          <a:xfrm>
            <a:off x="603504" y="1536192"/>
            <a:ext cx="1417320" cy="228600"/>
          </a:xfrm>
          <a:prstGeom prst="rect">
            <a:avLst/>
          </a:prstGeom>
          <a:noFill/>
          <a:ln/>
        </p:spPr>
        <p:txBody>
          <a:bodyPr wrap="square" lIns="0" tIns="0" rIns="0" bIns="0" rtlCol="0" anchor="ctr">
            <a:normAutofit/>
          </a:bodyPr>
          <a:lstStyle/>
          <a:p>
            <a:pPr indent="0" marL="0">
              <a:buNone/>
            </a:pPr>
            <a:r>
              <a:rPr lang="en-US" sz="1050" b="1" spc="120" kern="0" dirty="0">
                <a:solidFill>
                  <a:srgbClr val="171A16"/>
                </a:solidFill>
                <a:latin typeface="Liberation Mono" pitchFamily="34" charset="0"/>
                <a:ea typeface="Liberation Mono" pitchFamily="34" charset="-122"/>
                <a:cs typeface="Liberation Mono" pitchFamily="34" charset="-120"/>
              </a:rPr>
              <a:t>COMPUTING</a:t>
            </a:r>
            <a:endParaRPr lang="en-US" sz="1050" dirty="0"/>
          </a:p>
        </p:txBody>
      </p:sp>
      <p:sp>
        <p:nvSpPr>
          <p:cNvPr id="6" name="Shape 3"/>
          <p:cNvSpPr/>
          <p:nvPr/>
        </p:nvSpPr>
        <p:spPr>
          <a:xfrm>
            <a:off x="1691640" y="2249424"/>
            <a:ext cx="9372600" cy="0"/>
          </a:xfrm>
          <a:prstGeom prst="line">
            <a:avLst/>
          </a:prstGeom>
          <a:noFill/>
          <a:ln w="63500">
            <a:solidFill>
              <a:srgbClr val="171A16"/>
            </a:solidFill>
            <a:prstDash val="solid"/>
          </a:ln>
        </p:spPr>
      </p:sp>
      <p:sp>
        <p:nvSpPr>
          <p:cNvPr id="7" name="Shape 4"/>
          <p:cNvSpPr/>
          <p:nvPr/>
        </p:nvSpPr>
        <p:spPr>
          <a:xfrm>
            <a:off x="1874520" y="2029968"/>
            <a:ext cx="438912" cy="438912"/>
          </a:xfrm>
          <a:prstGeom prst="ellipse">
            <a:avLst/>
          </a:prstGeom>
          <a:solidFill>
            <a:srgbClr val="E89B45"/>
          </a:solidFill>
          <a:ln w="38100">
            <a:solidFill>
              <a:srgbClr val="F3EFE4"/>
            </a:solidFill>
            <a:prstDash val="solid"/>
          </a:ln>
        </p:spPr>
      </p:sp>
      <p:sp>
        <p:nvSpPr>
          <p:cNvPr id="8" name="Text 5"/>
          <p:cNvSpPr/>
          <p:nvPr/>
        </p:nvSpPr>
        <p:spPr>
          <a:xfrm>
            <a:off x="1709928" y="1527048"/>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1946</a:t>
            </a:r>
            <a:endParaRPr lang="en-US" sz="1100" dirty="0"/>
          </a:p>
        </p:txBody>
      </p:sp>
      <p:sp>
        <p:nvSpPr>
          <p:cNvPr id="9" name="Text 6"/>
          <p:cNvSpPr/>
          <p:nvPr/>
        </p:nvSpPr>
        <p:spPr>
          <a:xfrm>
            <a:off x="1280160" y="2633472"/>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ENIAC</a:t>
            </a:r>
            <a:endParaRPr lang="en-US" sz="1500" dirty="0"/>
          </a:p>
        </p:txBody>
      </p:sp>
      <p:sp>
        <p:nvSpPr>
          <p:cNvPr id="10" name="Shape 7"/>
          <p:cNvSpPr/>
          <p:nvPr/>
        </p:nvSpPr>
        <p:spPr>
          <a:xfrm>
            <a:off x="4709160" y="2029968"/>
            <a:ext cx="438912" cy="438912"/>
          </a:xfrm>
          <a:prstGeom prst="ellipse">
            <a:avLst/>
          </a:prstGeom>
          <a:solidFill>
            <a:srgbClr val="E89B45"/>
          </a:solidFill>
          <a:ln w="38100">
            <a:solidFill>
              <a:srgbClr val="F3EFE4"/>
            </a:solidFill>
            <a:prstDash val="solid"/>
          </a:ln>
        </p:spPr>
      </p:sp>
      <p:sp>
        <p:nvSpPr>
          <p:cNvPr id="11" name="Text 8"/>
          <p:cNvSpPr/>
          <p:nvPr/>
        </p:nvSpPr>
        <p:spPr>
          <a:xfrm>
            <a:off x="4544568" y="1527048"/>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1960s</a:t>
            </a:r>
            <a:endParaRPr lang="en-US" sz="1100" dirty="0"/>
          </a:p>
        </p:txBody>
      </p:sp>
      <p:sp>
        <p:nvSpPr>
          <p:cNvPr id="12" name="Text 9"/>
          <p:cNvSpPr/>
          <p:nvPr/>
        </p:nvSpPr>
        <p:spPr>
          <a:xfrm>
            <a:off x="4114800" y="2633472"/>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Mainframes + time-sharing</a:t>
            </a:r>
            <a:endParaRPr lang="en-US" sz="1500" dirty="0"/>
          </a:p>
        </p:txBody>
      </p:sp>
      <p:sp>
        <p:nvSpPr>
          <p:cNvPr id="13" name="Shape 10"/>
          <p:cNvSpPr/>
          <p:nvPr/>
        </p:nvSpPr>
        <p:spPr>
          <a:xfrm>
            <a:off x="7543800" y="2029968"/>
            <a:ext cx="438912" cy="438912"/>
          </a:xfrm>
          <a:prstGeom prst="ellipse">
            <a:avLst/>
          </a:prstGeom>
          <a:solidFill>
            <a:srgbClr val="E89B45"/>
          </a:solidFill>
          <a:ln w="38100">
            <a:solidFill>
              <a:srgbClr val="F3EFE4"/>
            </a:solidFill>
            <a:prstDash val="solid"/>
          </a:ln>
        </p:spPr>
      </p:sp>
      <p:sp>
        <p:nvSpPr>
          <p:cNvPr id="14" name="Text 11"/>
          <p:cNvSpPr/>
          <p:nvPr/>
        </p:nvSpPr>
        <p:spPr>
          <a:xfrm>
            <a:off x="7379208" y="1527048"/>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1971</a:t>
            </a:r>
            <a:endParaRPr lang="en-US" sz="1100" dirty="0"/>
          </a:p>
        </p:txBody>
      </p:sp>
      <p:sp>
        <p:nvSpPr>
          <p:cNvPr id="15" name="Text 12"/>
          <p:cNvSpPr/>
          <p:nvPr/>
        </p:nvSpPr>
        <p:spPr>
          <a:xfrm>
            <a:off x="6949440" y="2633472"/>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Kenbak-1</a:t>
            </a:r>
            <a:endParaRPr lang="en-US" sz="1500" dirty="0"/>
          </a:p>
        </p:txBody>
      </p:sp>
      <p:sp>
        <p:nvSpPr>
          <p:cNvPr id="16" name="Shape 13"/>
          <p:cNvSpPr/>
          <p:nvPr/>
        </p:nvSpPr>
        <p:spPr>
          <a:xfrm>
            <a:off x="10378440" y="2029968"/>
            <a:ext cx="438912" cy="438912"/>
          </a:xfrm>
          <a:prstGeom prst="ellipse">
            <a:avLst/>
          </a:prstGeom>
          <a:solidFill>
            <a:srgbClr val="E89B45"/>
          </a:solidFill>
          <a:ln w="38100">
            <a:solidFill>
              <a:srgbClr val="F3EFE4"/>
            </a:solidFill>
            <a:prstDash val="solid"/>
          </a:ln>
        </p:spPr>
      </p:sp>
      <p:sp>
        <p:nvSpPr>
          <p:cNvPr id="17" name="Text 14"/>
          <p:cNvSpPr/>
          <p:nvPr/>
        </p:nvSpPr>
        <p:spPr>
          <a:xfrm>
            <a:off x="10213848" y="1527048"/>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1981</a:t>
            </a:r>
            <a:endParaRPr lang="en-US" sz="1100" dirty="0"/>
          </a:p>
        </p:txBody>
      </p:sp>
      <p:sp>
        <p:nvSpPr>
          <p:cNvPr id="18" name="Text 15"/>
          <p:cNvSpPr/>
          <p:nvPr/>
        </p:nvSpPr>
        <p:spPr>
          <a:xfrm>
            <a:off x="9784080" y="2633472"/>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IBM PC</a:t>
            </a:r>
            <a:endParaRPr lang="en-US" sz="1500" dirty="0"/>
          </a:p>
        </p:txBody>
      </p:sp>
      <p:sp>
        <p:nvSpPr>
          <p:cNvPr id="19" name="Text 16"/>
          <p:cNvSpPr/>
          <p:nvPr/>
        </p:nvSpPr>
        <p:spPr>
          <a:xfrm>
            <a:off x="603504" y="3712464"/>
            <a:ext cx="1417320" cy="228600"/>
          </a:xfrm>
          <a:prstGeom prst="rect">
            <a:avLst/>
          </a:prstGeom>
          <a:noFill/>
          <a:ln/>
        </p:spPr>
        <p:txBody>
          <a:bodyPr wrap="square" lIns="0" tIns="0" rIns="0" bIns="0" rtlCol="0" anchor="ctr">
            <a:normAutofit/>
          </a:bodyPr>
          <a:lstStyle/>
          <a:p>
            <a:pPr indent="0" marL="0">
              <a:buNone/>
            </a:pPr>
            <a:r>
              <a:rPr lang="en-US" sz="1050" b="1" spc="120" kern="0" dirty="0">
                <a:solidFill>
                  <a:srgbClr val="34735B"/>
                </a:solidFill>
                <a:latin typeface="Liberation Mono" pitchFamily="34" charset="0"/>
                <a:ea typeface="Liberation Mono" pitchFamily="34" charset="-122"/>
                <a:cs typeface="Liberation Mono" pitchFamily="34" charset="-120"/>
              </a:rPr>
              <a:t>LANGUAGE MODELS</a:t>
            </a:r>
            <a:endParaRPr lang="en-US" sz="1050" dirty="0"/>
          </a:p>
        </p:txBody>
      </p:sp>
      <p:sp>
        <p:nvSpPr>
          <p:cNvPr id="20" name="Shape 17"/>
          <p:cNvSpPr/>
          <p:nvPr/>
        </p:nvSpPr>
        <p:spPr>
          <a:xfrm>
            <a:off x="1691640" y="4425696"/>
            <a:ext cx="9372600" cy="0"/>
          </a:xfrm>
          <a:prstGeom prst="line">
            <a:avLst/>
          </a:prstGeom>
          <a:noFill/>
          <a:ln w="63500">
            <a:solidFill>
              <a:srgbClr val="34735B"/>
            </a:solidFill>
            <a:prstDash val="solid"/>
          </a:ln>
        </p:spPr>
      </p:sp>
      <p:sp>
        <p:nvSpPr>
          <p:cNvPr id="21" name="Shape 18"/>
          <p:cNvSpPr/>
          <p:nvPr/>
        </p:nvSpPr>
        <p:spPr>
          <a:xfrm>
            <a:off x="1874520" y="4206240"/>
            <a:ext cx="438912" cy="438912"/>
          </a:xfrm>
          <a:prstGeom prst="ellipse">
            <a:avLst/>
          </a:prstGeom>
          <a:solidFill>
            <a:srgbClr val="D65B35"/>
          </a:solidFill>
          <a:ln w="38100">
            <a:solidFill>
              <a:srgbClr val="F3EFE4"/>
            </a:solidFill>
            <a:prstDash val="solid"/>
          </a:ln>
        </p:spPr>
      </p:sp>
      <p:sp>
        <p:nvSpPr>
          <p:cNvPr id="22" name="Text 19"/>
          <p:cNvSpPr/>
          <p:nvPr/>
        </p:nvSpPr>
        <p:spPr>
          <a:xfrm>
            <a:off x="1709928" y="3703320"/>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34735B"/>
                </a:solidFill>
                <a:latin typeface="Liberation Mono" pitchFamily="34" charset="0"/>
                <a:ea typeface="Liberation Mono" pitchFamily="34" charset="-122"/>
                <a:cs typeface="Liberation Mono" pitchFamily="34" charset="-120"/>
              </a:rPr>
              <a:t>2017</a:t>
            </a:r>
            <a:endParaRPr lang="en-US" sz="1100" dirty="0"/>
          </a:p>
        </p:txBody>
      </p:sp>
      <p:sp>
        <p:nvSpPr>
          <p:cNvPr id="23" name="Text 20"/>
          <p:cNvSpPr/>
          <p:nvPr/>
        </p:nvSpPr>
        <p:spPr>
          <a:xfrm>
            <a:off x="1280160" y="4809744"/>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Transformer</a:t>
            </a:r>
            <a:endParaRPr lang="en-US" sz="1500" dirty="0"/>
          </a:p>
        </p:txBody>
      </p:sp>
      <p:sp>
        <p:nvSpPr>
          <p:cNvPr id="24" name="Shape 21"/>
          <p:cNvSpPr/>
          <p:nvPr/>
        </p:nvSpPr>
        <p:spPr>
          <a:xfrm>
            <a:off x="4709160" y="4206240"/>
            <a:ext cx="438912" cy="438912"/>
          </a:xfrm>
          <a:prstGeom prst="ellipse">
            <a:avLst/>
          </a:prstGeom>
          <a:solidFill>
            <a:srgbClr val="D65B35"/>
          </a:solidFill>
          <a:ln w="38100">
            <a:solidFill>
              <a:srgbClr val="F3EFE4"/>
            </a:solidFill>
            <a:prstDash val="solid"/>
          </a:ln>
        </p:spPr>
      </p:sp>
      <p:sp>
        <p:nvSpPr>
          <p:cNvPr id="25" name="Text 22"/>
          <p:cNvSpPr/>
          <p:nvPr/>
        </p:nvSpPr>
        <p:spPr>
          <a:xfrm>
            <a:off x="4544568" y="3703320"/>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34735B"/>
                </a:solidFill>
                <a:latin typeface="Liberation Mono" pitchFamily="34" charset="0"/>
                <a:ea typeface="Liberation Mono" pitchFamily="34" charset="-122"/>
                <a:cs typeface="Liberation Mono" pitchFamily="34" charset="-120"/>
              </a:rPr>
              <a:t>2022</a:t>
            </a:r>
            <a:endParaRPr lang="en-US" sz="1100" dirty="0"/>
          </a:p>
        </p:txBody>
      </p:sp>
      <p:sp>
        <p:nvSpPr>
          <p:cNvPr id="26" name="Text 23"/>
          <p:cNvSpPr/>
          <p:nvPr/>
        </p:nvSpPr>
        <p:spPr>
          <a:xfrm>
            <a:off x="4114800" y="4809744"/>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Hosted chat goes mainstream</a:t>
            </a:r>
            <a:endParaRPr lang="en-US" sz="1500" dirty="0"/>
          </a:p>
        </p:txBody>
      </p:sp>
      <p:sp>
        <p:nvSpPr>
          <p:cNvPr id="27" name="Shape 24"/>
          <p:cNvSpPr/>
          <p:nvPr/>
        </p:nvSpPr>
        <p:spPr>
          <a:xfrm>
            <a:off x="7543800" y="4206240"/>
            <a:ext cx="438912" cy="438912"/>
          </a:xfrm>
          <a:prstGeom prst="ellipse">
            <a:avLst/>
          </a:prstGeom>
          <a:solidFill>
            <a:srgbClr val="D65B35"/>
          </a:solidFill>
          <a:ln w="38100">
            <a:solidFill>
              <a:srgbClr val="F3EFE4"/>
            </a:solidFill>
            <a:prstDash val="solid"/>
          </a:ln>
        </p:spPr>
      </p:sp>
      <p:sp>
        <p:nvSpPr>
          <p:cNvPr id="28" name="Text 25"/>
          <p:cNvSpPr/>
          <p:nvPr/>
        </p:nvSpPr>
        <p:spPr>
          <a:xfrm>
            <a:off x="7379208" y="3703320"/>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34735B"/>
                </a:solidFill>
                <a:latin typeface="Liberation Mono" pitchFamily="34" charset="0"/>
                <a:ea typeface="Liberation Mono" pitchFamily="34" charset="-122"/>
                <a:cs typeface="Liberation Mono" pitchFamily="34" charset="-120"/>
              </a:rPr>
              <a:t>2023</a:t>
            </a:r>
            <a:endParaRPr lang="en-US" sz="1100" dirty="0"/>
          </a:p>
        </p:txBody>
      </p:sp>
      <p:sp>
        <p:nvSpPr>
          <p:cNvPr id="29" name="Text 26"/>
          <p:cNvSpPr/>
          <p:nvPr/>
        </p:nvSpPr>
        <p:spPr>
          <a:xfrm>
            <a:off x="6949440" y="4809744"/>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Open weights + local runtimes</a:t>
            </a:r>
            <a:endParaRPr lang="en-US" sz="1500" dirty="0"/>
          </a:p>
        </p:txBody>
      </p:sp>
      <p:sp>
        <p:nvSpPr>
          <p:cNvPr id="30" name="Shape 27"/>
          <p:cNvSpPr/>
          <p:nvPr/>
        </p:nvSpPr>
        <p:spPr>
          <a:xfrm>
            <a:off x="10378440" y="4206240"/>
            <a:ext cx="438912" cy="438912"/>
          </a:xfrm>
          <a:prstGeom prst="ellipse">
            <a:avLst/>
          </a:prstGeom>
          <a:solidFill>
            <a:srgbClr val="D65B35"/>
          </a:solidFill>
          <a:ln w="38100">
            <a:solidFill>
              <a:srgbClr val="F3EFE4"/>
            </a:solidFill>
            <a:prstDash val="solid"/>
          </a:ln>
        </p:spPr>
      </p:sp>
      <p:sp>
        <p:nvSpPr>
          <p:cNvPr id="31" name="Text 28"/>
          <p:cNvSpPr/>
          <p:nvPr/>
        </p:nvSpPr>
        <p:spPr>
          <a:xfrm>
            <a:off x="10213848" y="3703320"/>
            <a:ext cx="804672" cy="283464"/>
          </a:xfrm>
          <a:prstGeom prst="rect">
            <a:avLst/>
          </a:prstGeom>
          <a:noFill/>
          <a:ln/>
        </p:spPr>
        <p:txBody>
          <a:bodyPr wrap="square" lIns="0" tIns="0" rIns="0" bIns="0" rtlCol="0" anchor="ctr">
            <a:normAutofit/>
          </a:bodyPr>
          <a:lstStyle/>
          <a:p>
            <a:pPr algn="ctr" indent="0" marL="0">
              <a:buNone/>
            </a:pPr>
            <a:r>
              <a:rPr lang="en-US" sz="1100" b="1" dirty="0">
                <a:solidFill>
                  <a:srgbClr val="34735B"/>
                </a:solidFill>
                <a:latin typeface="Liberation Mono" pitchFamily="34" charset="0"/>
                <a:ea typeface="Liberation Mono" pitchFamily="34" charset="-122"/>
                <a:cs typeface="Liberation Mono" pitchFamily="34" charset="-120"/>
              </a:rPr>
              <a:t>Today</a:t>
            </a:r>
            <a:endParaRPr lang="en-US" sz="1100" dirty="0"/>
          </a:p>
        </p:txBody>
      </p:sp>
      <p:sp>
        <p:nvSpPr>
          <p:cNvPr id="32" name="Text 29"/>
          <p:cNvSpPr/>
          <p:nvPr/>
        </p:nvSpPr>
        <p:spPr>
          <a:xfrm>
            <a:off x="9784080" y="4809744"/>
            <a:ext cx="1600200" cy="585216"/>
          </a:xfrm>
          <a:prstGeom prst="rect">
            <a:avLst/>
          </a:prstGeom>
          <a:noFill/>
          <a:ln/>
        </p:spPr>
        <p:txBody>
          <a:bodyPr wrap="square" lIns="0" tIns="0" rIns="0" bIns="0" rtlCol="0" anchor="t">
            <a:normAutofit/>
          </a:bodyPr>
          <a:lstStyle/>
          <a:p>
            <a:pPr algn="ctr" indent="0" marL="0">
              <a:buNone/>
            </a:pPr>
            <a:r>
              <a:rPr lang="en-US" sz="1500" b="1" dirty="0">
                <a:solidFill>
                  <a:srgbClr val="171A16"/>
                </a:solidFill>
                <a:latin typeface="Liberation Sans" pitchFamily="34" charset="0"/>
                <a:ea typeface="Liberation Sans" pitchFamily="34" charset="-122"/>
                <a:cs typeface="Liberation Sans" pitchFamily="34" charset="-120"/>
              </a:rPr>
              <a:t>A model on your laptop</a:t>
            </a:r>
            <a:endParaRPr lang="en-US" sz="1500" dirty="0"/>
          </a:p>
        </p:txBody>
      </p:sp>
      <p:sp>
        <p:nvSpPr>
          <p:cNvPr id="33" name="Shape 30"/>
          <p:cNvSpPr/>
          <p:nvPr/>
        </p:nvSpPr>
        <p:spPr>
          <a:xfrm>
            <a:off x="969264" y="5806440"/>
            <a:ext cx="10195560" cy="438912"/>
          </a:xfrm>
          <a:prstGeom prst="roundRect">
            <a:avLst>
              <a:gd name="adj" fmla="val 16667"/>
            </a:avLst>
          </a:prstGeom>
          <a:solidFill>
            <a:srgbClr val="F3D8C6"/>
          </a:solidFill>
          <a:ln w="12700">
            <a:solidFill>
              <a:srgbClr val="F3D8C6">
                <a:alpha val="0"/>
              </a:srgbClr>
            </a:solidFill>
            <a:prstDash val="solid"/>
          </a:ln>
        </p:spPr>
      </p:sp>
      <p:sp>
        <p:nvSpPr>
          <p:cNvPr id="34" name="Text 31"/>
          <p:cNvSpPr/>
          <p:nvPr/>
        </p:nvSpPr>
        <p:spPr>
          <a:xfrm>
            <a:off x="1078992" y="5806440"/>
            <a:ext cx="9966960" cy="438912"/>
          </a:xfrm>
          <a:prstGeom prst="rect">
            <a:avLst/>
          </a:prstGeom>
          <a:noFill/>
          <a:ln/>
        </p:spPr>
        <p:txBody>
          <a:bodyPr wrap="square" lIns="0" tIns="0" rIns="0" bIns="0" rtlCol="0" anchor="ctr">
            <a:normAutofit/>
          </a:bodyPr>
          <a:lstStyle/>
          <a:p>
            <a:pPr algn="ctr" indent="0" marL="0">
              <a:buNone/>
            </a:pPr>
            <a:r>
              <a:rPr lang="en-US" sz="1600" b="1" dirty="0">
                <a:solidFill>
                  <a:srgbClr val="171A16"/>
                </a:solidFill>
                <a:latin typeface="Liberation Sans" pitchFamily="34" charset="0"/>
                <a:ea typeface="Liberation Sans" pitchFamily="34" charset="-122"/>
                <a:cs typeface="Liberation Sans" pitchFamily="34" charset="-120"/>
              </a:rPr>
              <a:t>A lens, not a prediction: personal and centralized computing coexist.</a:t>
            </a:r>
            <a:endParaRPr lang="en-US" sz="16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WHAT MOVES ONTO YOUR MACHINE</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A new layer of personal computing</a:t>
            </a:r>
            <a:endParaRPr lang="en-US" sz="3100" dirty="0"/>
          </a:p>
        </p:txBody>
      </p:sp>
      <p:sp>
        <p:nvSpPr>
          <p:cNvPr id="5" name="Shape 2"/>
          <p:cNvSpPr/>
          <p:nvPr/>
        </p:nvSpPr>
        <p:spPr>
          <a:xfrm>
            <a:off x="603504" y="1609344"/>
            <a:ext cx="3429000" cy="1508760"/>
          </a:xfrm>
          <a:prstGeom prst="roundRect">
            <a:avLst>
              <a:gd name="adj" fmla="val 7273"/>
            </a:avLst>
          </a:prstGeom>
          <a:solidFill>
            <a:srgbClr val="FFFDF6"/>
          </a:solidFill>
          <a:ln w="12700">
            <a:solidFill>
              <a:srgbClr val="D4CEBE"/>
            </a:solidFill>
            <a:prstDash val="solid"/>
          </a:ln>
        </p:spPr>
      </p:sp>
      <p:sp>
        <p:nvSpPr>
          <p:cNvPr id="6" name="Text 3"/>
          <p:cNvSpPr/>
          <p:nvPr/>
        </p:nvSpPr>
        <p:spPr>
          <a:xfrm>
            <a:off x="832104" y="1810512"/>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01</a:t>
            </a:r>
            <a:endParaRPr lang="en-US" sz="1100" dirty="0"/>
          </a:p>
        </p:txBody>
      </p:sp>
      <p:sp>
        <p:nvSpPr>
          <p:cNvPr id="7" name="Text 4"/>
          <p:cNvSpPr/>
          <p:nvPr/>
        </p:nvSpPr>
        <p:spPr>
          <a:xfrm>
            <a:off x="832104" y="2139696"/>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Privacy</a:t>
            </a:r>
            <a:endParaRPr lang="en-US" sz="2200" dirty="0"/>
          </a:p>
        </p:txBody>
      </p:sp>
      <p:sp>
        <p:nvSpPr>
          <p:cNvPr id="8" name="Text 5"/>
          <p:cNvSpPr/>
          <p:nvPr/>
        </p:nvSpPr>
        <p:spPr>
          <a:xfrm>
            <a:off x="2020824" y="2020824"/>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Inputs can stay on-device</a:t>
            </a:r>
            <a:endParaRPr lang="en-US" sz="1550" dirty="0"/>
          </a:p>
        </p:txBody>
      </p:sp>
      <p:sp>
        <p:nvSpPr>
          <p:cNvPr id="9" name="Shape 6"/>
          <p:cNvSpPr/>
          <p:nvPr/>
        </p:nvSpPr>
        <p:spPr>
          <a:xfrm>
            <a:off x="4379976" y="1609344"/>
            <a:ext cx="3429000" cy="1508760"/>
          </a:xfrm>
          <a:prstGeom prst="roundRect">
            <a:avLst>
              <a:gd name="adj" fmla="val 7273"/>
            </a:avLst>
          </a:prstGeom>
          <a:solidFill>
            <a:srgbClr val="FFFDF6"/>
          </a:solidFill>
          <a:ln w="12700">
            <a:solidFill>
              <a:srgbClr val="D4CEBE"/>
            </a:solidFill>
            <a:prstDash val="solid"/>
          </a:ln>
        </p:spPr>
      </p:sp>
      <p:sp>
        <p:nvSpPr>
          <p:cNvPr id="10" name="Text 7"/>
          <p:cNvSpPr/>
          <p:nvPr/>
        </p:nvSpPr>
        <p:spPr>
          <a:xfrm>
            <a:off x="4608576" y="1810512"/>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02</a:t>
            </a:r>
            <a:endParaRPr lang="en-US" sz="1100" dirty="0"/>
          </a:p>
        </p:txBody>
      </p:sp>
      <p:sp>
        <p:nvSpPr>
          <p:cNvPr id="11" name="Text 8"/>
          <p:cNvSpPr/>
          <p:nvPr/>
        </p:nvSpPr>
        <p:spPr>
          <a:xfrm>
            <a:off x="4608576" y="2139696"/>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Control</a:t>
            </a:r>
            <a:endParaRPr lang="en-US" sz="2200" dirty="0"/>
          </a:p>
        </p:txBody>
      </p:sp>
      <p:sp>
        <p:nvSpPr>
          <p:cNvPr id="12" name="Text 9"/>
          <p:cNvSpPr/>
          <p:nvPr/>
        </p:nvSpPr>
        <p:spPr>
          <a:xfrm>
            <a:off x="5797296" y="2020824"/>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Choose the model, version, and rules</a:t>
            </a:r>
            <a:endParaRPr lang="en-US" sz="1550" dirty="0"/>
          </a:p>
        </p:txBody>
      </p:sp>
      <p:sp>
        <p:nvSpPr>
          <p:cNvPr id="13" name="Shape 10"/>
          <p:cNvSpPr/>
          <p:nvPr/>
        </p:nvSpPr>
        <p:spPr>
          <a:xfrm>
            <a:off x="8156448" y="1609344"/>
            <a:ext cx="3429000" cy="1508760"/>
          </a:xfrm>
          <a:prstGeom prst="roundRect">
            <a:avLst>
              <a:gd name="adj" fmla="val 7273"/>
            </a:avLst>
          </a:prstGeom>
          <a:solidFill>
            <a:srgbClr val="FFFDF6"/>
          </a:solidFill>
          <a:ln w="12700">
            <a:solidFill>
              <a:srgbClr val="D4CEBE"/>
            </a:solidFill>
            <a:prstDash val="solid"/>
          </a:ln>
        </p:spPr>
      </p:sp>
      <p:sp>
        <p:nvSpPr>
          <p:cNvPr id="14" name="Text 11"/>
          <p:cNvSpPr/>
          <p:nvPr/>
        </p:nvSpPr>
        <p:spPr>
          <a:xfrm>
            <a:off x="8385048" y="1810512"/>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03</a:t>
            </a:r>
            <a:endParaRPr lang="en-US" sz="1100" dirty="0"/>
          </a:p>
        </p:txBody>
      </p:sp>
      <p:sp>
        <p:nvSpPr>
          <p:cNvPr id="15" name="Text 12"/>
          <p:cNvSpPr/>
          <p:nvPr/>
        </p:nvSpPr>
        <p:spPr>
          <a:xfrm>
            <a:off x="8385048" y="2139696"/>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Offline</a:t>
            </a:r>
            <a:endParaRPr lang="en-US" sz="2200" dirty="0"/>
          </a:p>
        </p:txBody>
      </p:sp>
      <p:sp>
        <p:nvSpPr>
          <p:cNvPr id="16" name="Text 13"/>
          <p:cNvSpPr/>
          <p:nvPr/>
        </p:nvSpPr>
        <p:spPr>
          <a:xfrm>
            <a:off x="9573768" y="2020824"/>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Work after the model is downloaded</a:t>
            </a:r>
            <a:endParaRPr lang="en-US" sz="1550" dirty="0"/>
          </a:p>
        </p:txBody>
      </p:sp>
      <p:sp>
        <p:nvSpPr>
          <p:cNvPr id="17" name="Shape 14"/>
          <p:cNvSpPr/>
          <p:nvPr/>
        </p:nvSpPr>
        <p:spPr>
          <a:xfrm>
            <a:off x="603504" y="3493008"/>
            <a:ext cx="3429000" cy="1508760"/>
          </a:xfrm>
          <a:prstGeom prst="roundRect">
            <a:avLst>
              <a:gd name="adj" fmla="val 7273"/>
            </a:avLst>
          </a:prstGeom>
          <a:solidFill>
            <a:srgbClr val="DCE8DF"/>
          </a:solidFill>
          <a:ln w="12700">
            <a:solidFill>
              <a:srgbClr val="D4CEBE"/>
            </a:solidFill>
            <a:prstDash val="solid"/>
          </a:ln>
        </p:spPr>
      </p:sp>
      <p:sp>
        <p:nvSpPr>
          <p:cNvPr id="18" name="Text 15"/>
          <p:cNvSpPr/>
          <p:nvPr/>
        </p:nvSpPr>
        <p:spPr>
          <a:xfrm>
            <a:off x="832104" y="3694176"/>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04</a:t>
            </a:r>
            <a:endParaRPr lang="en-US" sz="1100" dirty="0"/>
          </a:p>
        </p:txBody>
      </p:sp>
      <p:sp>
        <p:nvSpPr>
          <p:cNvPr id="19" name="Text 16"/>
          <p:cNvSpPr/>
          <p:nvPr/>
        </p:nvSpPr>
        <p:spPr>
          <a:xfrm>
            <a:off x="832104" y="4023360"/>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Latency</a:t>
            </a:r>
            <a:endParaRPr lang="en-US" sz="2200" dirty="0"/>
          </a:p>
        </p:txBody>
      </p:sp>
      <p:sp>
        <p:nvSpPr>
          <p:cNvPr id="20" name="Text 17"/>
          <p:cNvSpPr/>
          <p:nvPr/>
        </p:nvSpPr>
        <p:spPr>
          <a:xfrm>
            <a:off x="2020824" y="3904488"/>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No network round trip</a:t>
            </a:r>
            <a:endParaRPr lang="en-US" sz="1550" dirty="0"/>
          </a:p>
        </p:txBody>
      </p:sp>
      <p:sp>
        <p:nvSpPr>
          <p:cNvPr id="21" name="Shape 18"/>
          <p:cNvSpPr/>
          <p:nvPr/>
        </p:nvSpPr>
        <p:spPr>
          <a:xfrm>
            <a:off x="4379976" y="3493008"/>
            <a:ext cx="3429000" cy="1508760"/>
          </a:xfrm>
          <a:prstGeom prst="roundRect">
            <a:avLst>
              <a:gd name="adj" fmla="val 7273"/>
            </a:avLst>
          </a:prstGeom>
          <a:solidFill>
            <a:srgbClr val="DCE8DF"/>
          </a:solidFill>
          <a:ln w="12700">
            <a:solidFill>
              <a:srgbClr val="D4CEBE"/>
            </a:solidFill>
            <a:prstDash val="solid"/>
          </a:ln>
        </p:spPr>
      </p:sp>
      <p:sp>
        <p:nvSpPr>
          <p:cNvPr id="22" name="Text 19"/>
          <p:cNvSpPr/>
          <p:nvPr/>
        </p:nvSpPr>
        <p:spPr>
          <a:xfrm>
            <a:off x="4608576" y="3694176"/>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05</a:t>
            </a:r>
            <a:endParaRPr lang="en-US" sz="1100" dirty="0"/>
          </a:p>
        </p:txBody>
      </p:sp>
      <p:sp>
        <p:nvSpPr>
          <p:cNvPr id="23" name="Text 20"/>
          <p:cNvSpPr/>
          <p:nvPr/>
        </p:nvSpPr>
        <p:spPr>
          <a:xfrm>
            <a:off x="4608576" y="4023360"/>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Cost</a:t>
            </a:r>
            <a:endParaRPr lang="en-US" sz="2200" dirty="0"/>
          </a:p>
        </p:txBody>
      </p:sp>
      <p:sp>
        <p:nvSpPr>
          <p:cNvPr id="24" name="Text 21"/>
          <p:cNvSpPr/>
          <p:nvPr/>
        </p:nvSpPr>
        <p:spPr>
          <a:xfrm>
            <a:off x="5797296" y="3904488"/>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No per-request API bill</a:t>
            </a:r>
            <a:endParaRPr lang="en-US" sz="1550" dirty="0"/>
          </a:p>
        </p:txBody>
      </p:sp>
      <p:sp>
        <p:nvSpPr>
          <p:cNvPr id="25" name="Shape 22"/>
          <p:cNvSpPr/>
          <p:nvPr/>
        </p:nvSpPr>
        <p:spPr>
          <a:xfrm>
            <a:off x="8156448" y="3493008"/>
            <a:ext cx="3429000" cy="1508760"/>
          </a:xfrm>
          <a:prstGeom prst="roundRect">
            <a:avLst>
              <a:gd name="adj" fmla="val 7273"/>
            </a:avLst>
          </a:prstGeom>
          <a:solidFill>
            <a:srgbClr val="DCE8DF"/>
          </a:solidFill>
          <a:ln w="12700">
            <a:solidFill>
              <a:srgbClr val="D4CEBE"/>
            </a:solidFill>
            <a:prstDash val="solid"/>
          </a:ln>
        </p:spPr>
      </p:sp>
      <p:sp>
        <p:nvSpPr>
          <p:cNvPr id="26" name="Text 23"/>
          <p:cNvSpPr/>
          <p:nvPr/>
        </p:nvSpPr>
        <p:spPr>
          <a:xfrm>
            <a:off x="8385048" y="3694176"/>
            <a:ext cx="457200" cy="274320"/>
          </a:xfrm>
          <a:prstGeom prst="rect">
            <a:avLst/>
          </a:prstGeom>
          <a:noFill/>
          <a:ln/>
        </p:spPr>
        <p:txBody>
          <a:bodyPr wrap="square" lIns="0" tIns="0" rIns="0" bIns="0" rtlCol="0" anchor="ctr">
            <a:normAutofit/>
          </a:bodyPr>
          <a:lstStyle/>
          <a:p>
            <a:pPr indent="0" marL="0">
              <a:buNone/>
            </a:pPr>
            <a:r>
              <a:rPr lang="en-US" sz="1100" b="1" dirty="0">
                <a:solidFill>
                  <a:srgbClr val="D65B35"/>
                </a:solidFill>
                <a:latin typeface="Liberation Mono" pitchFamily="34" charset="0"/>
                <a:ea typeface="Liberation Mono" pitchFamily="34" charset="-122"/>
                <a:cs typeface="Liberation Mono" pitchFamily="34" charset="-120"/>
              </a:rPr>
              <a:t>06</a:t>
            </a:r>
            <a:endParaRPr lang="en-US" sz="1100" dirty="0"/>
          </a:p>
        </p:txBody>
      </p:sp>
      <p:sp>
        <p:nvSpPr>
          <p:cNvPr id="27" name="Text 24"/>
          <p:cNvSpPr/>
          <p:nvPr/>
        </p:nvSpPr>
        <p:spPr>
          <a:xfrm>
            <a:off x="8385048" y="4023360"/>
            <a:ext cx="1234440" cy="347472"/>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Learning</a:t>
            </a:r>
            <a:endParaRPr lang="en-US" sz="2200" dirty="0"/>
          </a:p>
        </p:txBody>
      </p:sp>
      <p:sp>
        <p:nvSpPr>
          <p:cNvPr id="28" name="Text 25"/>
          <p:cNvSpPr/>
          <p:nvPr/>
        </p:nvSpPr>
        <p:spPr>
          <a:xfrm>
            <a:off x="9573768" y="3904488"/>
            <a:ext cx="1755648" cy="713232"/>
          </a:xfrm>
          <a:prstGeom prst="rect">
            <a:avLst/>
          </a:prstGeom>
          <a:noFill/>
          <a:ln/>
        </p:spPr>
        <p:txBody>
          <a:bodyPr wrap="square" lIns="0" tIns="0" rIns="0" bIns="0" rtlCol="0" anchor="ctr">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Inspect the whole application stack</a:t>
            </a:r>
            <a:endParaRPr lang="en-US" sz="1550" dirty="0"/>
          </a:p>
        </p:txBody>
      </p:sp>
      <p:sp>
        <p:nvSpPr>
          <p:cNvPr id="29" name="Text 26"/>
          <p:cNvSpPr/>
          <p:nvPr/>
        </p:nvSpPr>
        <p:spPr>
          <a:xfrm>
            <a:off x="612648" y="5650992"/>
            <a:ext cx="10835640" cy="411480"/>
          </a:xfrm>
          <a:prstGeom prst="rect">
            <a:avLst/>
          </a:prstGeom>
          <a:noFill/>
          <a:ln/>
        </p:spPr>
        <p:txBody>
          <a:bodyPr wrap="square" lIns="0" tIns="0" rIns="0" bIns="0" rtlCol="0" anchor="ctr">
            <a:normAutofit/>
          </a:bodyPr>
          <a:lstStyle/>
          <a:p>
            <a:pPr algn="ctr" indent="0" marL="0">
              <a:buNone/>
            </a:pPr>
            <a:r>
              <a:rPr lang="en-US" sz="1500" i="1" dirty="0">
                <a:solidFill>
                  <a:srgbClr val="D65B35"/>
                </a:solidFill>
                <a:latin typeface="Liberation Sans" pitchFamily="34" charset="0"/>
                <a:ea typeface="Liberation Sans" pitchFamily="34" charset="-122"/>
                <a:cs typeface="Liberation Sans" pitchFamily="34" charset="-120"/>
              </a:rPr>
              <a:t>Local is not automatically private: the surrounding app must avoid cloud calls too.</a:t>
            </a:r>
            <a:endParaRPr lang="en-US" sz="15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QUANTIZATION</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Pack the model into a smaller suitcase</a:t>
            </a:r>
            <a:endParaRPr lang="en-US" sz="3100" dirty="0"/>
          </a:p>
        </p:txBody>
      </p:sp>
      <p:sp>
        <p:nvSpPr>
          <p:cNvPr id="5" name="Text 2"/>
          <p:cNvSpPr/>
          <p:nvPr/>
        </p:nvSpPr>
        <p:spPr>
          <a:xfrm>
            <a:off x="612648" y="1444752"/>
            <a:ext cx="4572000" cy="932688"/>
          </a:xfrm>
          <a:prstGeom prst="rect">
            <a:avLst/>
          </a:prstGeom>
          <a:noFill/>
          <a:ln/>
        </p:spPr>
        <p:txBody>
          <a:bodyPr wrap="square" lIns="0" tIns="0" rIns="0" bIns="0" rtlCol="0" anchor="t">
            <a:normAutofit/>
          </a:bodyPr>
          <a:lstStyle/>
          <a:p>
            <a:pPr indent="0" marL="0">
              <a:buNone/>
            </a:pPr>
            <a:r>
              <a:rPr lang="en-US" sz="2100" dirty="0">
                <a:solidFill>
                  <a:srgbClr val="62695D"/>
                </a:solidFill>
                <a:latin typeface="Liberation Sans" pitchFamily="34" charset="0"/>
                <a:ea typeface="Liberation Sans" pitchFamily="34" charset="-122"/>
                <a:cs typeface="Liberation Sans" pitchFamily="34" charset="-120"/>
              </a:rPr>
              <a:t>Store each learned number with fewer bits. The model gets smaller and often faster—with some quality trade-off.</a:t>
            </a:r>
            <a:endParaRPr lang="en-US" sz="2100" dirty="0"/>
          </a:p>
        </p:txBody>
      </p:sp>
      <p:sp>
        <p:nvSpPr>
          <p:cNvPr id="6" name="Shape 3"/>
          <p:cNvSpPr/>
          <p:nvPr/>
        </p:nvSpPr>
        <p:spPr>
          <a:xfrm>
            <a:off x="6080760" y="1856232"/>
            <a:ext cx="4754880" cy="914400"/>
          </a:xfrm>
          <a:prstGeom prst="roundRect">
            <a:avLst>
              <a:gd name="adj" fmla="val 11000"/>
            </a:avLst>
          </a:prstGeom>
          <a:solidFill>
            <a:srgbClr val="171A16"/>
          </a:solidFill>
          <a:ln w="12700">
            <a:solidFill>
              <a:srgbClr val="171A16">
                <a:alpha val="0"/>
              </a:srgbClr>
            </a:solidFill>
            <a:prstDash val="solid"/>
          </a:ln>
        </p:spPr>
      </p:sp>
      <p:sp>
        <p:nvSpPr>
          <p:cNvPr id="7" name="Text 4"/>
          <p:cNvSpPr/>
          <p:nvPr/>
        </p:nvSpPr>
        <p:spPr>
          <a:xfrm>
            <a:off x="6309360" y="1965960"/>
            <a:ext cx="1005840" cy="301752"/>
          </a:xfrm>
          <a:prstGeom prst="rect">
            <a:avLst/>
          </a:prstGeom>
          <a:noFill/>
          <a:ln/>
        </p:spPr>
        <p:txBody>
          <a:bodyPr wrap="square" lIns="0" tIns="0" rIns="0" bIns="0" rtlCol="0" anchor="ctr">
            <a:normAutofit/>
          </a:bodyPr>
          <a:lstStyle/>
          <a:p>
            <a:pPr indent="0" marL="0">
              <a:buNone/>
            </a:pPr>
            <a:r>
              <a:rPr lang="en-US" sz="1700" b="1" dirty="0">
                <a:solidFill>
                  <a:srgbClr val="FFFDF7"/>
                </a:solidFill>
                <a:latin typeface="Liberation Mono" pitchFamily="34" charset="0"/>
                <a:ea typeface="Liberation Mono" pitchFamily="34" charset="-122"/>
                <a:cs typeface="Liberation Mono" pitchFamily="34" charset="-120"/>
              </a:rPr>
              <a:t>FP16</a:t>
            </a:r>
            <a:endParaRPr lang="en-US" sz="1700" dirty="0"/>
          </a:p>
        </p:txBody>
      </p:sp>
      <p:sp>
        <p:nvSpPr>
          <p:cNvPr id="8" name="Text 5"/>
          <p:cNvSpPr/>
          <p:nvPr/>
        </p:nvSpPr>
        <p:spPr>
          <a:xfrm>
            <a:off x="6309360" y="2322576"/>
            <a:ext cx="1051560" cy="228600"/>
          </a:xfrm>
          <a:prstGeom prst="rect">
            <a:avLst/>
          </a:prstGeom>
          <a:noFill/>
          <a:ln/>
        </p:spPr>
        <p:txBody>
          <a:bodyPr wrap="square" lIns="0" tIns="0" rIns="0" bIns="0" rtlCol="0" anchor="ctr">
            <a:normAutofit/>
          </a:bodyPr>
          <a:lstStyle/>
          <a:p>
            <a:pPr indent="0" marL="0">
              <a:buNone/>
            </a:pPr>
            <a:r>
              <a:rPr lang="en-US" sz="1200" dirty="0">
                <a:solidFill>
                  <a:srgbClr val="E9ECE4"/>
                </a:solidFill>
                <a:latin typeface="Liberation Sans" pitchFamily="34" charset="0"/>
                <a:ea typeface="Liberation Sans" pitchFamily="34" charset="-122"/>
                <a:cs typeface="Liberation Sans" pitchFamily="34" charset="-120"/>
              </a:rPr>
              <a:t>16 bits</a:t>
            </a:r>
            <a:endParaRPr lang="en-US" sz="1200" dirty="0"/>
          </a:p>
        </p:txBody>
      </p:sp>
      <p:sp>
        <p:nvSpPr>
          <p:cNvPr id="9" name="Text 6"/>
          <p:cNvSpPr/>
          <p:nvPr/>
        </p:nvSpPr>
        <p:spPr>
          <a:xfrm>
            <a:off x="9555480" y="2075688"/>
            <a:ext cx="1005840" cy="365760"/>
          </a:xfrm>
          <a:prstGeom prst="rect">
            <a:avLst/>
          </a:prstGeom>
          <a:noFill/>
          <a:ln/>
        </p:spPr>
        <p:txBody>
          <a:bodyPr wrap="square" lIns="0" tIns="0" rIns="0" bIns="0" rtlCol="0" anchor="ctr">
            <a:normAutofit/>
          </a:bodyPr>
          <a:lstStyle/>
          <a:p>
            <a:pPr algn="r" indent="0" marL="0">
              <a:buNone/>
            </a:pPr>
            <a:r>
              <a:rPr lang="en-US" sz="1400" b="1" dirty="0">
                <a:solidFill>
                  <a:srgbClr val="FFFDF7"/>
                </a:solidFill>
                <a:latin typeface="Liberation Sans" pitchFamily="34" charset="0"/>
                <a:ea typeface="Liberation Sans" pitchFamily="34" charset="-122"/>
                <a:cs typeface="Liberation Sans" pitchFamily="34" charset="-120"/>
              </a:rPr>
              <a:t>Largest</a:t>
            </a:r>
            <a:endParaRPr lang="en-US" sz="1400" dirty="0"/>
          </a:p>
        </p:txBody>
      </p:sp>
      <p:sp>
        <p:nvSpPr>
          <p:cNvPr id="10" name="Shape 7"/>
          <p:cNvSpPr/>
          <p:nvPr/>
        </p:nvSpPr>
        <p:spPr>
          <a:xfrm>
            <a:off x="6675120" y="3154680"/>
            <a:ext cx="3566160" cy="914400"/>
          </a:xfrm>
          <a:prstGeom prst="roundRect">
            <a:avLst>
              <a:gd name="adj" fmla="val 11000"/>
            </a:avLst>
          </a:prstGeom>
          <a:solidFill>
            <a:srgbClr val="34735B"/>
          </a:solidFill>
          <a:ln w="12700">
            <a:solidFill>
              <a:srgbClr val="34735B">
                <a:alpha val="0"/>
              </a:srgbClr>
            </a:solidFill>
            <a:prstDash val="solid"/>
          </a:ln>
        </p:spPr>
      </p:sp>
      <p:sp>
        <p:nvSpPr>
          <p:cNvPr id="11" name="Text 8"/>
          <p:cNvSpPr/>
          <p:nvPr/>
        </p:nvSpPr>
        <p:spPr>
          <a:xfrm>
            <a:off x="6903720" y="3264408"/>
            <a:ext cx="1005840" cy="301752"/>
          </a:xfrm>
          <a:prstGeom prst="rect">
            <a:avLst/>
          </a:prstGeom>
          <a:noFill/>
          <a:ln/>
        </p:spPr>
        <p:txBody>
          <a:bodyPr wrap="square" lIns="0" tIns="0" rIns="0" bIns="0" rtlCol="0" anchor="ctr">
            <a:normAutofit/>
          </a:bodyPr>
          <a:lstStyle/>
          <a:p>
            <a:pPr indent="0" marL="0">
              <a:buNone/>
            </a:pPr>
            <a:r>
              <a:rPr lang="en-US" sz="1700" b="1" dirty="0">
                <a:solidFill>
                  <a:srgbClr val="FFFDF7"/>
                </a:solidFill>
                <a:latin typeface="Liberation Mono" pitchFamily="34" charset="0"/>
                <a:ea typeface="Liberation Mono" pitchFamily="34" charset="-122"/>
                <a:cs typeface="Liberation Mono" pitchFamily="34" charset="-120"/>
              </a:rPr>
              <a:t>Q8</a:t>
            </a:r>
            <a:endParaRPr lang="en-US" sz="1700" dirty="0"/>
          </a:p>
        </p:txBody>
      </p:sp>
      <p:sp>
        <p:nvSpPr>
          <p:cNvPr id="12" name="Text 9"/>
          <p:cNvSpPr/>
          <p:nvPr/>
        </p:nvSpPr>
        <p:spPr>
          <a:xfrm>
            <a:off x="6903720" y="3621024"/>
            <a:ext cx="1051560" cy="228600"/>
          </a:xfrm>
          <a:prstGeom prst="rect">
            <a:avLst/>
          </a:prstGeom>
          <a:noFill/>
          <a:ln/>
        </p:spPr>
        <p:txBody>
          <a:bodyPr wrap="square" lIns="0" tIns="0" rIns="0" bIns="0" rtlCol="0" anchor="ctr">
            <a:normAutofit/>
          </a:bodyPr>
          <a:lstStyle/>
          <a:p>
            <a:pPr indent="0" marL="0">
              <a:buNone/>
            </a:pPr>
            <a:r>
              <a:rPr lang="en-US" sz="1200" dirty="0">
                <a:solidFill>
                  <a:srgbClr val="E9ECE4"/>
                </a:solidFill>
                <a:latin typeface="Liberation Sans" pitchFamily="34" charset="0"/>
                <a:ea typeface="Liberation Sans" pitchFamily="34" charset="-122"/>
                <a:cs typeface="Liberation Sans" pitchFamily="34" charset="-120"/>
              </a:rPr>
              <a:t>≈ 8 bits</a:t>
            </a:r>
            <a:endParaRPr lang="en-US" sz="1200" dirty="0"/>
          </a:p>
        </p:txBody>
      </p:sp>
      <p:sp>
        <p:nvSpPr>
          <p:cNvPr id="13" name="Text 10"/>
          <p:cNvSpPr/>
          <p:nvPr/>
        </p:nvSpPr>
        <p:spPr>
          <a:xfrm>
            <a:off x="8961120" y="3374136"/>
            <a:ext cx="1005840" cy="365760"/>
          </a:xfrm>
          <a:prstGeom prst="rect">
            <a:avLst/>
          </a:prstGeom>
          <a:noFill/>
          <a:ln/>
        </p:spPr>
        <p:txBody>
          <a:bodyPr wrap="square" lIns="0" tIns="0" rIns="0" bIns="0" rtlCol="0" anchor="ctr">
            <a:normAutofit/>
          </a:bodyPr>
          <a:lstStyle/>
          <a:p>
            <a:pPr algn="r" indent="0" marL="0">
              <a:buNone/>
            </a:pPr>
            <a:r>
              <a:rPr lang="en-US" sz="1400" b="1" dirty="0">
                <a:solidFill>
                  <a:srgbClr val="FFFDF7"/>
                </a:solidFill>
                <a:latin typeface="Liberation Sans" pitchFamily="34" charset="0"/>
                <a:ea typeface="Liberation Sans" pitchFamily="34" charset="-122"/>
                <a:cs typeface="Liberation Sans" pitchFamily="34" charset="-120"/>
              </a:rPr>
              <a:t>Half-ish</a:t>
            </a:r>
            <a:endParaRPr lang="en-US" sz="1400" dirty="0"/>
          </a:p>
        </p:txBody>
      </p:sp>
      <p:sp>
        <p:nvSpPr>
          <p:cNvPr id="14" name="Shape 11"/>
          <p:cNvSpPr/>
          <p:nvPr/>
        </p:nvSpPr>
        <p:spPr>
          <a:xfrm>
            <a:off x="7269480" y="4453128"/>
            <a:ext cx="2468880" cy="914400"/>
          </a:xfrm>
          <a:prstGeom prst="roundRect">
            <a:avLst>
              <a:gd name="adj" fmla="val 11000"/>
            </a:avLst>
          </a:prstGeom>
          <a:solidFill>
            <a:srgbClr val="D65B35"/>
          </a:solidFill>
          <a:ln w="12700">
            <a:solidFill>
              <a:srgbClr val="D65B35">
                <a:alpha val="0"/>
              </a:srgbClr>
            </a:solidFill>
            <a:prstDash val="solid"/>
          </a:ln>
        </p:spPr>
      </p:sp>
      <p:sp>
        <p:nvSpPr>
          <p:cNvPr id="15" name="Text 12"/>
          <p:cNvSpPr/>
          <p:nvPr/>
        </p:nvSpPr>
        <p:spPr>
          <a:xfrm>
            <a:off x="7498080" y="4562856"/>
            <a:ext cx="1005840" cy="301752"/>
          </a:xfrm>
          <a:prstGeom prst="rect">
            <a:avLst/>
          </a:prstGeom>
          <a:noFill/>
          <a:ln/>
        </p:spPr>
        <p:txBody>
          <a:bodyPr wrap="square" lIns="0" tIns="0" rIns="0" bIns="0" rtlCol="0" anchor="ctr">
            <a:normAutofit/>
          </a:bodyPr>
          <a:lstStyle/>
          <a:p>
            <a:pPr indent="0" marL="0">
              <a:buNone/>
            </a:pPr>
            <a:r>
              <a:rPr lang="en-US" sz="1700" b="1" dirty="0">
                <a:solidFill>
                  <a:srgbClr val="FFFDF7"/>
                </a:solidFill>
                <a:latin typeface="Liberation Mono" pitchFamily="34" charset="0"/>
                <a:ea typeface="Liberation Mono" pitchFamily="34" charset="-122"/>
                <a:cs typeface="Liberation Mono" pitchFamily="34" charset="-120"/>
              </a:rPr>
              <a:t>Q4</a:t>
            </a:r>
            <a:endParaRPr lang="en-US" sz="1700" dirty="0"/>
          </a:p>
        </p:txBody>
      </p:sp>
      <p:sp>
        <p:nvSpPr>
          <p:cNvPr id="16" name="Text 13"/>
          <p:cNvSpPr/>
          <p:nvPr/>
        </p:nvSpPr>
        <p:spPr>
          <a:xfrm>
            <a:off x="7498080" y="4919472"/>
            <a:ext cx="1051560" cy="228600"/>
          </a:xfrm>
          <a:prstGeom prst="rect">
            <a:avLst/>
          </a:prstGeom>
          <a:noFill/>
          <a:ln/>
        </p:spPr>
        <p:txBody>
          <a:bodyPr wrap="square" lIns="0" tIns="0" rIns="0" bIns="0" rtlCol="0" anchor="ctr">
            <a:normAutofit/>
          </a:bodyPr>
          <a:lstStyle/>
          <a:p>
            <a:pPr indent="0" marL="0">
              <a:buNone/>
            </a:pPr>
            <a:r>
              <a:rPr lang="en-US" sz="1200" dirty="0">
                <a:solidFill>
                  <a:srgbClr val="E9ECE4"/>
                </a:solidFill>
                <a:latin typeface="Liberation Sans" pitchFamily="34" charset="0"/>
                <a:ea typeface="Liberation Sans" pitchFamily="34" charset="-122"/>
                <a:cs typeface="Liberation Sans" pitchFamily="34" charset="-120"/>
              </a:rPr>
              <a:t>≈ 4 bits</a:t>
            </a:r>
            <a:endParaRPr lang="en-US" sz="1200" dirty="0"/>
          </a:p>
        </p:txBody>
      </p:sp>
      <p:sp>
        <p:nvSpPr>
          <p:cNvPr id="17" name="Text 14"/>
          <p:cNvSpPr/>
          <p:nvPr/>
        </p:nvSpPr>
        <p:spPr>
          <a:xfrm>
            <a:off x="8458200" y="4672584"/>
            <a:ext cx="1005840" cy="365760"/>
          </a:xfrm>
          <a:prstGeom prst="rect">
            <a:avLst/>
          </a:prstGeom>
          <a:noFill/>
          <a:ln/>
        </p:spPr>
        <p:txBody>
          <a:bodyPr wrap="square" lIns="0" tIns="0" rIns="0" bIns="0" rtlCol="0" anchor="ctr">
            <a:normAutofit/>
          </a:bodyPr>
          <a:lstStyle/>
          <a:p>
            <a:pPr algn="r" indent="0" marL="0">
              <a:buNone/>
            </a:pPr>
            <a:r>
              <a:rPr lang="en-US" sz="1400" b="1" dirty="0">
                <a:solidFill>
                  <a:srgbClr val="FFFDF7"/>
                </a:solidFill>
                <a:latin typeface="Liberation Sans" pitchFamily="34" charset="0"/>
                <a:ea typeface="Liberation Sans" pitchFamily="34" charset="-122"/>
                <a:cs typeface="Liberation Sans" pitchFamily="34" charset="-120"/>
              </a:rPr>
              <a:t>Quarter-ish</a:t>
            </a:r>
            <a:endParaRPr lang="en-US" sz="1400" dirty="0"/>
          </a:p>
        </p:txBody>
      </p:sp>
      <p:sp>
        <p:nvSpPr>
          <p:cNvPr id="18" name="Text 15"/>
          <p:cNvSpPr/>
          <p:nvPr/>
        </p:nvSpPr>
        <p:spPr>
          <a:xfrm>
            <a:off x="612648" y="3090672"/>
            <a:ext cx="4251960" cy="347472"/>
          </a:xfrm>
          <a:prstGeom prst="rect">
            <a:avLst/>
          </a:prstGeom>
          <a:noFill/>
          <a:ln/>
        </p:spPr>
        <p:txBody>
          <a:bodyPr wrap="square" lIns="0" tIns="0" rIns="0" bIns="0" rtlCol="0" anchor="ctr">
            <a:normAutofit/>
          </a:bodyPr>
          <a:lstStyle/>
          <a:p>
            <a:pPr indent="0" marL="0">
              <a:buNone/>
            </a:pPr>
            <a:r>
              <a:rPr lang="en-US" sz="1300" b="1" dirty="0">
                <a:solidFill>
                  <a:srgbClr val="34735B"/>
                </a:solidFill>
                <a:latin typeface="Liberation Mono" pitchFamily="34" charset="0"/>
                <a:ea typeface="Liberation Mono" pitchFamily="34" charset="-122"/>
                <a:cs typeface="Liberation Mono" pitchFamily="34" charset="-120"/>
              </a:rPr>
              <a:t>fewer bits → smaller model</a:t>
            </a:r>
            <a:endParaRPr lang="en-US" sz="1300" dirty="0"/>
          </a:p>
        </p:txBody>
      </p:sp>
      <p:sp>
        <p:nvSpPr>
          <p:cNvPr id="19" name="Shape 16"/>
          <p:cNvSpPr/>
          <p:nvPr/>
        </p:nvSpPr>
        <p:spPr>
          <a:xfrm>
            <a:off x="640080" y="3703320"/>
            <a:ext cx="4023360" cy="0"/>
          </a:xfrm>
          <a:prstGeom prst="line">
            <a:avLst/>
          </a:prstGeom>
          <a:noFill/>
          <a:ln w="38100">
            <a:solidFill>
              <a:srgbClr val="34735B"/>
            </a:solidFill>
            <a:prstDash val="solid"/>
          </a:ln>
        </p:spPr>
      </p:sp>
      <p:sp>
        <p:nvSpPr>
          <p:cNvPr id="20" name="Shape 17"/>
          <p:cNvSpPr/>
          <p:nvPr/>
        </p:nvSpPr>
        <p:spPr>
          <a:xfrm>
            <a:off x="4343400" y="3502152"/>
            <a:ext cx="502920" cy="402336"/>
          </a:xfrm>
          <a:prstGeom prst="chevron">
            <a:avLst/>
          </a:prstGeom>
          <a:solidFill>
            <a:srgbClr val="34735B"/>
          </a:solidFill>
          <a:ln w="12700">
            <a:solidFill>
              <a:srgbClr val="34735B"/>
            </a:solidFill>
            <a:prstDash val="solid"/>
          </a:ln>
        </p:spPr>
      </p:sp>
      <p:sp>
        <p:nvSpPr>
          <p:cNvPr id="21" name="Text 18"/>
          <p:cNvSpPr/>
          <p:nvPr/>
        </p:nvSpPr>
        <p:spPr>
          <a:xfrm>
            <a:off x="612648" y="4736592"/>
            <a:ext cx="4343400" cy="932688"/>
          </a:xfrm>
          <a:prstGeom prst="rect">
            <a:avLst/>
          </a:prstGeom>
          <a:noFill/>
          <a:ln/>
        </p:spPr>
        <p:txBody>
          <a:bodyPr wrap="square" lIns="0" tIns="0" rIns="0" bIns="0" rtlCol="0" anchor="t">
            <a:normAutofit/>
          </a:bodyPr>
          <a:lstStyle/>
          <a:p>
            <a:pPr indent="0" marL="0">
              <a:buNone/>
            </a:pPr>
            <a:r>
              <a:rPr lang="en-US" sz="1600" i="1" dirty="0">
                <a:solidFill>
                  <a:srgbClr val="62695D"/>
                </a:solidFill>
                <a:latin typeface="Liberation Sans" pitchFamily="34" charset="0"/>
                <a:ea typeface="Liberation Sans" pitchFamily="34" charset="-122"/>
                <a:cs typeface="Liberation Sans" pitchFamily="34" charset="-120"/>
              </a:rPr>
              <a:t>Raw weight math is simple. Real memory also includes metadata, context, and runtime buffers.</a:t>
            </a:r>
            <a:endParaRPr lang="en-US" sz="16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THE LOCAL ECOSYSTEM</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Library → package → engine → easy launcher</a:t>
            </a:r>
            <a:endParaRPr lang="en-US" sz="3100" dirty="0"/>
          </a:p>
        </p:txBody>
      </p:sp>
      <p:sp>
        <p:nvSpPr>
          <p:cNvPr id="5" name="Shape 2"/>
          <p:cNvSpPr/>
          <p:nvPr/>
        </p:nvSpPr>
        <p:spPr>
          <a:xfrm>
            <a:off x="502920" y="1719072"/>
            <a:ext cx="2468880" cy="3502152"/>
          </a:xfrm>
          <a:prstGeom prst="roundRect">
            <a:avLst>
              <a:gd name="adj" fmla="val 4444"/>
            </a:avLst>
          </a:prstGeom>
          <a:solidFill>
            <a:srgbClr val="FFFDF6"/>
          </a:solidFill>
          <a:ln w="12700">
            <a:solidFill>
              <a:srgbClr val="D4CEBE"/>
            </a:solidFill>
            <a:prstDash val="solid"/>
          </a:ln>
        </p:spPr>
      </p:sp>
      <p:pic>
        <p:nvPicPr>
          <p:cNvPr id="6" name="Image 0" descr="/work/assets/source/hugging-fac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141828"/>
            <a:ext cx="1463040" cy="388929"/>
          </a:xfrm>
          <a:prstGeom prst="rect">
            <a:avLst/>
          </a:prstGeom>
        </p:spPr>
      </p:pic>
      <p:sp>
        <p:nvSpPr>
          <p:cNvPr id="7" name="Text 3"/>
          <p:cNvSpPr/>
          <p:nvPr/>
        </p:nvSpPr>
        <p:spPr>
          <a:xfrm>
            <a:off x="731520" y="2926080"/>
            <a:ext cx="2011680" cy="438912"/>
          </a:xfrm>
          <a:prstGeom prst="rect">
            <a:avLst/>
          </a:prstGeom>
          <a:noFill/>
          <a:ln/>
        </p:spPr>
        <p:txBody>
          <a:bodyPr wrap="square" lIns="0" tIns="0" rIns="0" bIns="0" rtlCol="0" anchor="ctr">
            <a:normAutofit/>
          </a:bodyPr>
          <a:lstStyle/>
          <a:p>
            <a:pPr algn="ctr" indent="0" marL="0">
              <a:buNone/>
            </a:pPr>
            <a:r>
              <a:rPr lang="en-US" sz="2000" b="1" dirty="0">
                <a:solidFill>
                  <a:srgbClr val="171A16"/>
                </a:solidFill>
                <a:latin typeface="Liberation Sans" pitchFamily="34" charset="0"/>
                <a:ea typeface="Liberation Sans" pitchFamily="34" charset="-122"/>
                <a:cs typeface="Liberation Sans" pitchFamily="34" charset="-120"/>
              </a:rPr>
              <a:t>Hugging Face</a:t>
            </a:r>
            <a:endParaRPr lang="en-US" sz="2000" dirty="0"/>
          </a:p>
        </p:txBody>
      </p:sp>
      <p:sp>
        <p:nvSpPr>
          <p:cNvPr id="8" name="Text 4"/>
          <p:cNvSpPr/>
          <p:nvPr/>
        </p:nvSpPr>
        <p:spPr>
          <a:xfrm>
            <a:off x="813816" y="3675888"/>
            <a:ext cx="1847088" cy="914400"/>
          </a:xfrm>
          <a:prstGeom prst="rect">
            <a:avLst/>
          </a:prstGeom>
          <a:noFill/>
          <a:ln/>
        </p:spPr>
        <p:txBody>
          <a:bodyPr wrap="square" lIns="0" tIns="0" rIns="0" bIns="0" rtlCol="0" anchor="t">
            <a:normAutofit/>
          </a:bodyPr>
          <a:lstStyle/>
          <a:p>
            <a:pPr algn="ctr" indent="0" marL="0">
              <a:buNone/>
            </a:pPr>
            <a:r>
              <a:rPr lang="en-US" sz="1500" dirty="0">
                <a:solidFill>
                  <a:srgbClr val="62695D"/>
                </a:solidFill>
                <a:latin typeface="Liberation Sans" pitchFamily="34" charset="0"/>
                <a:ea typeface="Liberation Sans" pitchFamily="34" charset="-122"/>
                <a:cs typeface="Liberation Sans" pitchFamily="34" charset="-120"/>
              </a:rPr>
              <a:t>Find and distribute models</a:t>
            </a:r>
            <a:endParaRPr lang="en-US" sz="1500" dirty="0"/>
          </a:p>
        </p:txBody>
      </p:sp>
      <p:sp>
        <p:nvSpPr>
          <p:cNvPr id="9" name="Text 5"/>
          <p:cNvSpPr/>
          <p:nvPr/>
        </p:nvSpPr>
        <p:spPr>
          <a:xfrm>
            <a:off x="1508760" y="4800600"/>
            <a:ext cx="457200" cy="256032"/>
          </a:xfrm>
          <a:prstGeom prst="rect">
            <a:avLst/>
          </a:prstGeom>
          <a:noFill/>
          <a:ln/>
        </p:spPr>
        <p:txBody>
          <a:bodyPr wrap="square" lIns="0" tIns="0" rIns="0" bIns="0" rtlCol="0" anchor="ctr">
            <a:normAutofit/>
          </a:bodyPr>
          <a:lstStyle/>
          <a:p>
            <a:pPr algn="ctr" indent="0" marL="0">
              <a:buNone/>
            </a:pPr>
            <a:r>
              <a:rPr lang="en-US" sz="1000" b="1" dirty="0">
                <a:solidFill>
                  <a:srgbClr val="D65B35"/>
                </a:solidFill>
                <a:latin typeface="Liberation Mono" pitchFamily="34" charset="0"/>
                <a:ea typeface="Liberation Mono" pitchFamily="34" charset="-122"/>
                <a:cs typeface="Liberation Mono" pitchFamily="34" charset="-120"/>
              </a:rPr>
              <a:t>1</a:t>
            </a:r>
            <a:endParaRPr lang="en-US" sz="1000" dirty="0"/>
          </a:p>
        </p:txBody>
      </p:sp>
      <p:sp>
        <p:nvSpPr>
          <p:cNvPr id="10" name="Shape 6"/>
          <p:cNvSpPr/>
          <p:nvPr/>
        </p:nvSpPr>
        <p:spPr>
          <a:xfrm>
            <a:off x="3054096" y="3154680"/>
            <a:ext cx="256032" cy="457200"/>
          </a:xfrm>
          <a:prstGeom prst="chevron">
            <a:avLst/>
          </a:prstGeom>
          <a:solidFill>
            <a:srgbClr val="D65B35"/>
          </a:solidFill>
          <a:ln w="12700">
            <a:solidFill>
              <a:srgbClr val="D65B35"/>
            </a:solidFill>
            <a:prstDash val="solid"/>
          </a:ln>
        </p:spPr>
      </p:sp>
      <p:sp>
        <p:nvSpPr>
          <p:cNvPr id="11" name="Shape 7"/>
          <p:cNvSpPr/>
          <p:nvPr/>
        </p:nvSpPr>
        <p:spPr>
          <a:xfrm>
            <a:off x="3383280" y="1719072"/>
            <a:ext cx="2468880" cy="3502152"/>
          </a:xfrm>
          <a:prstGeom prst="roundRect">
            <a:avLst>
              <a:gd name="adj" fmla="val 4444"/>
            </a:avLst>
          </a:prstGeom>
          <a:solidFill>
            <a:srgbClr val="FFFDF6"/>
          </a:solidFill>
          <a:ln w="12700">
            <a:solidFill>
              <a:srgbClr val="D4CEBE"/>
            </a:solidFill>
            <a:prstDash val="solid"/>
          </a:ln>
        </p:spPr>
      </p:sp>
      <p:sp>
        <p:nvSpPr>
          <p:cNvPr id="12" name="Shape 8"/>
          <p:cNvSpPr/>
          <p:nvPr/>
        </p:nvSpPr>
        <p:spPr>
          <a:xfrm>
            <a:off x="4059936" y="2011680"/>
            <a:ext cx="1115568" cy="621792"/>
          </a:xfrm>
          <a:prstGeom prst="roundRect">
            <a:avLst>
              <a:gd name="adj" fmla="val 11765"/>
            </a:avLst>
          </a:prstGeom>
          <a:solidFill>
            <a:srgbClr val="D65B35"/>
          </a:solidFill>
          <a:ln w="12700">
            <a:solidFill>
              <a:srgbClr val="D65B35">
                <a:alpha val="0"/>
              </a:srgbClr>
            </a:solidFill>
            <a:prstDash val="solid"/>
          </a:ln>
        </p:spPr>
      </p:sp>
      <p:sp>
        <p:nvSpPr>
          <p:cNvPr id="13" name="Text 9"/>
          <p:cNvSpPr/>
          <p:nvPr/>
        </p:nvSpPr>
        <p:spPr>
          <a:xfrm>
            <a:off x="4059936" y="2011680"/>
            <a:ext cx="1115568" cy="621792"/>
          </a:xfrm>
          <a:prstGeom prst="rect">
            <a:avLst/>
          </a:prstGeom>
          <a:noFill/>
          <a:ln/>
        </p:spPr>
        <p:txBody>
          <a:bodyPr wrap="square" lIns="0" tIns="0" rIns="0" bIns="0" rtlCol="0" anchor="ctr">
            <a:normAutofit/>
          </a:bodyPr>
          <a:lstStyle/>
          <a:p>
            <a:pPr algn="ctr" indent="0" marL="0">
              <a:buNone/>
            </a:pPr>
            <a:r>
              <a:rPr lang="en-US" sz="1800" b="1" dirty="0">
                <a:solidFill>
                  <a:srgbClr val="FFFDF7"/>
                </a:solidFill>
                <a:latin typeface="Liberation Mono" pitchFamily="34" charset="0"/>
                <a:ea typeface="Liberation Mono" pitchFamily="34" charset="-122"/>
                <a:cs typeface="Liberation Mono" pitchFamily="34" charset="-120"/>
              </a:rPr>
              <a:t>GGUF</a:t>
            </a:r>
            <a:endParaRPr lang="en-US" sz="1800" dirty="0"/>
          </a:p>
        </p:txBody>
      </p:sp>
      <p:sp>
        <p:nvSpPr>
          <p:cNvPr id="14" name="Text 10"/>
          <p:cNvSpPr/>
          <p:nvPr/>
        </p:nvSpPr>
        <p:spPr>
          <a:xfrm>
            <a:off x="3611880" y="2926080"/>
            <a:ext cx="2011680" cy="438912"/>
          </a:xfrm>
          <a:prstGeom prst="rect">
            <a:avLst/>
          </a:prstGeom>
          <a:noFill/>
          <a:ln/>
        </p:spPr>
        <p:txBody>
          <a:bodyPr wrap="square" lIns="0" tIns="0" rIns="0" bIns="0" rtlCol="0" anchor="ctr">
            <a:normAutofit/>
          </a:bodyPr>
          <a:lstStyle/>
          <a:p>
            <a:pPr algn="ctr" indent="0" marL="0">
              <a:buNone/>
            </a:pPr>
            <a:r>
              <a:rPr lang="en-US" sz="2000" b="1" dirty="0">
                <a:solidFill>
                  <a:srgbClr val="171A16"/>
                </a:solidFill>
                <a:latin typeface="Liberation Sans" pitchFamily="34" charset="0"/>
                <a:ea typeface="Liberation Sans" pitchFamily="34" charset="-122"/>
                <a:cs typeface="Liberation Sans" pitchFamily="34" charset="-120"/>
              </a:rPr>
              <a:t>GGUF</a:t>
            </a:r>
            <a:endParaRPr lang="en-US" sz="2000" dirty="0"/>
          </a:p>
        </p:txBody>
      </p:sp>
      <p:sp>
        <p:nvSpPr>
          <p:cNvPr id="15" name="Text 11"/>
          <p:cNvSpPr/>
          <p:nvPr/>
        </p:nvSpPr>
        <p:spPr>
          <a:xfrm>
            <a:off x="3694176" y="3675888"/>
            <a:ext cx="1847088" cy="914400"/>
          </a:xfrm>
          <a:prstGeom prst="rect">
            <a:avLst/>
          </a:prstGeom>
          <a:noFill/>
          <a:ln/>
        </p:spPr>
        <p:txBody>
          <a:bodyPr wrap="square" lIns="0" tIns="0" rIns="0" bIns="0" rtlCol="0" anchor="t">
            <a:normAutofit/>
          </a:bodyPr>
          <a:lstStyle/>
          <a:p>
            <a:pPr algn="ctr" indent="0" marL="0">
              <a:buNone/>
            </a:pPr>
            <a:r>
              <a:rPr lang="en-US" sz="1500" dirty="0">
                <a:solidFill>
                  <a:srgbClr val="62695D"/>
                </a:solidFill>
                <a:latin typeface="Liberation Sans" pitchFamily="34" charset="0"/>
                <a:ea typeface="Liberation Sans" pitchFamily="34" charset="-122"/>
                <a:cs typeface="Liberation Sans" pitchFamily="34" charset="-120"/>
              </a:rPr>
              <a:t>Portable model file + metadata</a:t>
            </a:r>
            <a:endParaRPr lang="en-US" sz="1500" dirty="0"/>
          </a:p>
        </p:txBody>
      </p:sp>
      <p:sp>
        <p:nvSpPr>
          <p:cNvPr id="16" name="Text 12"/>
          <p:cNvSpPr/>
          <p:nvPr/>
        </p:nvSpPr>
        <p:spPr>
          <a:xfrm>
            <a:off x="4389120" y="4800600"/>
            <a:ext cx="457200" cy="256032"/>
          </a:xfrm>
          <a:prstGeom prst="rect">
            <a:avLst/>
          </a:prstGeom>
          <a:noFill/>
          <a:ln/>
        </p:spPr>
        <p:txBody>
          <a:bodyPr wrap="square" lIns="0" tIns="0" rIns="0" bIns="0" rtlCol="0" anchor="ctr">
            <a:normAutofit/>
          </a:bodyPr>
          <a:lstStyle/>
          <a:p>
            <a:pPr algn="ctr" indent="0" marL="0">
              <a:buNone/>
            </a:pPr>
            <a:r>
              <a:rPr lang="en-US" sz="1000" b="1" dirty="0">
                <a:solidFill>
                  <a:srgbClr val="D65B35"/>
                </a:solidFill>
                <a:latin typeface="Liberation Mono" pitchFamily="34" charset="0"/>
                <a:ea typeface="Liberation Mono" pitchFamily="34" charset="-122"/>
                <a:cs typeface="Liberation Mono" pitchFamily="34" charset="-120"/>
              </a:rPr>
              <a:t>2</a:t>
            </a:r>
            <a:endParaRPr lang="en-US" sz="1000" dirty="0"/>
          </a:p>
        </p:txBody>
      </p:sp>
      <p:sp>
        <p:nvSpPr>
          <p:cNvPr id="17" name="Shape 13"/>
          <p:cNvSpPr/>
          <p:nvPr/>
        </p:nvSpPr>
        <p:spPr>
          <a:xfrm>
            <a:off x="5934456" y="3154680"/>
            <a:ext cx="256032" cy="457200"/>
          </a:xfrm>
          <a:prstGeom prst="chevron">
            <a:avLst/>
          </a:prstGeom>
          <a:solidFill>
            <a:srgbClr val="D65B35"/>
          </a:solidFill>
          <a:ln w="12700">
            <a:solidFill>
              <a:srgbClr val="D65B35"/>
            </a:solidFill>
            <a:prstDash val="solid"/>
          </a:ln>
        </p:spPr>
      </p:sp>
      <p:sp>
        <p:nvSpPr>
          <p:cNvPr id="18" name="Shape 14"/>
          <p:cNvSpPr/>
          <p:nvPr/>
        </p:nvSpPr>
        <p:spPr>
          <a:xfrm>
            <a:off x="6263640" y="1719072"/>
            <a:ext cx="2468880" cy="3502152"/>
          </a:xfrm>
          <a:prstGeom prst="roundRect">
            <a:avLst>
              <a:gd name="adj" fmla="val 4444"/>
            </a:avLst>
          </a:prstGeom>
          <a:solidFill>
            <a:srgbClr val="11140F"/>
          </a:solidFill>
          <a:ln w="12700">
            <a:solidFill>
              <a:srgbClr val="11140F">
                <a:alpha val="0"/>
              </a:srgbClr>
            </a:solidFill>
            <a:prstDash val="solid"/>
          </a:ln>
        </p:spPr>
      </p:sp>
      <p:pic>
        <p:nvPicPr>
          <p:cNvPr id="19" name="Image 1" descr="/work/assets/source/llama-cpp.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6560" y="2179145"/>
            <a:ext cx="1463040" cy="314294"/>
          </a:xfrm>
          <a:prstGeom prst="rect">
            <a:avLst/>
          </a:prstGeom>
        </p:spPr>
      </p:pic>
      <p:sp>
        <p:nvSpPr>
          <p:cNvPr id="20" name="Text 15"/>
          <p:cNvSpPr/>
          <p:nvPr/>
        </p:nvSpPr>
        <p:spPr>
          <a:xfrm>
            <a:off x="6492240" y="2926080"/>
            <a:ext cx="2011680" cy="438912"/>
          </a:xfrm>
          <a:prstGeom prst="rect">
            <a:avLst/>
          </a:prstGeom>
          <a:noFill/>
          <a:ln/>
        </p:spPr>
        <p:txBody>
          <a:bodyPr wrap="square" lIns="0" tIns="0" rIns="0" bIns="0" rtlCol="0" anchor="ctr">
            <a:normAutofit/>
          </a:bodyPr>
          <a:lstStyle/>
          <a:p>
            <a:pPr algn="ctr" indent="0" marL="0">
              <a:buNone/>
            </a:pPr>
            <a:r>
              <a:rPr lang="en-US" sz="2000" b="1" dirty="0">
                <a:solidFill>
                  <a:srgbClr val="FFFDF7"/>
                </a:solidFill>
                <a:latin typeface="Liberation Sans" pitchFamily="34" charset="0"/>
                <a:ea typeface="Liberation Sans" pitchFamily="34" charset="-122"/>
                <a:cs typeface="Liberation Sans" pitchFamily="34" charset="-120"/>
              </a:rPr>
              <a:t>llama.cpp</a:t>
            </a:r>
            <a:endParaRPr lang="en-US" sz="2000" dirty="0"/>
          </a:p>
        </p:txBody>
      </p:sp>
      <p:sp>
        <p:nvSpPr>
          <p:cNvPr id="21" name="Text 16"/>
          <p:cNvSpPr/>
          <p:nvPr/>
        </p:nvSpPr>
        <p:spPr>
          <a:xfrm>
            <a:off x="6574536" y="3675888"/>
            <a:ext cx="1847088" cy="914400"/>
          </a:xfrm>
          <a:prstGeom prst="rect">
            <a:avLst/>
          </a:prstGeom>
          <a:noFill/>
          <a:ln/>
        </p:spPr>
        <p:txBody>
          <a:bodyPr wrap="square" lIns="0" tIns="0" rIns="0" bIns="0" rtlCol="0" anchor="t">
            <a:normAutofit/>
          </a:bodyPr>
          <a:lstStyle/>
          <a:p>
            <a:pPr algn="ctr" indent="0" marL="0">
              <a:buNone/>
            </a:pPr>
            <a:r>
              <a:rPr lang="en-US" sz="1500" dirty="0">
                <a:solidFill>
                  <a:srgbClr val="D7DACE"/>
                </a:solidFill>
                <a:latin typeface="Liberation Sans" pitchFamily="34" charset="0"/>
                <a:ea typeface="Liberation Sans" pitchFamily="34" charset="-122"/>
                <a:cs typeface="Liberation Sans" pitchFamily="34" charset="-120"/>
              </a:rPr>
              <a:t>Run efficiently on CPU or GPU</a:t>
            </a:r>
            <a:endParaRPr lang="en-US" sz="1500" dirty="0"/>
          </a:p>
        </p:txBody>
      </p:sp>
      <p:sp>
        <p:nvSpPr>
          <p:cNvPr id="22" name="Text 17"/>
          <p:cNvSpPr/>
          <p:nvPr/>
        </p:nvSpPr>
        <p:spPr>
          <a:xfrm>
            <a:off x="7269480" y="4800600"/>
            <a:ext cx="457200" cy="256032"/>
          </a:xfrm>
          <a:prstGeom prst="rect">
            <a:avLst/>
          </a:prstGeom>
          <a:noFill/>
          <a:ln/>
        </p:spPr>
        <p:txBody>
          <a:bodyPr wrap="square" lIns="0" tIns="0" rIns="0" bIns="0" rtlCol="0" anchor="ctr">
            <a:normAutofit/>
          </a:bodyPr>
          <a:lstStyle/>
          <a:p>
            <a:pPr algn="ctr" indent="0" marL="0">
              <a:buNone/>
            </a:pPr>
            <a:r>
              <a:rPr lang="en-US" sz="1000" b="1" dirty="0">
                <a:solidFill>
                  <a:srgbClr val="E89B45"/>
                </a:solidFill>
                <a:latin typeface="Liberation Mono" pitchFamily="34" charset="0"/>
                <a:ea typeface="Liberation Mono" pitchFamily="34" charset="-122"/>
                <a:cs typeface="Liberation Mono" pitchFamily="34" charset="-120"/>
              </a:rPr>
              <a:t>3</a:t>
            </a:r>
            <a:endParaRPr lang="en-US" sz="1000" dirty="0"/>
          </a:p>
        </p:txBody>
      </p:sp>
      <p:sp>
        <p:nvSpPr>
          <p:cNvPr id="23" name="Shape 18"/>
          <p:cNvSpPr/>
          <p:nvPr/>
        </p:nvSpPr>
        <p:spPr>
          <a:xfrm>
            <a:off x="8814816" y="3154680"/>
            <a:ext cx="256032" cy="457200"/>
          </a:xfrm>
          <a:prstGeom prst="chevron">
            <a:avLst/>
          </a:prstGeom>
          <a:solidFill>
            <a:srgbClr val="D65B35"/>
          </a:solidFill>
          <a:ln w="12700">
            <a:solidFill>
              <a:srgbClr val="D65B35"/>
            </a:solidFill>
            <a:prstDash val="solid"/>
          </a:ln>
        </p:spPr>
      </p:sp>
      <p:sp>
        <p:nvSpPr>
          <p:cNvPr id="24" name="Shape 19"/>
          <p:cNvSpPr/>
          <p:nvPr/>
        </p:nvSpPr>
        <p:spPr>
          <a:xfrm>
            <a:off x="9144000" y="1719072"/>
            <a:ext cx="2468880" cy="3502152"/>
          </a:xfrm>
          <a:prstGeom prst="roundRect">
            <a:avLst>
              <a:gd name="adj" fmla="val 4444"/>
            </a:avLst>
          </a:prstGeom>
          <a:solidFill>
            <a:srgbClr val="FFFDF6"/>
          </a:solidFill>
          <a:ln w="12700">
            <a:solidFill>
              <a:srgbClr val="D4CEBE"/>
            </a:solidFill>
            <a:prstDash val="solid"/>
          </a:ln>
        </p:spPr>
      </p:sp>
      <p:pic>
        <p:nvPicPr>
          <p:cNvPr id="25" name="Image 2" descr="/work/assets/source/ollama.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5268" y="1993392"/>
            <a:ext cx="466344" cy="685800"/>
          </a:xfrm>
          <a:prstGeom prst="rect">
            <a:avLst/>
          </a:prstGeom>
        </p:spPr>
      </p:pic>
      <p:sp>
        <p:nvSpPr>
          <p:cNvPr id="26" name="Text 20"/>
          <p:cNvSpPr/>
          <p:nvPr/>
        </p:nvSpPr>
        <p:spPr>
          <a:xfrm>
            <a:off x="9372600" y="2926080"/>
            <a:ext cx="2011680" cy="438912"/>
          </a:xfrm>
          <a:prstGeom prst="rect">
            <a:avLst/>
          </a:prstGeom>
          <a:noFill/>
          <a:ln/>
        </p:spPr>
        <p:txBody>
          <a:bodyPr wrap="square" lIns="0" tIns="0" rIns="0" bIns="0" rtlCol="0" anchor="ctr">
            <a:normAutofit/>
          </a:bodyPr>
          <a:lstStyle/>
          <a:p>
            <a:pPr algn="ctr" indent="0" marL="0">
              <a:buNone/>
            </a:pPr>
            <a:r>
              <a:rPr lang="en-US" sz="2000" b="1" dirty="0">
                <a:solidFill>
                  <a:srgbClr val="171A16"/>
                </a:solidFill>
                <a:latin typeface="Liberation Sans" pitchFamily="34" charset="0"/>
                <a:ea typeface="Liberation Sans" pitchFamily="34" charset="-122"/>
                <a:cs typeface="Liberation Sans" pitchFamily="34" charset="-120"/>
              </a:rPr>
              <a:t>Ollama</a:t>
            </a:r>
            <a:endParaRPr lang="en-US" sz="2000" dirty="0"/>
          </a:p>
        </p:txBody>
      </p:sp>
      <p:sp>
        <p:nvSpPr>
          <p:cNvPr id="27" name="Text 21"/>
          <p:cNvSpPr/>
          <p:nvPr/>
        </p:nvSpPr>
        <p:spPr>
          <a:xfrm>
            <a:off x="9454896" y="3675888"/>
            <a:ext cx="1847088" cy="914400"/>
          </a:xfrm>
          <a:prstGeom prst="rect">
            <a:avLst/>
          </a:prstGeom>
          <a:noFill/>
          <a:ln/>
        </p:spPr>
        <p:txBody>
          <a:bodyPr wrap="square" lIns="0" tIns="0" rIns="0" bIns="0" rtlCol="0" anchor="t">
            <a:normAutofit/>
          </a:bodyPr>
          <a:lstStyle/>
          <a:p>
            <a:pPr algn="ctr" indent="0" marL="0">
              <a:buNone/>
            </a:pPr>
            <a:r>
              <a:rPr lang="en-US" sz="1500" dirty="0">
                <a:solidFill>
                  <a:srgbClr val="62695D"/>
                </a:solidFill>
                <a:latin typeface="Liberation Sans" pitchFamily="34" charset="0"/>
                <a:ea typeface="Liberation Sans" pitchFamily="34" charset="-122"/>
                <a:cs typeface="Liberation Sans" pitchFamily="34" charset="-120"/>
              </a:rPr>
              <a:t>Friendly install, pull, and serve</a:t>
            </a:r>
            <a:endParaRPr lang="en-US" sz="1500" dirty="0"/>
          </a:p>
        </p:txBody>
      </p:sp>
      <p:sp>
        <p:nvSpPr>
          <p:cNvPr id="28" name="Text 22"/>
          <p:cNvSpPr/>
          <p:nvPr/>
        </p:nvSpPr>
        <p:spPr>
          <a:xfrm>
            <a:off x="10149840" y="4800600"/>
            <a:ext cx="457200" cy="256032"/>
          </a:xfrm>
          <a:prstGeom prst="rect">
            <a:avLst/>
          </a:prstGeom>
          <a:noFill/>
          <a:ln/>
        </p:spPr>
        <p:txBody>
          <a:bodyPr wrap="square" lIns="0" tIns="0" rIns="0" bIns="0" rtlCol="0" anchor="ctr">
            <a:normAutofit/>
          </a:bodyPr>
          <a:lstStyle/>
          <a:p>
            <a:pPr algn="ctr" indent="0" marL="0">
              <a:buNone/>
            </a:pPr>
            <a:r>
              <a:rPr lang="en-US" sz="1000" b="1" dirty="0">
                <a:solidFill>
                  <a:srgbClr val="D65B35"/>
                </a:solidFill>
                <a:latin typeface="Liberation Mono" pitchFamily="34" charset="0"/>
                <a:ea typeface="Liberation Mono" pitchFamily="34" charset="-122"/>
                <a:cs typeface="Liberation Mono" pitchFamily="34" charset="-120"/>
              </a:rPr>
              <a:t>4</a:t>
            </a:r>
            <a:endParaRPr lang="en-US" sz="1000" dirty="0"/>
          </a:p>
        </p:txBody>
      </p:sp>
      <p:sp>
        <p:nvSpPr>
          <p:cNvPr id="29" name="Text 23"/>
          <p:cNvSpPr/>
          <p:nvPr/>
        </p:nvSpPr>
        <p:spPr>
          <a:xfrm>
            <a:off x="603504" y="5751576"/>
            <a:ext cx="10972800" cy="365760"/>
          </a:xfrm>
          <a:prstGeom prst="rect">
            <a:avLst/>
          </a:prstGeom>
          <a:noFill/>
          <a:ln/>
        </p:spPr>
        <p:txBody>
          <a:bodyPr wrap="square" lIns="0" tIns="0" rIns="0" bIns="0" rtlCol="0" anchor="ctr">
            <a:normAutofit/>
          </a:bodyPr>
          <a:lstStyle/>
          <a:p>
            <a:pPr algn="ctr" indent="0" marL="0">
              <a:buNone/>
            </a:pPr>
            <a:r>
              <a:rPr lang="en-US" sz="1600" b="1" dirty="0">
                <a:solidFill>
                  <a:srgbClr val="34735B"/>
                </a:solidFill>
                <a:latin typeface="Liberation Sans" pitchFamily="34" charset="0"/>
                <a:ea typeface="Liberation Sans" pitchFamily="34" charset="-122"/>
                <a:cs typeface="Liberation Sans" pitchFamily="34" charset="-120"/>
              </a:rPr>
              <a:t>An open ecosystem—not one interchangeable license.</a:t>
            </a:r>
            <a:endParaRPr lang="en-US" sz="16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LLAMA.CPP</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A model file becomes a local service</a:t>
            </a:r>
            <a:endParaRPr lang="en-US" sz="3100" dirty="0"/>
          </a:p>
        </p:txBody>
      </p:sp>
      <p:sp>
        <p:nvSpPr>
          <p:cNvPr id="5" name="Shape 2"/>
          <p:cNvSpPr/>
          <p:nvPr/>
        </p:nvSpPr>
        <p:spPr>
          <a:xfrm>
            <a:off x="603504" y="1600200"/>
            <a:ext cx="10972800" cy="1005840"/>
          </a:xfrm>
          <a:prstGeom prst="roundRect">
            <a:avLst>
              <a:gd name="adj" fmla="val 10909"/>
            </a:avLst>
          </a:prstGeom>
          <a:solidFill>
            <a:srgbClr val="11140F"/>
          </a:solidFill>
          <a:ln w="12700">
            <a:solidFill>
              <a:srgbClr val="11140F">
                <a:alpha val="0"/>
              </a:srgbClr>
            </a:solidFill>
            <a:prstDash val="solid"/>
          </a:ln>
        </p:spPr>
      </p:sp>
      <p:sp>
        <p:nvSpPr>
          <p:cNvPr id="6" name="Text 3"/>
          <p:cNvSpPr/>
          <p:nvPr/>
        </p:nvSpPr>
        <p:spPr>
          <a:xfrm>
            <a:off x="932688" y="1600200"/>
            <a:ext cx="274320" cy="1005840"/>
          </a:xfrm>
          <a:prstGeom prst="rect">
            <a:avLst/>
          </a:prstGeom>
          <a:noFill/>
          <a:ln/>
        </p:spPr>
        <p:txBody>
          <a:bodyPr wrap="square" lIns="0" tIns="0" rIns="0" bIns="0" rtlCol="0" anchor="ctr">
            <a:normAutofit/>
          </a:bodyPr>
          <a:lstStyle/>
          <a:p>
            <a:pPr algn="ctr" indent="0" marL="0">
              <a:buNone/>
            </a:pPr>
            <a:r>
              <a:rPr lang="en-US" sz="2000" b="1" dirty="0">
                <a:solidFill>
                  <a:srgbClr val="E89B45"/>
                </a:solidFill>
                <a:latin typeface="Liberation Mono" pitchFamily="34" charset="0"/>
                <a:ea typeface="Liberation Mono" pitchFamily="34" charset="-122"/>
                <a:cs typeface="Liberation Mono" pitchFamily="34" charset="-120"/>
              </a:rPr>
              <a:t>$</a:t>
            </a:r>
            <a:endParaRPr lang="en-US" sz="2000" dirty="0"/>
          </a:p>
        </p:txBody>
      </p:sp>
      <p:sp>
        <p:nvSpPr>
          <p:cNvPr id="7" name="Text 4"/>
          <p:cNvSpPr/>
          <p:nvPr/>
        </p:nvSpPr>
        <p:spPr>
          <a:xfrm>
            <a:off x="1307592" y="1600200"/>
            <a:ext cx="9692640" cy="1005840"/>
          </a:xfrm>
          <a:prstGeom prst="rect">
            <a:avLst/>
          </a:prstGeom>
          <a:noFill/>
          <a:ln/>
        </p:spPr>
        <p:txBody>
          <a:bodyPr wrap="square" lIns="0" tIns="0" rIns="0" bIns="0" rtlCol="0" anchor="ctr">
            <a:normAutofit/>
          </a:bodyPr>
          <a:lstStyle/>
          <a:p>
            <a:pPr indent="0" marL="0">
              <a:buNone/>
            </a:pPr>
            <a:r>
              <a:rPr lang="en-US" sz="2100" b="1" dirty="0">
                <a:solidFill>
                  <a:srgbClr val="FFFDF7"/>
                </a:solidFill>
                <a:latin typeface="Liberation Mono" pitchFamily="34" charset="0"/>
                <a:ea typeface="Liberation Mono" pitchFamily="34" charset="-122"/>
                <a:cs typeface="Liberation Mono" pitchFamily="34" charset="-120"/>
              </a:rPr>
              <a:t>llama-server -m model.gguf -ngl 99</a:t>
            </a:r>
            <a:endParaRPr lang="en-US" sz="2100" dirty="0"/>
          </a:p>
        </p:txBody>
      </p:sp>
      <p:sp>
        <p:nvSpPr>
          <p:cNvPr id="8" name="Shape 5"/>
          <p:cNvSpPr/>
          <p:nvPr/>
        </p:nvSpPr>
        <p:spPr>
          <a:xfrm>
            <a:off x="603504" y="3337560"/>
            <a:ext cx="2331720" cy="1325880"/>
          </a:xfrm>
          <a:prstGeom prst="roundRect">
            <a:avLst>
              <a:gd name="adj" fmla="val 7586"/>
            </a:avLst>
          </a:prstGeom>
          <a:solidFill>
            <a:srgbClr val="FFFDF6"/>
          </a:solidFill>
          <a:ln w="12700">
            <a:solidFill>
              <a:srgbClr val="D4CEBE"/>
            </a:solidFill>
            <a:prstDash val="solid"/>
          </a:ln>
        </p:spPr>
      </p:sp>
      <p:sp>
        <p:nvSpPr>
          <p:cNvPr id="9" name="Text 6"/>
          <p:cNvSpPr/>
          <p:nvPr/>
        </p:nvSpPr>
        <p:spPr>
          <a:xfrm>
            <a:off x="768096" y="3493008"/>
            <a:ext cx="411480"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01</a:t>
            </a:r>
            <a:endParaRPr lang="en-US" sz="950" dirty="0"/>
          </a:p>
        </p:txBody>
      </p:sp>
      <p:sp>
        <p:nvSpPr>
          <p:cNvPr id="10" name="Text 7"/>
          <p:cNvSpPr/>
          <p:nvPr/>
        </p:nvSpPr>
        <p:spPr>
          <a:xfrm>
            <a:off x="832104" y="3822192"/>
            <a:ext cx="1874520" cy="438912"/>
          </a:xfrm>
          <a:prstGeom prst="rect">
            <a:avLst/>
          </a:prstGeom>
          <a:noFill/>
          <a:ln/>
        </p:spPr>
        <p:txBody>
          <a:bodyPr wrap="square" lIns="0" tIns="0" rIns="0" bIns="0" rtlCol="0" anchor="ctr">
            <a:normAutofit/>
          </a:bodyPr>
          <a:lstStyle/>
          <a:p>
            <a:pPr algn="ctr" indent="0" marL="0">
              <a:buNone/>
            </a:pPr>
            <a:r>
              <a:rPr lang="en-US" sz="1800" b="1" dirty="0">
                <a:solidFill>
                  <a:srgbClr val="171A16"/>
                </a:solidFill>
                <a:latin typeface="Liberation Sans" pitchFamily="34" charset="0"/>
                <a:ea typeface="Liberation Sans" pitchFamily="34" charset="-122"/>
                <a:cs typeface="Liberation Sans" pitchFamily="34" charset="-120"/>
              </a:rPr>
              <a:t>GGUF model</a:t>
            </a:r>
            <a:endParaRPr lang="en-US" sz="1800" dirty="0"/>
          </a:p>
        </p:txBody>
      </p:sp>
      <p:sp>
        <p:nvSpPr>
          <p:cNvPr id="11" name="Shape 8"/>
          <p:cNvSpPr/>
          <p:nvPr/>
        </p:nvSpPr>
        <p:spPr>
          <a:xfrm>
            <a:off x="2953512" y="3995928"/>
            <a:ext cx="457200" cy="0"/>
          </a:xfrm>
          <a:prstGeom prst="line">
            <a:avLst/>
          </a:prstGeom>
          <a:noFill/>
          <a:ln w="38100">
            <a:solidFill>
              <a:srgbClr val="D65B35"/>
            </a:solidFill>
            <a:prstDash val="solid"/>
          </a:ln>
        </p:spPr>
      </p:sp>
      <p:sp>
        <p:nvSpPr>
          <p:cNvPr id="12" name="Shape 9"/>
          <p:cNvSpPr/>
          <p:nvPr/>
        </p:nvSpPr>
        <p:spPr>
          <a:xfrm>
            <a:off x="3438144" y="3337560"/>
            <a:ext cx="2331720" cy="1325880"/>
          </a:xfrm>
          <a:prstGeom prst="roundRect">
            <a:avLst>
              <a:gd name="adj" fmla="val 7586"/>
            </a:avLst>
          </a:prstGeom>
          <a:solidFill>
            <a:srgbClr val="D65B35"/>
          </a:solidFill>
          <a:ln w="12700">
            <a:solidFill>
              <a:srgbClr val="F3EFE4"/>
            </a:solidFill>
            <a:prstDash val="solid"/>
          </a:ln>
        </p:spPr>
      </p:sp>
      <p:sp>
        <p:nvSpPr>
          <p:cNvPr id="13" name="Text 10"/>
          <p:cNvSpPr/>
          <p:nvPr/>
        </p:nvSpPr>
        <p:spPr>
          <a:xfrm>
            <a:off x="3602736" y="3493008"/>
            <a:ext cx="411480" cy="228600"/>
          </a:xfrm>
          <a:prstGeom prst="rect">
            <a:avLst/>
          </a:prstGeom>
          <a:noFill/>
          <a:ln/>
        </p:spPr>
        <p:txBody>
          <a:bodyPr wrap="square" lIns="0" tIns="0" rIns="0" bIns="0" rtlCol="0" anchor="ctr">
            <a:normAutofit/>
          </a:bodyPr>
          <a:lstStyle/>
          <a:p>
            <a:pPr indent="0" marL="0">
              <a:buNone/>
            </a:pPr>
            <a:r>
              <a:rPr lang="en-US" sz="950" b="1" dirty="0">
                <a:solidFill>
                  <a:srgbClr val="FFFDF7"/>
                </a:solidFill>
                <a:latin typeface="Liberation Mono" pitchFamily="34" charset="0"/>
                <a:ea typeface="Liberation Mono" pitchFamily="34" charset="-122"/>
                <a:cs typeface="Liberation Mono" pitchFamily="34" charset="-120"/>
              </a:rPr>
              <a:t>02</a:t>
            </a:r>
            <a:endParaRPr lang="en-US" sz="950" dirty="0"/>
          </a:p>
        </p:txBody>
      </p:sp>
      <p:sp>
        <p:nvSpPr>
          <p:cNvPr id="14" name="Text 11"/>
          <p:cNvSpPr/>
          <p:nvPr/>
        </p:nvSpPr>
        <p:spPr>
          <a:xfrm>
            <a:off x="3666744" y="3822192"/>
            <a:ext cx="1874520" cy="438912"/>
          </a:xfrm>
          <a:prstGeom prst="rect">
            <a:avLst/>
          </a:prstGeom>
          <a:noFill/>
          <a:ln/>
        </p:spPr>
        <p:txBody>
          <a:bodyPr wrap="square" lIns="0" tIns="0" rIns="0" bIns="0" rtlCol="0" anchor="ctr">
            <a:normAutofit/>
          </a:bodyPr>
          <a:lstStyle/>
          <a:p>
            <a:pPr algn="ctr" indent="0" marL="0">
              <a:buNone/>
            </a:pPr>
            <a:r>
              <a:rPr lang="en-US" sz="1800" b="1" dirty="0">
                <a:solidFill>
                  <a:srgbClr val="FFFDF7"/>
                </a:solidFill>
                <a:latin typeface="Liberation Sans" pitchFamily="34" charset="0"/>
                <a:ea typeface="Liberation Sans" pitchFamily="34" charset="-122"/>
                <a:cs typeface="Liberation Sans" pitchFamily="34" charset="-120"/>
              </a:rPr>
              <a:t>llama.cpp</a:t>
            </a:r>
            <a:endParaRPr lang="en-US" sz="1800" dirty="0"/>
          </a:p>
        </p:txBody>
      </p:sp>
      <p:sp>
        <p:nvSpPr>
          <p:cNvPr id="15" name="Shape 12"/>
          <p:cNvSpPr/>
          <p:nvPr/>
        </p:nvSpPr>
        <p:spPr>
          <a:xfrm>
            <a:off x="5788152" y="3995928"/>
            <a:ext cx="457200" cy="0"/>
          </a:xfrm>
          <a:prstGeom prst="line">
            <a:avLst/>
          </a:prstGeom>
          <a:noFill/>
          <a:ln w="38100">
            <a:solidFill>
              <a:srgbClr val="D65B35"/>
            </a:solidFill>
            <a:prstDash val="solid"/>
          </a:ln>
        </p:spPr>
      </p:sp>
      <p:sp>
        <p:nvSpPr>
          <p:cNvPr id="16" name="Shape 13"/>
          <p:cNvSpPr/>
          <p:nvPr/>
        </p:nvSpPr>
        <p:spPr>
          <a:xfrm>
            <a:off x="6272784" y="3337560"/>
            <a:ext cx="2331720" cy="1325880"/>
          </a:xfrm>
          <a:prstGeom prst="roundRect">
            <a:avLst>
              <a:gd name="adj" fmla="val 7586"/>
            </a:avLst>
          </a:prstGeom>
          <a:solidFill>
            <a:srgbClr val="34735B"/>
          </a:solidFill>
          <a:ln w="12700">
            <a:solidFill>
              <a:srgbClr val="F3EFE4"/>
            </a:solidFill>
            <a:prstDash val="solid"/>
          </a:ln>
        </p:spPr>
      </p:sp>
      <p:sp>
        <p:nvSpPr>
          <p:cNvPr id="17" name="Text 14"/>
          <p:cNvSpPr/>
          <p:nvPr/>
        </p:nvSpPr>
        <p:spPr>
          <a:xfrm>
            <a:off x="6437376" y="3493008"/>
            <a:ext cx="411480" cy="228600"/>
          </a:xfrm>
          <a:prstGeom prst="rect">
            <a:avLst/>
          </a:prstGeom>
          <a:noFill/>
          <a:ln/>
        </p:spPr>
        <p:txBody>
          <a:bodyPr wrap="square" lIns="0" tIns="0" rIns="0" bIns="0" rtlCol="0" anchor="ctr">
            <a:normAutofit/>
          </a:bodyPr>
          <a:lstStyle/>
          <a:p>
            <a:pPr indent="0" marL="0">
              <a:buNone/>
            </a:pPr>
            <a:r>
              <a:rPr lang="en-US" sz="950" b="1" dirty="0">
                <a:solidFill>
                  <a:srgbClr val="FFFDF7"/>
                </a:solidFill>
                <a:latin typeface="Liberation Mono" pitchFamily="34" charset="0"/>
                <a:ea typeface="Liberation Mono" pitchFamily="34" charset="-122"/>
                <a:cs typeface="Liberation Mono" pitchFamily="34" charset="-120"/>
              </a:rPr>
              <a:t>03</a:t>
            </a:r>
            <a:endParaRPr lang="en-US" sz="950" dirty="0"/>
          </a:p>
        </p:txBody>
      </p:sp>
      <p:sp>
        <p:nvSpPr>
          <p:cNvPr id="18" name="Text 15"/>
          <p:cNvSpPr/>
          <p:nvPr/>
        </p:nvSpPr>
        <p:spPr>
          <a:xfrm>
            <a:off x="6501384" y="3822192"/>
            <a:ext cx="1874520" cy="438912"/>
          </a:xfrm>
          <a:prstGeom prst="rect">
            <a:avLst/>
          </a:prstGeom>
          <a:noFill/>
          <a:ln/>
        </p:spPr>
        <p:txBody>
          <a:bodyPr wrap="square" lIns="0" tIns="0" rIns="0" bIns="0" rtlCol="0" anchor="ctr">
            <a:normAutofit/>
          </a:bodyPr>
          <a:lstStyle/>
          <a:p>
            <a:pPr algn="ctr" indent="0" marL="0">
              <a:buNone/>
            </a:pPr>
            <a:r>
              <a:rPr lang="en-US" sz="1800" b="1" dirty="0">
                <a:solidFill>
                  <a:srgbClr val="FFFDF7"/>
                </a:solidFill>
                <a:latin typeface="Liberation Sans" pitchFamily="34" charset="0"/>
                <a:ea typeface="Liberation Sans" pitchFamily="34" charset="-122"/>
                <a:cs typeface="Liberation Sans" pitchFamily="34" charset="-120"/>
              </a:rPr>
              <a:t>Local HTTP API</a:t>
            </a:r>
            <a:endParaRPr lang="en-US" sz="1800" dirty="0"/>
          </a:p>
        </p:txBody>
      </p:sp>
      <p:sp>
        <p:nvSpPr>
          <p:cNvPr id="19" name="Shape 16"/>
          <p:cNvSpPr/>
          <p:nvPr/>
        </p:nvSpPr>
        <p:spPr>
          <a:xfrm>
            <a:off x="8622792" y="3995928"/>
            <a:ext cx="457200" cy="0"/>
          </a:xfrm>
          <a:prstGeom prst="line">
            <a:avLst/>
          </a:prstGeom>
          <a:noFill/>
          <a:ln w="38100">
            <a:solidFill>
              <a:srgbClr val="D65B35"/>
            </a:solidFill>
            <a:prstDash val="solid"/>
          </a:ln>
        </p:spPr>
      </p:sp>
      <p:sp>
        <p:nvSpPr>
          <p:cNvPr id="20" name="Shape 17"/>
          <p:cNvSpPr/>
          <p:nvPr/>
        </p:nvSpPr>
        <p:spPr>
          <a:xfrm>
            <a:off x="9107424" y="3337560"/>
            <a:ext cx="2331720" cy="1325880"/>
          </a:xfrm>
          <a:prstGeom prst="roundRect">
            <a:avLst>
              <a:gd name="adj" fmla="val 7586"/>
            </a:avLst>
          </a:prstGeom>
          <a:solidFill>
            <a:srgbClr val="FFFDF6"/>
          </a:solidFill>
          <a:ln w="12700">
            <a:solidFill>
              <a:srgbClr val="D4CEBE"/>
            </a:solidFill>
            <a:prstDash val="solid"/>
          </a:ln>
        </p:spPr>
      </p:sp>
      <p:sp>
        <p:nvSpPr>
          <p:cNvPr id="21" name="Text 18"/>
          <p:cNvSpPr/>
          <p:nvPr/>
        </p:nvSpPr>
        <p:spPr>
          <a:xfrm>
            <a:off x="9272016" y="3493008"/>
            <a:ext cx="411480"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04</a:t>
            </a:r>
            <a:endParaRPr lang="en-US" sz="950" dirty="0"/>
          </a:p>
        </p:txBody>
      </p:sp>
      <p:sp>
        <p:nvSpPr>
          <p:cNvPr id="22" name="Text 19"/>
          <p:cNvSpPr/>
          <p:nvPr/>
        </p:nvSpPr>
        <p:spPr>
          <a:xfrm>
            <a:off x="9336024" y="3822192"/>
            <a:ext cx="1874520" cy="438912"/>
          </a:xfrm>
          <a:prstGeom prst="rect">
            <a:avLst/>
          </a:prstGeom>
          <a:noFill/>
          <a:ln/>
        </p:spPr>
        <p:txBody>
          <a:bodyPr wrap="square" lIns="0" tIns="0" rIns="0" bIns="0" rtlCol="0" anchor="ctr">
            <a:normAutofit/>
          </a:bodyPr>
          <a:lstStyle/>
          <a:p>
            <a:pPr algn="ctr" indent="0" marL="0">
              <a:buNone/>
            </a:pPr>
            <a:r>
              <a:rPr lang="en-US" sz="1800" b="1" dirty="0">
                <a:solidFill>
                  <a:srgbClr val="171A16"/>
                </a:solidFill>
                <a:latin typeface="Liberation Sans" pitchFamily="34" charset="0"/>
                <a:ea typeface="Liberation Sans" pitchFamily="34" charset="-122"/>
                <a:cs typeface="Liberation Sans" pitchFamily="34" charset="-120"/>
              </a:rPr>
              <a:t>Your application</a:t>
            </a:r>
            <a:endParaRPr lang="en-US" sz="1800" dirty="0"/>
          </a:p>
        </p:txBody>
      </p:sp>
      <p:sp>
        <p:nvSpPr>
          <p:cNvPr id="23" name="Text 20"/>
          <p:cNvSpPr/>
          <p:nvPr/>
        </p:nvSpPr>
        <p:spPr>
          <a:xfrm>
            <a:off x="603504" y="5367528"/>
            <a:ext cx="10972800" cy="475488"/>
          </a:xfrm>
          <a:prstGeom prst="rect">
            <a:avLst/>
          </a:prstGeom>
          <a:noFill/>
          <a:ln/>
        </p:spPr>
        <p:txBody>
          <a:bodyPr wrap="square" lIns="0" tIns="0" rIns="0" bIns="0" rtlCol="0" anchor="ctr">
            <a:normAutofit/>
          </a:bodyPr>
          <a:lstStyle/>
          <a:p>
            <a:pPr algn="ctr" indent="0" marL="0">
              <a:buNone/>
            </a:pPr>
            <a:r>
              <a:rPr lang="en-US" sz="1800" b="1" dirty="0">
                <a:solidFill>
                  <a:srgbClr val="34735B"/>
                </a:solidFill>
                <a:latin typeface="Liberation Sans" pitchFamily="34" charset="0"/>
                <a:ea typeface="Liberation Sans" pitchFamily="34" charset="-122"/>
                <a:cs typeface="Liberation Sans" pitchFamily="34" charset="-120"/>
              </a:rPr>
              <a:t>CLI for people. API for programs. The same model stays on your machine.</a:t>
            </a:r>
            <a:endParaRPr lang="en-US" sz="18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CONTROLLED DELEGATION</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Constrain creativity. Keep authority in code.</a:t>
            </a:r>
            <a:endParaRPr lang="en-US" sz="3100" dirty="0"/>
          </a:p>
        </p:txBody>
      </p:sp>
      <p:sp>
        <p:nvSpPr>
          <p:cNvPr id="5" name="Shape 2"/>
          <p:cNvSpPr/>
          <p:nvPr/>
        </p:nvSpPr>
        <p:spPr>
          <a:xfrm>
            <a:off x="502920" y="1673352"/>
            <a:ext cx="2468880" cy="3611880"/>
          </a:xfrm>
          <a:prstGeom prst="roundRect">
            <a:avLst>
              <a:gd name="adj" fmla="val 4444"/>
            </a:avLst>
          </a:prstGeom>
          <a:solidFill>
            <a:srgbClr val="FFFDF6"/>
          </a:solidFill>
          <a:ln w="12700">
            <a:solidFill>
              <a:srgbClr val="D4CEBE"/>
            </a:solidFill>
            <a:prstDash val="solid"/>
          </a:ln>
        </p:spPr>
      </p:sp>
      <p:sp>
        <p:nvSpPr>
          <p:cNvPr id="6" name="Text 3"/>
          <p:cNvSpPr/>
          <p:nvPr/>
        </p:nvSpPr>
        <p:spPr>
          <a:xfrm>
            <a:off x="704088" y="1883664"/>
            <a:ext cx="502920" cy="502920"/>
          </a:xfrm>
          <a:prstGeom prst="rect">
            <a:avLst/>
          </a:prstGeom>
          <a:noFill/>
          <a:ln/>
        </p:spPr>
        <p:txBody>
          <a:bodyPr wrap="square" lIns="0" tIns="0" rIns="0" bIns="0" rtlCol="0" anchor="ctr">
            <a:normAutofit/>
          </a:bodyPr>
          <a:lstStyle/>
          <a:p>
            <a:pPr indent="0" marL="0">
              <a:buNone/>
            </a:pPr>
            <a:r>
              <a:rPr lang="en-US" sz="2600" b="1" dirty="0">
                <a:solidFill>
                  <a:srgbClr val="D65B35"/>
                </a:solidFill>
                <a:latin typeface="Liberation Mono" pitchFamily="34" charset="0"/>
                <a:ea typeface="Liberation Mono" pitchFamily="34" charset="-122"/>
                <a:cs typeface="Liberation Mono" pitchFamily="34" charset="-120"/>
              </a:rPr>
              <a:t>1</a:t>
            </a:r>
            <a:endParaRPr lang="en-US" sz="2600" dirty="0"/>
          </a:p>
        </p:txBody>
      </p:sp>
      <p:sp>
        <p:nvSpPr>
          <p:cNvPr id="7" name="Text 4"/>
          <p:cNvSpPr/>
          <p:nvPr/>
        </p:nvSpPr>
        <p:spPr>
          <a:xfrm>
            <a:off x="731520" y="2624328"/>
            <a:ext cx="2011680" cy="502920"/>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Stockfish</a:t>
            </a:r>
            <a:endParaRPr lang="en-US" sz="2200" dirty="0"/>
          </a:p>
        </p:txBody>
      </p:sp>
      <p:sp>
        <p:nvSpPr>
          <p:cNvPr id="8" name="Shape 5"/>
          <p:cNvSpPr/>
          <p:nvPr/>
        </p:nvSpPr>
        <p:spPr>
          <a:xfrm>
            <a:off x="731520" y="3337560"/>
            <a:ext cx="1993392" cy="0"/>
          </a:xfrm>
          <a:prstGeom prst="line">
            <a:avLst/>
          </a:prstGeom>
          <a:noFill/>
          <a:ln w="12700">
            <a:solidFill>
              <a:srgbClr val="D4CEBE"/>
            </a:solidFill>
            <a:prstDash val="solid"/>
          </a:ln>
        </p:spPr>
      </p:sp>
      <p:sp>
        <p:nvSpPr>
          <p:cNvPr id="9" name="Text 6"/>
          <p:cNvSpPr/>
          <p:nvPr/>
        </p:nvSpPr>
        <p:spPr>
          <a:xfrm>
            <a:off x="731520" y="3611880"/>
            <a:ext cx="1965960" cy="1143000"/>
          </a:xfrm>
          <a:prstGeom prst="rect">
            <a:avLst/>
          </a:prstGeom>
          <a:noFill/>
          <a:ln/>
        </p:spPr>
        <p:txBody>
          <a:bodyPr wrap="square" lIns="0" tIns="0" rIns="0" bIns="0" rtlCol="0" anchor="t">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Proposes up to 5 credible legal moves</a:t>
            </a:r>
            <a:endParaRPr lang="en-US" sz="1550" dirty="0"/>
          </a:p>
        </p:txBody>
      </p:sp>
      <p:sp>
        <p:nvSpPr>
          <p:cNvPr id="10" name="Shape 7"/>
          <p:cNvSpPr/>
          <p:nvPr/>
        </p:nvSpPr>
        <p:spPr>
          <a:xfrm>
            <a:off x="3044952" y="3063240"/>
            <a:ext cx="256032" cy="502920"/>
          </a:xfrm>
          <a:prstGeom prst="chevron">
            <a:avLst/>
          </a:prstGeom>
          <a:solidFill>
            <a:srgbClr val="171A16"/>
          </a:solidFill>
          <a:ln w="12700">
            <a:solidFill>
              <a:srgbClr val="171A16"/>
            </a:solidFill>
            <a:prstDash val="solid"/>
          </a:ln>
        </p:spPr>
      </p:sp>
      <p:sp>
        <p:nvSpPr>
          <p:cNvPr id="11" name="Shape 8"/>
          <p:cNvSpPr/>
          <p:nvPr/>
        </p:nvSpPr>
        <p:spPr>
          <a:xfrm>
            <a:off x="3383280" y="1673352"/>
            <a:ext cx="2468880" cy="3611880"/>
          </a:xfrm>
          <a:prstGeom prst="roundRect">
            <a:avLst>
              <a:gd name="adj" fmla="val 4444"/>
            </a:avLst>
          </a:prstGeom>
          <a:solidFill>
            <a:srgbClr val="D65B35"/>
          </a:solidFill>
          <a:ln w="12700">
            <a:solidFill>
              <a:srgbClr val="D65B35">
                <a:alpha val="0"/>
              </a:srgbClr>
            </a:solidFill>
            <a:prstDash val="solid"/>
          </a:ln>
        </p:spPr>
      </p:sp>
      <p:sp>
        <p:nvSpPr>
          <p:cNvPr id="12" name="Text 9"/>
          <p:cNvSpPr/>
          <p:nvPr/>
        </p:nvSpPr>
        <p:spPr>
          <a:xfrm>
            <a:off x="3584448" y="1883664"/>
            <a:ext cx="502920" cy="502920"/>
          </a:xfrm>
          <a:prstGeom prst="rect">
            <a:avLst/>
          </a:prstGeom>
          <a:noFill/>
          <a:ln/>
        </p:spPr>
        <p:txBody>
          <a:bodyPr wrap="square" lIns="0" tIns="0" rIns="0" bIns="0" rtlCol="0" anchor="ctr">
            <a:normAutofit/>
          </a:bodyPr>
          <a:lstStyle/>
          <a:p>
            <a:pPr indent="0" marL="0">
              <a:buNone/>
            </a:pPr>
            <a:r>
              <a:rPr lang="en-US" sz="2600" b="1" dirty="0">
                <a:solidFill>
                  <a:srgbClr val="FFFDF7"/>
                </a:solidFill>
                <a:latin typeface="Liberation Mono" pitchFamily="34" charset="0"/>
                <a:ea typeface="Liberation Mono" pitchFamily="34" charset="-122"/>
                <a:cs typeface="Liberation Mono" pitchFamily="34" charset="-120"/>
              </a:rPr>
              <a:t>2</a:t>
            </a:r>
            <a:endParaRPr lang="en-US" sz="2600" dirty="0"/>
          </a:p>
        </p:txBody>
      </p:sp>
      <p:sp>
        <p:nvSpPr>
          <p:cNvPr id="13" name="Text 10"/>
          <p:cNvSpPr/>
          <p:nvPr/>
        </p:nvSpPr>
        <p:spPr>
          <a:xfrm>
            <a:off x="3611880" y="2624328"/>
            <a:ext cx="2011680" cy="502920"/>
          </a:xfrm>
          <a:prstGeom prst="rect">
            <a:avLst/>
          </a:prstGeom>
          <a:noFill/>
          <a:ln/>
        </p:spPr>
        <p:txBody>
          <a:bodyPr wrap="square" lIns="0" tIns="0" rIns="0" bIns="0" rtlCol="0" anchor="ctr">
            <a:normAutofit/>
          </a:bodyPr>
          <a:lstStyle/>
          <a:p>
            <a:pPr indent="0" marL="0">
              <a:buNone/>
            </a:pPr>
            <a:r>
              <a:rPr lang="en-US" sz="2200" b="1" dirty="0">
                <a:solidFill>
                  <a:srgbClr val="FFFDF7"/>
                </a:solidFill>
                <a:latin typeface="Liberation Sans" pitchFamily="34" charset="0"/>
                <a:ea typeface="Liberation Sans" pitchFamily="34" charset="-122"/>
                <a:cs typeface="Liberation Sans" pitchFamily="34" charset="-120"/>
              </a:rPr>
              <a:t>Qwen3-4B</a:t>
            </a:r>
            <a:endParaRPr lang="en-US" sz="2200" dirty="0"/>
          </a:p>
        </p:txBody>
      </p:sp>
      <p:sp>
        <p:nvSpPr>
          <p:cNvPr id="14" name="Shape 11"/>
          <p:cNvSpPr/>
          <p:nvPr/>
        </p:nvSpPr>
        <p:spPr>
          <a:xfrm>
            <a:off x="3611880" y="3337560"/>
            <a:ext cx="1993392" cy="0"/>
          </a:xfrm>
          <a:prstGeom prst="line">
            <a:avLst/>
          </a:prstGeom>
          <a:noFill/>
          <a:ln w="12700">
            <a:solidFill>
              <a:srgbClr val="EEB19B"/>
            </a:solidFill>
            <a:prstDash val="solid"/>
          </a:ln>
        </p:spPr>
      </p:sp>
      <p:sp>
        <p:nvSpPr>
          <p:cNvPr id="15" name="Text 12"/>
          <p:cNvSpPr/>
          <p:nvPr/>
        </p:nvSpPr>
        <p:spPr>
          <a:xfrm>
            <a:off x="3611880" y="3611880"/>
            <a:ext cx="1965960" cy="1143000"/>
          </a:xfrm>
          <a:prstGeom prst="rect">
            <a:avLst/>
          </a:prstGeom>
          <a:noFill/>
          <a:ln/>
        </p:spPr>
        <p:txBody>
          <a:bodyPr wrap="square" lIns="0" tIns="0" rIns="0" bIns="0" rtlCol="0" anchor="t">
            <a:normAutofit/>
          </a:bodyPr>
          <a:lstStyle/>
          <a:p>
            <a:pPr indent="0" marL="0">
              <a:buNone/>
            </a:pPr>
            <a:r>
              <a:rPr lang="en-US" sz="1550" dirty="0">
                <a:solidFill>
                  <a:srgbClr val="FFFDF7"/>
                </a:solidFill>
                <a:latin typeface="Liberation Sans" pitchFamily="34" charset="0"/>
                <a:ea typeface="Liberation Sans" pitchFamily="34" charset="-122"/>
                <a:cs typeface="Liberation Sans" pitchFamily="34" charset="-120"/>
              </a:rPr>
              <a:t>Makes the stochastic choice + commentary</a:t>
            </a:r>
            <a:endParaRPr lang="en-US" sz="1550" dirty="0"/>
          </a:p>
        </p:txBody>
      </p:sp>
      <p:sp>
        <p:nvSpPr>
          <p:cNvPr id="16" name="Shape 13"/>
          <p:cNvSpPr/>
          <p:nvPr/>
        </p:nvSpPr>
        <p:spPr>
          <a:xfrm>
            <a:off x="5925312" y="3063240"/>
            <a:ext cx="256032" cy="502920"/>
          </a:xfrm>
          <a:prstGeom prst="chevron">
            <a:avLst/>
          </a:prstGeom>
          <a:solidFill>
            <a:srgbClr val="171A16"/>
          </a:solidFill>
          <a:ln w="12700">
            <a:solidFill>
              <a:srgbClr val="171A16"/>
            </a:solidFill>
            <a:prstDash val="solid"/>
          </a:ln>
        </p:spPr>
      </p:sp>
      <p:sp>
        <p:nvSpPr>
          <p:cNvPr id="17" name="Shape 14"/>
          <p:cNvSpPr/>
          <p:nvPr/>
        </p:nvSpPr>
        <p:spPr>
          <a:xfrm>
            <a:off x="6263640" y="1673352"/>
            <a:ext cx="2468880" cy="3611880"/>
          </a:xfrm>
          <a:prstGeom prst="roundRect">
            <a:avLst>
              <a:gd name="adj" fmla="val 4444"/>
            </a:avLst>
          </a:prstGeom>
          <a:solidFill>
            <a:srgbClr val="34735B"/>
          </a:solidFill>
          <a:ln w="12700">
            <a:solidFill>
              <a:srgbClr val="34735B">
                <a:alpha val="0"/>
              </a:srgbClr>
            </a:solidFill>
            <a:prstDash val="solid"/>
          </a:ln>
        </p:spPr>
      </p:sp>
      <p:sp>
        <p:nvSpPr>
          <p:cNvPr id="18" name="Text 15"/>
          <p:cNvSpPr/>
          <p:nvPr/>
        </p:nvSpPr>
        <p:spPr>
          <a:xfrm>
            <a:off x="6464808" y="1883664"/>
            <a:ext cx="502920" cy="502920"/>
          </a:xfrm>
          <a:prstGeom prst="rect">
            <a:avLst/>
          </a:prstGeom>
          <a:noFill/>
          <a:ln/>
        </p:spPr>
        <p:txBody>
          <a:bodyPr wrap="square" lIns="0" tIns="0" rIns="0" bIns="0" rtlCol="0" anchor="ctr">
            <a:normAutofit/>
          </a:bodyPr>
          <a:lstStyle/>
          <a:p>
            <a:pPr indent="0" marL="0">
              <a:buNone/>
            </a:pPr>
            <a:r>
              <a:rPr lang="en-US" sz="2600" b="1" dirty="0">
                <a:solidFill>
                  <a:srgbClr val="FFFDF7"/>
                </a:solidFill>
                <a:latin typeface="Liberation Mono" pitchFamily="34" charset="0"/>
                <a:ea typeface="Liberation Mono" pitchFamily="34" charset="-122"/>
                <a:cs typeface="Liberation Mono" pitchFamily="34" charset="-120"/>
              </a:rPr>
              <a:t>3</a:t>
            </a:r>
            <a:endParaRPr lang="en-US" sz="2600" dirty="0"/>
          </a:p>
        </p:txBody>
      </p:sp>
      <p:sp>
        <p:nvSpPr>
          <p:cNvPr id="19" name="Text 16"/>
          <p:cNvSpPr/>
          <p:nvPr/>
        </p:nvSpPr>
        <p:spPr>
          <a:xfrm>
            <a:off x="6492240" y="2624328"/>
            <a:ext cx="2011680" cy="502920"/>
          </a:xfrm>
          <a:prstGeom prst="rect">
            <a:avLst/>
          </a:prstGeom>
          <a:noFill/>
          <a:ln/>
        </p:spPr>
        <p:txBody>
          <a:bodyPr wrap="square" lIns="0" tIns="0" rIns="0" bIns="0" rtlCol="0" anchor="ctr">
            <a:normAutofit/>
          </a:bodyPr>
          <a:lstStyle/>
          <a:p>
            <a:pPr indent="0" marL="0">
              <a:buNone/>
            </a:pPr>
            <a:r>
              <a:rPr lang="en-US" sz="2200" b="1" dirty="0">
                <a:solidFill>
                  <a:srgbClr val="FFFDF7"/>
                </a:solidFill>
                <a:latin typeface="Liberation Sans" pitchFamily="34" charset="0"/>
                <a:ea typeface="Liberation Sans" pitchFamily="34" charset="-122"/>
                <a:cs typeface="Liberation Sans" pitchFamily="34" charset="-120"/>
              </a:rPr>
              <a:t>Gateway</a:t>
            </a:r>
            <a:endParaRPr lang="en-US" sz="2200" dirty="0"/>
          </a:p>
        </p:txBody>
      </p:sp>
      <p:sp>
        <p:nvSpPr>
          <p:cNvPr id="20" name="Shape 17"/>
          <p:cNvSpPr/>
          <p:nvPr/>
        </p:nvSpPr>
        <p:spPr>
          <a:xfrm>
            <a:off x="6492240" y="3337560"/>
            <a:ext cx="1993392" cy="0"/>
          </a:xfrm>
          <a:prstGeom prst="line">
            <a:avLst/>
          </a:prstGeom>
          <a:noFill/>
          <a:ln w="12700">
            <a:solidFill>
              <a:srgbClr val="EEB19B"/>
            </a:solidFill>
            <a:prstDash val="solid"/>
          </a:ln>
        </p:spPr>
      </p:sp>
      <p:sp>
        <p:nvSpPr>
          <p:cNvPr id="21" name="Text 18"/>
          <p:cNvSpPr/>
          <p:nvPr/>
        </p:nvSpPr>
        <p:spPr>
          <a:xfrm>
            <a:off x="6492240" y="3611880"/>
            <a:ext cx="1965960" cy="1143000"/>
          </a:xfrm>
          <a:prstGeom prst="rect">
            <a:avLst/>
          </a:prstGeom>
          <a:noFill/>
          <a:ln/>
        </p:spPr>
        <p:txBody>
          <a:bodyPr wrap="square" lIns="0" tIns="0" rIns="0" bIns="0" rtlCol="0" anchor="t">
            <a:normAutofit/>
          </a:bodyPr>
          <a:lstStyle/>
          <a:p>
            <a:pPr indent="0" marL="0">
              <a:buNone/>
            </a:pPr>
            <a:r>
              <a:rPr lang="en-US" sz="1550" dirty="0">
                <a:solidFill>
                  <a:srgbClr val="FFFDF7"/>
                </a:solidFill>
                <a:latin typeface="Liberation Sans" pitchFamily="34" charset="0"/>
                <a:ea typeface="Liberation Sans" pitchFamily="34" charset="-122"/>
                <a:cs typeface="Liberation Sans" pitchFamily="34" charset="-120"/>
              </a:rPr>
              <a:t>Validates schema, candidate, and game state</a:t>
            </a:r>
            <a:endParaRPr lang="en-US" sz="1550" dirty="0"/>
          </a:p>
        </p:txBody>
      </p:sp>
      <p:sp>
        <p:nvSpPr>
          <p:cNvPr id="22" name="Shape 19"/>
          <p:cNvSpPr/>
          <p:nvPr/>
        </p:nvSpPr>
        <p:spPr>
          <a:xfrm>
            <a:off x="8805672" y="3063240"/>
            <a:ext cx="256032" cy="502920"/>
          </a:xfrm>
          <a:prstGeom prst="chevron">
            <a:avLst/>
          </a:prstGeom>
          <a:solidFill>
            <a:srgbClr val="171A16"/>
          </a:solidFill>
          <a:ln w="12700">
            <a:solidFill>
              <a:srgbClr val="171A16"/>
            </a:solidFill>
            <a:prstDash val="solid"/>
          </a:ln>
        </p:spPr>
      </p:sp>
      <p:sp>
        <p:nvSpPr>
          <p:cNvPr id="23" name="Shape 20"/>
          <p:cNvSpPr/>
          <p:nvPr/>
        </p:nvSpPr>
        <p:spPr>
          <a:xfrm>
            <a:off x="9144000" y="1673352"/>
            <a:ext cx="2468880" cy="3611880"/>
          </a:xfrm>
          <a:prstGeom prst="roundRect">
            <a:avLst>
              <a:gd name="adj" fmla="val 4444"/>
            </a:avLst>
          </a:prstGeom>
          <a:solidFill>
            <a:srgbClr val="FFFDF6"/>
          </a:solidFill>
          <a:ln w="12700">
            <a:solidFill>
              <a:srgbClr val="D4CEBE"/>
            </a:solidFill>
            <a:prstDash val="solid"/>
          </a:ln>
        </p:spPr>
      </p:sp>
      <p:sp>
        <p:nvSpPr>
          <p:cNvPr id="24" name="Text 21"/>
          <p:cNvSpPr/>
          <p:nvPr/>
        </p:nvSpPr>
        <p:spPr>
          <a:xfrm>
            <a:off x="9345168" y="1883664"/>
            <a:ext cx="502920" cy="502920"/>
          </a:xfrm>
          <a:prstGeom prst="rect">
            <a:avLst/>
          </a:prstGeom>
          <a:noFill/>
          <a:ln/>
        </p:spPr>
        <p:txBody>
          <a:bodyPr wrap="square" lIns="0" tIns="0" rIns="0" bIns="0" rtlCol="0" anchor="ctr">
            <a:normAutofit/>
          </a:bodyPr>
          <a:lstStyle/>
          <a:p>
            <a:pPr indent="0" marL="0">
              <a:buNone/>
            </a:pPr>
            <a:r>
              <a:rPr lang="en-US" sz="2600" b="1" dirty="0">
                <a:solidFill>
                  <a:srgbClr val="D65B35"/>
                </a:solidFill>
                <a:latin typeface="Liberation Mono" pitchFamily="34" charset="0"/>
                <a:ea typeface="Liberation Mono" pitchFamily="34" charset="-122"/>
                <a:cs typeface="Liberation Mono" pitchFamily="34" charset="-120"/>
              </a:rPr>
              <a:t>4</a:t>
            </a:r>
            <a:endParaRPr lang="en-US" sz="2600" dirty="0"/>
          </a:p>
        </p:txBody>
      </p:sp>
      <p:sp>
        <p:nvSpPr>
          <p:cNvPr id="25" name="Text 22"/>
          <p:cNvSpPr/>
          <p:nvPr/>
        </p:nvSpPr>
        <p:spPr>
          <a:xfrm>
            <a:off x="9372600" y="2624328"/>
            <a:ext cx="2011680" cy="502920"/>
          </a:xfrm>
          <a:prstGeom prst="rect">
            <a:avLst/>
          </a:prstGeom>
          <a:noFill/>
          <a:ln/>
        </p:spPr>
        <p:txBody>
          <a:bodyPr wrap="square" lIns="0" tIns="0" rIns="0" bIns="0" rtlCol="0" anchor="ctr">
            <a:normAutofit/>
          </a:bodyPr>
          <a:lstStyle/>
          <a:p>
            <a:pPr indent="0" marL="0">
              <a:buNone/>
            </a:pPr>
            <a:r>
              <a:rPr lang="en-US" sz="2200" b="1" dirty="0">
                <a:solidFill>
                  <a:srgbClr val="171A16"/>
                </a:solidFill>
                <a:latin typeface="Liberation Sans" pitchFamily="34" charset="0"/>
                <a:ea typeface="Liberation Sans" pitchFamily="34" charset="-122"/>
                <a:cs typeface="Liberation Sans" pitchFamily="34" charset="-120"/>
              </a:rPr>
              <a:t>SQLite</a:t>
            </a:r>
            <a:endParaRPr lang="en-US" sz="2200" dirty="0"/>
          </a:p>
        </p:txBody>
      </p:sp>
      <p:sp>
        <p:nvSpPr>
          <p:cNvPr id="26" name="Shape 23"/>
          <p:cNvSpPr/>
          <p:nvPr/>
        </p:nvSpPr>
        <p:spPr>
          <a:xfrm>
            <a:off x="9372600" y="3337560"/>
            <a:ext cx="1993392" cy="0"/>
          </a:xfrm>
          <a:prstGeom prst="line">
            <a:avLst/>
          </a:prstGeom>
          <a:noFill/>
          <a:ln w="12700">
            <a:solidFill>
              <a:srgbClr val="D4CEBE"/>
            </a:solidFill>
            <a:prstDash val="solid"/>
          </a:ln>
        </p:spPr>
      </p:sp>
      <p:sp>
        <p:nvSpPr>
          <p:cNvPr id="27" name="Text 24"/>
          <p:cNvSpPr/>
          <p:nvPr/>
        </p:nvSpPr>
        <p:spPr>
          <a:xfrm>
            <a:off x="9372600" y="3611880"/>
            <a:ext cx="1965960" cy="1143000"/>
          </a:xfrm>
          <a:prstGeom prst="rect">
            <a:avLst/>
          </a:prstGeom>
          <a:noFill/>
          <a:ln/>
        </p:spPr>
        <p:txBody>
          <a:bodyPr wrap="square" lIns="0" tIns="0" rIns="0" bIns="0" rtlCol="0" anchor="t">
            <a:normAutofit/>
          </a:bodyPr>
          <a:lstStyle/>
          <a:p>
            <a:pPr indent="0" marL="0">
              <a:buNone/>
            </a:pPr>
            <a:r>
              <a:rPr lang="en-US" sz="1550" dirty="0">
                <a:solidFill>
                  <a:srgbClr val="62695D"/>
                </a:solidFill>
                <a:latin typeface="Liberation Sans" pitchFamily="34" charset="0"/>
                <a:ea typeface="Liberation Sans" pitchFamily="34" charset="-122"/>
                <a:cs typeface="Liberation Sans" pitchFamily="34" charset="-120"/>
              </a:rPr>
              <a:t>Saves the move and visible evidence</a:t>
            </a:r>
            <a:endParaRPr lang="en-US" sz="1550" dirty="0"/>
          </a:p>
        </p:txBody>
      </p:sp>
      <p:sp>
        <p:nvSpPr>
          <p:cNvPr id="28" name="Text 25"/>
          <p:cNvSpPr/>
          <p:nvPr/>
        </p:nvSpPr>
        <p:spPr>
          <a:xfrm>
            <a:off x="603504" y="5751576"/>
            <a:ext cx="10972800" cy="365760"/>
          </a:xfrm>
          <a:prstGeom prst="rect">
            <a:avLst/>
          </a:prstGeom>
          <a:noFill/>
          <a:ln/>
        </p:spPr>
        <p:txBody>
          <a:bodyPr wrap="square" lIns="0" tIns="0" rIns="0" bIns="0" rtlCol="0" anchor="ctr">
            <a:normAutofit/>
          </a:bodyPr>
          <a:lstStyle/>
          <a:p>
            <a:pPr algn="ctr" indent="0" marL="0">
              <a:buNone/>
            </a:pPr>
            <a:r>
              <a:rPr lang="en-US" sz="1700" b="1" dirty="0">
                <a:solidFill>
                  <a:srgbClr val="34735B"/>
                </a:solidFill>
                <a:latin typeface="Liberation Sans" pitchFamily="34" charset="0"/>
                <a:ea typeface="Liberation Sans" pitchFamily="34" charset="-122"/>
                <a:cs typeface="Liberation Sans" pitchFamily="34" charset="-120"/>
              </a:rPr>
              <a:t>The model chooses every AI move. It cannot invent an illegal one.</a:t>
            </a:r>
            <a:endParaRPr lang="en-US" sz="17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LIVE ON AN RTX 4060</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Watch one local decision travel through the stack</a:t>
            </a:r>
            <a:endParaRPr lang="en-US" sz="3100" dirty="0"/>
          </a:p>
        </p:txBody>
      </p:sp>
      <p:sp>
        <p:nvSpPr>
          <p:cNvPr id="5" name="Shape 2"/>
          <p:cNvSpPr/>
          <p:nvPr/>
        </p:nvSpPr>
        <p:spPr>
          <a:xfrm>
            <a:off x="594360" y="1527048"/>
            <a:ext cx="6583680" cy="4526280"/>
          </a:xfrm>
          <a:prstGeom prst="roundRect">
            <a:avLst>
              <a:gd name="adj" fmla="val 2828"/>
            </a:avLst>
          </a:prstGeom>
          <a:solidFill>
            <a:srgbClr val="11140F"/>
          </a:solidFill>
          <a:ln w="12700">
            <a:solidFill>
              <a:srgbClr val="11140F">
                <a:alpha val="0"/>
              </a:srgbClr>
            </a:solidFill>
            <a:prstDash val="solid"/>
          </a:ln>
        </p:spPr>
      </p:sp>
      <p:sp>
        <p:nvSpPr>
          <p:cNvPr id="6" name="Shape 3"/>
          <p:cNvSpPr/>
          <p:nvPr/>
        </p:nvSpPr>
        <p:spPr>
          <a:xfrm>
            <a:off x="886968" y="1810512"/>
            <a:ext cx="476631" cy="476631"/>
          </a:xfrm>
          <a:prstGeom prst="rect">
            <a:avLst/>
          </a:prstGeom>
          <a:solidFill>
            <a:srgbClr val="E5DCC8"/>
          </a:solidFill>
          <a:ln w="12700">
            <a:solidFill>
              <a:srgbClr val="E5DCC8">
                <a:alpha val="0"/>
              </a:srgbClr>
            </a:solidFill>
            <a:prstDash val="solid"/>
          </a:ln>
        </p:spPr>
      </p:sp>
      <p:sp>
        <p:nvSpPr>
          <p:cNvPr id="7" name="Shape 4"/>
          <p:cNvSpPr/>
          <p:nvPr/>
        </p:nvSpPr>
        <p:spPr>
          <a:xfrm>
            <a:off x="1363599" y="1810512"/>
            <a:ext cx="476631" cy="476631"/>
          </a:xfrm>
          <a:prstGeom prst="rect">
            <a:avLst/>
          </a:prstGeom>
          <a:solidFill>
            <a:srgbClr val="66735F"/>
          </a:solidFill>
          <a:ln w="12700">
            <a:solidFill>
              <a:srgbClr val="66735F">
                <a:alpha val="0"/>
              </a:srgbClr>
            </a:solidFill>
            <a:prstDash val="solid"/>
          </a:ln>
        </p:spPr>
      </p:sp>
      <p:sp>
        <p:nvSpPr>
          <p:cNvPr id="8" name="Shape 5"/>
          <p:cNvSpPr/>
          <p:nvPr/>
        </p:nvSpPr>
        <p:spPr>
          <a:xfrm>
            <a:off x="1840230" y="1810512"/>
            <a:ext cx="476631" cy="476631"/>
          </a:xfrm>
          <a:prstGeom prst="rect">
            <a:avLst/>
          </a:prstGeom>
          <a:solidFill>
            <a:srgbClr val="E5DCC8"/>
          </a:solidFill>
          <a:ln w="12700">
            <a:solidFill>
              <a:srgbClr val="E5DCC8">
                <a:alpha val="0"/>
              </a:srgbClr>
            </a:solidFill>
            <a:prstDash val="solid"/>
          </a:ln>
        </p:spPr>
      </p:sp>
      <p:sp>
        <p:nvSpPr>
          <p:cNvPr id="9" name="Shape 6"/>
          <p:cNvSpPr/>
          <p:nvPr/>
        </p:nvSpPr>
        <p:spPr>
          <a:xfrm>
            <a:off x="2316861" y="1810512"/>
            <a:ext cx="476631" cy="476631"/>
          </a:xfrm>
          <a:prstGeom prst="rect">
            <a:avLst/>
          </a:prstGeom>
          <a:solidFill>
            <a:srgbClr val="66735F"/>
          </a:solidFill>
          <a:ln w="12700">
            <a:solidFill>
              <a:srgbClr val="66735F">
                <a:alpha val="0"/>
              </a:srgbClr>
            </a:solidFill>
            <a:prstDash val="solid"/>
          </a:ln>
        </p:spPr>
      </p:sp>
      <p:sp>
        <p:nvSpPr>
          <p:cNvPr id="10" name="Shape 7"/>
          <p:cNvSpPr/>
          <p:nvPr/>
        </p:nvSpPr>
        <p:spPr>
          <a:xfrm>
            <a:off x="2793492" y="1810512"/>
            <a:ext cx="476631" cy="476631"/>
          </a:xfrm>
          <a:prstGeom prst="rect">
            <a:avLst/>
          </a:prstGeom>
          <a:solidFill>
            <a:srgbClr val="E5DCC8"/>
          </a:solidFill>
          <a:ln w="12700">
            <a:solidFill>
              <a:srgbClr val="E5DCC8">
                <a:alpha val="0"/>
              </a:srgbClr>
            </a:solidFill>
            <a:prstDash val="solid"/>
          </a:ln>
        </p:spPr>
      </p:sp>
      <p:sp>
        <p:nvSpPr>
          <p:cNvPr id="11" name="Shape 8"/>
          <p:cNvSpPr/>
          <p:nvPr/>
        </p:nvSpPr>
        <p:spPr>
          <a:xfrm>
            <a:off x="3270123" y="1810512"/>
            <a:ext cx="476631" cy="476631"/>
          </a:xfrm>
          <a:prstGeom prst="rect">
            <a:avLst/>
          </a:prstGeom>
          <a:solidFill>
            <a:srgbClr val="66735F"/>
          </a:solidFill>
          <a:ln w="12700">
            <a:solidFill>
              <a:srgbClr val="66735F">
                <a:alpha val="0"/>
              </a:srgbClr>
            </a:solidFill>
            <a:prstDash val="solid"/>
          </a:ln>
        </p:spPr>
      </p:sp>
      <p:sp>
        <p:nvSpPr>
          <p:cNvPr id="12" name="Shape 9"/>
          <p:cNvSpPr/>
          <p:nvPr/>
        </p:nvSpPr>
        <p:spPr>
          <a:xfrm>
            <a:off x="3746754" y="1810512"/>
            <a:ext cx="476631" cy="476631"/>
          </a:xfrm>
          <a:prstGeom prst="rect">
            <a:avLst/>
          </a:prstGeom>
          <a:solidFill>
            <a:srgbClr val="E5DCC8"/>
          </a:solidFill>
          <a:ln w="12700">
            <a:solidFill>
              <a:srgbClr val="E5DCC8">
                <a:alpha val="0"/>
              </a:srgbClr>
            </a:solidFill>
            <a:prstDash val="solid"/>
          </a:ln>
        </p:spPr>
      </p:sp>
      <p:sp>
        <p:nvSpPr>
          <p:cNvPr id="13" name="Shape 10"/>
          <p:cNvSpPr/>
          <p:nvPr/>
        </p:nvSpPr>
        <p:spPr>
          <a:xfrm>
            <a:off x="4223385" y="1810512"/>
            <a:ext cx="476631" cy="476631"/>
          </a:xfrm>
          <a:prstGeom prst="rect">
            <a:avLst/>
          </a:prstGeom>
          <a:solidFill>
            <a:srgbClr val="66735F"/>
          </a:solidFill>
          <a:ln w="12700">
            <a:solidFill>
              <a:srgbClr val="66735F">
                <a:alpha val="0"/>
              </a:srgbClr>
            </a:solidFill>
            <a:prstDash val="solid"/>
          </a:ln>
        </p:spPr>
      </p:sp>
      <p:sp>
        <p:nvSpPr>
          <p:cNvPr id="14" name="Shape 11"/>
          <p:cNvSpPr/>
          <p:nvPr/>
        </p:nvSpPr>
        <p:spPr>
          <a:xfrm>
            <a:off x="886968" y="2287143"/>
            <a:ext cx="476631" cy="476631"/>
          </a:xfrm>
          <a:prstGeom prst="rect">
            <a:avLst/>
          </a:prstGeom>
          <a:solidFill>
            <a:srgbClr val="66735F"/>
          </a:solidFill>
          <a:ln w="12700">
            <a:solidFill>
              <a:srgbClr val="66735F">
                <a:alpha val="0"/>
              </a:srgbClr>
            </a:solidFill>
            <a:prstDash val="solid"/>
          </a:ln>
        </p:spPr>
      </p:sp>
      <p:sp>
        <p:nvSpPr>
          <p:cNvPr id="15" name="Shape 12"/>
          <p:cNvSpPr/>
          <p:nvPr/>
        </p:nvSpPr>
        <p:spPr>
          <a:xfrm>
            <a:off x="1363599" y="2287143"/>
            <a:ext cx="476631" cy="476631"/>
          </a:xfrm>
          <a:prstGeom prst="rect">
            <a:avLst/>
          </a:prstGeom>
          <a:solidFill>
            <a:srgbClr val="E5DCC8"/>
          </a:solidFill>
          <a:ln w="12700">
            <a:solidFill>
              <a:srgbClr val="E5DCC8">
                <a:alpha val="0"/>
              </a:srgbClr>
            </a:solidFill>
            <a:prstDash val="solid"/>
          </a:ln>
        </p:spPr>
      </p:sp>
      <p:sp>
        <p:nvSpPr>
          <p:cNvPr id="16" name="Shape 13"/>
          <p:cNvSpPr/>
          <p:nvPr/>
        </p:nvSpPr>
        <p:spPr>
          <a:xfrm>
            <a:off x="1840230" y="2287143"/>
            <a:ext cx="476631" cy="476631"/>
          </a:xfrm>
          <a:prstGeom prst="rect">
            <a:avLst/>
          </a:prstGeom>
          <a:solidFill>
            <a:srgbClr val="66735F"/>
          </a:solidFill>
          <a:ln w="12700">
            <a:solidFill>
              <a:srgbClr val="66735F">
                <a:alpha val="0"/>
              </a:srgbClr>
            </a:solidFill>
            <a:prstDash val="solid"/>
          </a:ln>
        </p:spPr>
      </p:sp>
      <p:sp>
        <p:nvSpPr>
          <p:cNvPr id="17" name="Shape 14"/>
          <p:cNvSpPr/>
          <p:nvPr/>
        </p:nvSpPr>
        <p:spPr>
          <a:xfrm>
            <a:off x="2316861" y="2287143"/>
            <a:ext cx="476631" cy="476631"/>
          </a:xfrm>
          <a:prstGeom prst="rect">
            <a:avLst/>
          </a:prstGeom>
          <a:solidFill>
            <a:srgbClr val="E5DCC8"/>
          </a:solidFill>
          <a:ln w="12700">
            <a:solidFill>
              <a:srgbClr val="E5DCC8">
                <a:alpha val="0"/>
              </a:srgbClr>
            </a:solidFill>
            <a:prstDash val="solid"/>
          </a:ln>
        </p:spPr>
      </p:sp>
      <p:sp>
        <p:nvSpPr>
          <p:cNvPr id="18" name="Shape 15"/>
          <p:cNvSpPr/>
          <p:nvPr/>
        </p:nvSpPr>
        <p:spPr>
          <a:xfrm>
            <a:off x="2793492" y="2287143"/>
            <a:ext cx="476631" cy="476631"/>
          </a:xfrm>
          <a:prstGeom prst="rect">
            <a:avLst/>
          </a:prstGeom>
          <a:solidFill>
            <a:srgbClr val="66735F"/>
          </a:solidFill>
          <a:ln w="12700">
            <a:solidFill>
              <a:srgbClr val="66735F">
                <a:alpha val="0"/>
              </a:srgbClr>
            </a:solidFill>
            <a:prstDash val="solid"/>
          </a:ln>
        </p:spPr>
      </p:sp>
      <p:sp>
        <p:nvSpPr>
          <p:cNvPr id="19" name="Shape 16"/>
          <p:cNvSpPr/>
          <p:nvPr/>
        </p:nvSpPr>
        <p:spPr>
          <a:xfrm>
            <a:off x="3270123" y="2287143"/>
            <a:ext cx="476631" cy="476631"/>
          </a:xfrm>
          <a:prstGeom prst="rect">
            <a:avLst/>
          </a:prstGeom>
          <a:solidFill>
            <a:srgbClr val="E5DCC8"/>
          </a:solidFill>
          <a:ln w="12700">
            <a:solidFill>
              <a:srgbClr val="E5DCC8">
                <a:alpha val="0"/>
              </a:srgbClr>
            </a:solidFill>
            <a:prstDash val="solid"/>
          </a:ln>
        </p:spPr>
      </p:sp>
      <p:sp>
        <p:nvSpPr>
          <p:cNvPr id="20" name="Shape 17"/>
          <p:cNvSpPr/>
          <p:nvPr/>
        </p:nvSpPr>
        <p:spPr>
          <a:xfrm>
            <a:off x="3746754" y="2287143"/>
            <a:ext cx="476631" cy="476631"/>
          </a:xfrm>
          <a:prstGeom prst="rect">
            <a:avLst/>
          </a:prstGeom>
          <a:solidFill>
            <a:srgbClr val="66735F"/>
          </a:solidFill>
          <a:ln w="12700">
            <a:solidFill>
              <a:srgbClr val="66735F">
                <a:alpha val="0"/>
              </a:srgbClr>
            </a:solidFill>
            <a:prstDash val="solid"/>
          </a:ln>
        </p:spPr>
      </p:sp>
      <p:sp>
        <p:nvSpPr>
          <p:cNvPr id="21" name="Shape 18"/>
          <p:cNvSpPr/>
          <p:nvPr/>
        </p:nvSpPr>
        <p:spPr>
          <a:xfrm>
            <a:off x="4223385" y="2287143"/>
            <a:ext cx="476631" cy="476631"/>
          </a:xfrm>
          <a:prstGeom prst="rect">
            <a:avLst/>
          </a:prstGeom>
          <a:solidFill>
            <a:srgbClr val="E5DCC8"/>
          </a:solidFill>
          <a:ln w="12700">
            <a:solidFill>
              <a:srgbClr val="E5DCC8">
                <a:alpha val="0"/>
              </a:srgbClr>
            </a:solidFill>
            <a:prstDash val="solid"/>
          </a:ln>
        </p:spPr>
      </p:sp>
      <p:sp>
        <p:nvSpPr>
          <p:cNvPr id="22" name="Shape 19"/>
          <p:cNvSpPr/>
          <p:nvPr/>
        </p:nvSpPr>
        <p:spPr>
          <a:xfrm>
            <a:off x="886968" y="2763774"/>
            <a:ext cx="476631" cy="476631"/>
          </a:xfrm>
          <a:prstGeom prst="rect">
            <a:avLst/>
          </a:prstGeom>
          <a:solidFill>
            <a:srgbClr val="E5DCC8"/>
          </a:solidFill>
          <a:ln w="12700">
            <a:solidFill>
              <a:srgbClr val="E5DCC8">
                <a:alpha val="0"/>
              </a:srgbClr>
            </a:solidFill>
            <a:prstDash val="solid"/>
          </a:ln>
        </p:spPr>
      </p:sp>
      <p:sp>
        <p:nvSpPr>
          <p:cNvPr id="23" name="Shape 20"/>
          <p:cNvSpPr/>
          <p:nvPr/>
        </p:nvSpPr>
        <p:spPr>
          <a:xfrm>
            <a:off x="1363599" y="2763774"/>
            <a:ext cx="476631" cy="476631"/>
          </a:xfrm>
          <a:prstGeom prst="rect">
            <a:avLst/>
          </a:prstGeom>
          <a:solidFill>
            <a:srgbClr val="66735F"/>
          </a:solidFill>
          <a:ln w="12700">
            <a:solidFill>
              <a:srgbClr val="66735F">
                <a:alpha val="0"/>
              </a:srgbClr>
            </a:solidFill>
            <a:prstDash val="solid"/>
          </a:ln>
        </p:spPr>
      </p:sp>
      <p:sp>
        <p:nvSpPr>
          <p:cNvPr id="24" name="Shape 21"/>
          <p:cNvSpPr/>
          <p:nvPr/>
        </p:nvSpPr>
        <p:spPr>
          <a:xfrm>
            <a:off x="1840230" y="2763774"/>
            <a:ext cx="476631" cy="476631"/>
          </a:xfrm>
          <a:prstGeom prst="rect">
            <a:avLst/>
          </a:prstGeom>
          <a:solidFill>
            <a:srgbClr val="E5DCC8"/>
          </a:solidFill>
          <a:ln w="12700">
            <a:solidFill>
              <a:srgbClr val="E5DCC8">
                <a:alpha val="0"/>
              </a:srgbClr>
            </a:solidFill>
            <a:prstDash val="solid"/>
          </a:ln>
        </p:spPr>
      </p:sp>
      <p:sp>
        <p:nvSpPr>
          <p:cNvPr id="25" name="Shape 22"/>
          <p:cNvSpPr/>
          <p:nvPr/>
        </p:nvSpPr>
        <p:spPr>
          <a:xfrm>
            <a:off x="2316861" y="2763774"/>
            <a:ext cx="476631" cy="476631"/>
          </a:xfrm>
          <a:prstGeom prst="rect">
            <a:avLst/>
          </a:prstGeom>
          <a:solidFill>
            <a:srgbClr val="66735F"/>
          </a:solidFill>
          <a:ln w="12700">
            <a:solidFill>
              <a:srgbClr val="66735F">
                <a:alpha val="0"/>
              </a:srgbClr>
            </a:solidFill>
            <a:prstDash val="solid"/>
          </a:ln>
        </p:spPr>
      </p:sp>
      <p:sp>
        <p:nvSpPr>
          <p:cNvPr id="26" name="Shape 23"/>
          <p:cNvSpPr/>
          <p:nvPr/>
        </p:nvSpPr>
        <p:spPr>
          <a:xfrm>
            <a:off x="2793492" y="2763774"/>
            <a:ext cx="476631" cy="476631"/>
          </a:xfrm>
          <a:prstGeom prst="rect">
            <a:avLst/>
          </a:prstGeom>
          <a:solidFill>
            <a:srgbClr val="E5DCC8"/>
          </a:solidFill>
          <a:ln w="12700">
            <a:solidFill>
              <a:srgbClr val="E5DCC8">
                <a:alpha val="0"/>
              </a:srgbClr>
            </a:solidFill>
            <a:prstDash val="solid"/>
          </a:ln>
        </p:spPr>
      </p:sp>
      <p:sp>
        <p:nvSpPr>
          <p:cNvPr id="27" name="Shape 24"/>
          <p:cNvSpPr/>
          <p:nvPr/>
        </p:nvSpPr>
        <p:spPr>
          <a:xfrm>
            <a:off x="3270123" y="2763774"/>
            <a:ext cx="476631" cy="476631"/>
          </a:xfrm>
          <a:prstGeom prst="rect">
            <a:avLst/>
          </a:prstGeom>
          <a:solidFill>
            <a:srgbClr val="66735F"/>
          </a:solidFill>
          <a:ln w="12700">
            <a:solidFill>
              <a:srgbClr val="66735F">
                <a:alpha val="0"/>
              </a:srgbClr>
            </a:solidFill>
            <a:prstDash val="solid"/>
          </a:ln>
        </p:spPr>
      </p:sp>
      <p:sp>
        <p:nvSpPr>
          <p:cNvPr id="28" name="Shape 25"/>
          <p:cNvSpPr/>
          <p:nvPr/>
        </p:nvSpPr>
        <p:spPr>
          <a:xfrm>
            <a:off x="3746754" y="2763774"/>
            <a:ext cx="476631" cy="476631"/>
          </a:xfrm>
          <a:prstGeom prst="rect">
            <a:avLst/>
          </a:prstGeom>
          <a:solidFill>
            <a:srgbClr val="E5DCC8"/>
          </a:solidFill>
          <a:ln w="12700">
            <a:solidFill>
              <a:srgbClr val="E5DCC8">
                <a:alpha val="0"/>
              </a:srgbClr>
            </a:solidFill>
            <a:prstDash val="solid"/>
          </a:ln>
        </p:spPr>
      </p:sp>
      <p:sp>
        <p:nvSpPr>
          <p:cNvPr id="29" name="Shape 26"/>
          <p:cNvSpPr/>
          <p:nvPr/>
        </p:nvSpPr>
        <p:spPr>
          <a:xfrm>
            <a:off x="4223385" y="2763774"/>
            <a:ext cx="476631" cy="476631"/>
          </a:xfrm>
          <a:prstGeom prst="rect">
            <a:avLst/>
          </a:prstGeom>
          <a:solidFill>
            <a:srgbClr val="66735F"/>
          </a:solidFill>
          <a:ln w="12700">
            <a:solidFill>
              <a:srgbClr val="66735F">
                <a:alpha val="0"/>
              </a:srgbClr>
            </a:solidFill>
            <a:prstDash val="solid"/>
          </a:ln>
        </p:spPr>
      </p:sp>
      <p:sp>
        <p:nvSpPr>
          <p:cNvPr id="30" name="Shape 27"/>
          <p:cNvSpPr/>
          <p:nvPr/>
        </p:nvSpPr>
        <p:spPr>
          <a:xfrm>
            <a:off x="886968" y="3240405"/>
            <a:ext cx="476631" cy="476631"/>
          </a:xfrm>
          <a:prstGeom prst="rect">
            <a:avLst/>
          </a:prstGeom>
          <a:solidFill>
            <a:srgbClr val="66735F"/>
          </a:solidFill>
          <a:ln w="12700">
            <a:solidFill>
              <a:srgbClr val="66735F">
                <a:alpha val="0"/>
              </a:srgbClr>
            </a:solidFill>
            <a:prstDash val="solid"/>
          </a:ln>
        </p:spPr>
      </p:sp>
      <p:sp>
        <p:nvSpPr>
          <p:cNvPr id="31" name="Shape 28"/>
          <p:cNvSpPr/>
          <p:nvPr/>
        </p:nvSpPr>
        <p:spPr>
          <a:xfrm>
            <a:off x="1363599" y="3240405"/>
            <a:ext cx="476631" cy="476631"/>
          </a:xfrm>
          <a:prstGeom prst="rect">
            <a:avLst/>
          </a:prstGeom>
          <a:solidFill>
            <a:srgbClr val="E5DCC8"/>
          </a:solidFill>
          <a:ln w="12700">
            <a:solidFill>
              <a:srgbClr val="E5DCC8">
                <a:alpha val="0"/>
              </a:srgbClr>
            </a:solidFill>
            <a:prstDash val="solid"/>
          </a:ln>
        </p:spPr>
      </p:sp>
      <p:sp>
        <p:nvSpPr>
          <p:cNvPr id="32" name="Shape 29"/>
          <p:cNvSpPr/>
          <p:nvPr/>
        </p:nvSpPr>
        <p:spPr>
          <a:xfrm>
            <a:off x="1840230" y="3240405"/>
            <a:ext cx="476631" cy="476631"/>
          </a:xfrm>
          <a:prstGeom prst="rect">
            <a:avLst/>
          </a:prstGeom>
          <a:solidFill>
            <a:srgbClr val="66735F"/>
          </a:solidFill>
          <a:ln w="12700">
            <a:solidFill>
              <a:srgbClr val="66735F">
                <a:alpha val="0"/>
              </a:srgbClr>
            </a:solidFill>
            <a:prstDash val="solid"/>
          </a:ln>
        </p:spPr>
      </p:sp>
      <p:sp>
        <p:nvSpPr>
          <p:cNvPr id="33" name="Shape 30"/>
          <p:cNvSpPr/>
          <p:nvPr/>
        </p:nvSpPr>
        <p:spPr>
          <a:xfrm>
            <a:off x="2316861" y="3240405"/>
            <a:ext cx="476631" cy="476631"/>
          </a:xfrm>
          <a:prstGeom prst="rect">
            <a:avLst/>
          </a:prstGeom>
          <a:solidFill>
            <a:srgbClr val="E5DCC8"/>
          </a:solidFill>
          <a:ln w="12700">
            <a:solidFill>
              <a:srgbClr val="E5DCC8">
                <a:alpha val="0"/>
              </a:srgbClr>
            </a:solidFill>
            <a:prstDash val="solid"/>
          </a:ln>
        </p:spPr>
      </p:sp>
      <p:sp>
        <p:nvSpPr>
          <p:cNvPr id="34" name="Shape 31"/>
          <p:cNvSpPr/>
          <p:nvPr/>
        </p:nvSpPr>
        <p:spPr>
          <a:xfrm>
            <a:off x="2793492" y="3240405"/>
            <a:ext cx="476631" cy="476631"/>
          </a:xfrm>
          <a:prstGeom prst="rect">
            <a:avLst/>
          </a:prstGeom>
          <a:solidFill>
            <a:srgbClr val="66735F"/>
          </a:solidFill>
          <a:ln w="12700">
            <a:solidFill>
              <a:srgbClr val="66735F">
                <a:alpha val="0"/>
              </a:srgbClr>
            </a:solidFill>
            <a:prstDash val="solid"/>
          </a:ln>
        </p:spPr>
      </p:sp>
      <p:sp>
        <p:nvSpPr>
          <p:cNvPr id="35" name="Shape 32"/>
          <p:cNvSpPr/>
          <p:nvPr/>
        </p:nvSpPr>
        <p:spPr>
          <a:xfrm>
            <a:off x="3270123" y="3240405"/>
            <a:ext cx="476631" cy="476631"/>
          </a:xfrm>
          <a:prstGeom prst="rect">
            <a:avLst/>
          </a:prstGeom>
          <a:solidFill>
            <a:srgbClr val="E5DCC8"/>
          </a:solidFill>
          <a:ln w="12700">
            <a:solidFill>
              <a:srgbClr val="E5DCC8">
                <a:alpha val="0"/>
              </a:srgbClr>
            </a:solidFill>
            <a:prstDash val="solid"/>
          </a:ln>
        </p:spPr>
      </p:sp>
      <p:sp>
        <p:nvSpPr>
          <p:cNvPr id="36" name="Shape 33"/>
          <p:cNvSpPr/>
          <p:nvPr/>
        </p:nvSpPr>
        <p:spPr>
          <a:xfrm>
            <a:off x="3746754" y="3240405"/>
            <a:ext cx="476631" cy="476631"/>
          </a:xfrm>
          <a:prstGeom prst="rect">
            <a:avLst/>
          </a:prstGeom>
          <a:solidFill>
            <a:srgbClr val="66735F"/>
          </a:solidFill>
          <a:ln w="12700">
            <a:solidFill>
              <a:srgbClr val="66735F">
                <a:alpha val="0"/>
              </a:srgbClr>
            </a:solidFill>
            <a:prstDash val="solid"/>
          </a:ln>
        </p:spPr>
      </p:sp>
      <p:sp>
        <p:nvSpPr>
          <p:cNvPr id="37" name="Shape 34"/>
          <p:cNvSpPr/>
          <p:nvPr/>
        </p:nvSpPr>
        <p:spPr>
          <a:xfrm>
            <a:off x="4223385" y="3240405"/>
            <a:ext cx="476631" cy="476631"/>
          </a:xfrm>
          <a:prstGeom prst="rect">
            <a:avLst/>
          </a:prstGeom>
          <a:solidFill>
            <a:srgbClr val="E5DCC8"/>
          </a:solidFill>
          <a:ln w="12700">
            <a:solidFill>
              <a:srgbClr val="E5DCC8">
                <a:alpha val="0"/>
              </a:srgbClr>
            </a:solidFill>
            <a:prstDash val="solid"/>
          </a:ln>
        </p:spPr>
      </p:sp>
      <p:sp>
        <p:nvSpPr>
          <p:cNvPr id="38" name="Shape 35"/>
          <p:cNvSpPr/>
          <p:nvPr/>
        </p:nvSpPr>
        <p:spPr>
          <a:xfrm>
            <a:off x="886968" y="3717036"/>
            <a:ext cx="476631" cy="476631"/>
          </a:xfrm>
          <a:prstGeom prst="rect">
            <a:avLst/>
          </a:prstGeom>
          <a:solidFill>
            <a:srgbClr val="E5DCC8"/>
          </a:solidFill>
          <a:ln w="12700">
            <a:solidFill>
              <a:srgbClr val="E5DCC8">
                <a:alpha val="0"/>
              </a:srgbClr>
            </a:solidFill>
            <a:prstDash val="solid"/>
          </a:ln>
        </p:spPr>
      </p:sp>
      <p:sp>
        <p:nvSpPr>
          <p:cNvPr id="39" name="Shape 36"/>
          <p:cNvSpPr/>
          <p:nvPr/>
        </p:nvSpPr>
        <p:spPr>
          <a:xfrm>
            <a:off x="1363599" y="3717036"/>
            <a:ext cx="476631" cy="476631"/>
          </a:xfrm>
          <a:prstGeom prst="rect">
            <a:avLst/>
          </a:prstGeom>
          <a:solidFill>
            <a:srgbClr val="66735F"/>
          </a:solidFill>
          <a:ln w="12700">
            <a:solidFill>
              <a:srgbClr val="66735F">
                <a:alpha val="0"/>
              </a:srgbClr>
            </a:solidFill>
            <a:prstDash val="solid"/>
          </a:ln>
        </p:spPr>
      </p:sp>
      <p:sp>
        <p:nvSpPr>
          <p:cNvPr id="40" name="Shape 37"/>
          <p:cNvSpPr/>
          <p:nvPr/>
        </p:nvSpPr>
        <p:spPr>
          <a:xfrm>
            <a:off x="1840230" y="3717036"/>
            <a:ext cx="476631" cy="476631"/>
          </a:xfrm>
          <a:prstGeom prst="rect">
            <a:avLst/>
          </a:prstGeom>
          <a:solidFill>
            <a:srgbClr val="E5DCC8"/>
          </a:solidFill>
          <a:ln w="12700">
            <a:solidFill>
              <a:srgbClr val="E5DCC8">
                <a:alpha val="0"/>
              </a:srgbClr>
            </a:solidFill>
            <a:prstDash val="solid"/>
          </a:ln>
        </p:spPr>
      </p:sp>
      <p:sp>
        <p:nvSpPr>
          <p:cNvPr id="41" name="Shape 38"/>
          <p:cNvSpPr/>
          <p:nvPr/>
        </p:nvSpPr>
        <p:spPr>
          <a:xfrm>
            <a:off x="2316861" y="3717036"/>
            <a:ext cx="476631" cy="476631"/>
          </a:xfrm>
          <a:prstGeom prst="rect">
            <a:avLst/>
          </a:prstGeom>
          <a:solidFill>
            <a:srgbClr val="66735F"/>
          </a:solidFill>
          <a:ln w="12700">
            <a:solidFill>
              <a:srgbClr val="66735F">
                <a:alpha val="0"/>
              </a:srgbClr>
            </a:solidFill>
            <a:prstDash val="solid"/>
          </a:ln>
        </p:spPr>
      </p:sp>
      <p:sp>
        <p:nvSpPr>
          <p:cNvPr id="42" name="Shape 39"/>
          <p:cNvSpPr/>
          <p:nvPr/>
        </p:nvSpPr>
        <p:spPr>
          <a:xfrm>
            <a:off x="2793492" y="3717036"/>
            <a:ext cx="476631" cy="476631"/>
          </a:xfrm>
          <a:prstGeom prst="rect">
            <a:avLst/>
          </a:prstGeom>
          <a:solidFill>
            <a:srgbClr val="E5DCC8"/>
          </a:solidFill>
          <a:ln w="12700">
            <a:solidFill>
              <a:srgbClr val="E5DCC8">
                <a:alpha val="0"/>
              </a:srgbClr>
            </a:solidFill>
            <a:prstDash val="solid"/>
          </a:ln>
        </p:spPr>
      </p:sp>
      <p:sp>
        <p:nvSpPr>
          <p:cNvPr id="43" name="Shape 40"/>
          <p:cNvSpPr/>
          <p:nvPr/>
        </p:nvSpPr>
        <p:spPr>
          <a:xfrm>
            <a:off x="3270123" y="3717036"/>
            <a:ext cx="476631" cy="476631"/>
          </a:xfrm>
          <a:prstGeom prst="rect">
            <a:avLst/>
          </a:prstGeom>
          <a:solidFill>
            <a:srgbClr val="66735F"/>
          </a:solidFill>
          <a:ln w="12700">
            <a:solidFill>
              <a:srgbClr val="66735F">
                <a:alpha val="0"/>
              </a:srgbClr>
            </a:solidFill>
            <a:prstDash val="solid"/>
          </a:ln>
        </p:spPr>
      </p:sp>
      <p:sp>
        <p:nvSpPr>
          <p:cNvPr id="44" name="Shape 41"/>
          <p:cNvSpPr/>
          <p:nvPr/>
        </p:nvSpPr>
        <p:spPr>
          <a:xfrm>
            <a:off x="3746754" y="3717036"/>
            <a:ext cx="476631" cy="476631"/>
          </a:xfrm>
          <a:prstGeom prst="rect">
            <a:avLst/>
          </a:prstGeom>
          <a:solidFill>
            <a:srgbClr val="E5DCC8"/>
          </a:solidFill>
          <a:ln w="12700">
            <a:solidFill>
              <a:srgbClr val="E5DCC8">
                <a:alpha val="0"/>
              </a:srgbClr>
            </a:solidFill>
            <a:prstDash val="solid"/>
          </a:ln>
        </p:spPr>
      </p:sp>
      <p:sp>
        <p:nvSpPr>
          <p:cNvPr id="45" name="Shape 42"/>
          <p:cNvSpPr/>
          <p:nvPr/>
        </p:nvSpPr>
        <p:spPr>
          <a:xfrm>
            <a:off x="4223385" y="3717036"/>
            <a:ext cx="476631" cy="476631"/>
          </a:xfrm>
          <a:prstGeom prst="rect">
            <a:avLst/>
          </a:prstGeom>
          <a:solidFill>
            <a:srgbClr val="66735F"/>
          </a:solidFill>
          <a:ln w="12700">
            <a:solidFill>
              <a:srgbClr val="66735F">
                <a:alpha val="0"/>
              </a:srgbClr>
            </a:solidFill>
            <a:prstDash val="solid"/>
          </a:ln>
        </p:spPr>
      </p:sp>
      <p:sp>
        <p:nvSpPr>
          <p:cNvPr id="46" name="Shape 43"/>
          <p:cNvSpPr/>
          <p:nvPr/>
        </p:nvSpPr>
        <p:spPr>
          <a:xfrm>
            <a:off x="886968" y="4193667"/>
            <a:ext cx="476631" cy="476631"/>
          </a:xfrm>
          <a:prstGeom prst="rect">
            <a:avLst/>
          </a:prstGeom>
          <a:solidFill>
            <a:srgbClr val="66735F"/>
          </a:solidFill>
          <a:ln w="12700">
            <a:solidFill>
              <a:srgbClr val="66735F">
                <a:alpha val="0"/>
              </a:srgbClr>
            </a:solidFill>
            <a:prstDash val="solid"/>
          </a:ln>
        </p:spPr>
      </p:sp>
      <p:sp>
        <p:nvSpPr>
          <p:cNvPr id="47" name="Shape 44"/>
          <p:cNvSpPr/>
          <p:nvPr/>
        </p:nvSpPr>
        <p:spPr>
          <a:xfrm>
            <a:off x="1363599" y="4193667"/>
            <a:ext cx="476631" cy="476631"/>
          </a:xfrm>
          <a:prstGeom prst="rect">
            <a:avLst/>
          </a:prstGeom>
          <a:solidFill>
            <a:srgbClr val="E5DCC8"/>
          </a:solidFill>
          <a:ln w="12700">
            <a:solidFill>
              <a:srgbClr val="E5DCC8">
                <a:alpha val="0"/>
              </a:srgbClr>
            </a:solidFill>
            <a:prstDash val="solid"/>
          </a:ln>
        </p:spPr>
      </p:sp>
      <p:sp>
        <p:nvSpPr>
          <p:cNvPr id="48" name="Shape 45"/>
          <p:cNvSpPr/>
          <p:nvPr/>
        </p:nvSpPr>
        <p:spPr>
          <a:xfrm>
            <a:off x="1840230" y="4193667"/>
            <a:ext cx="476631" cy="476631"/>
          </a:xfrm>
          <a:prstGeom prst="rect">
            <a:avLst/>
          </a:prstGeom>
          <a:solidFill>
            <a:srgbClr val="66735F"/>
          </a:solidFill>
          <a:ln w="12700">
            <a:solidFill>
              <a:srgbClr val="66735F">
                <a:alpha val="0"/>
              </a:srgbClr>
            </a:solidFill>
            <a:prstDash val="solid"/>
          </a:ln>
        </p:spPr>
      </p:sp>
      <p:sp>
        <p:nvSpPr>
          <p:cNvPr id="49" name="Shape 46"/>
          <p:cNvSpPr/>
          <p:nvPr/>
        </p:nvSpPr>
        <p:spPr>
          <a:xfrm>
            <a:off x="2316861" y="4193667"/>
            <a:ext cx="476631" cy="476631"/>
          </a:xfrm>
          <a:prstGeom prst="rect">
            <a:avLst/>
          </a:prstGeom>
          <a:solidFill>
            <a:srgbClr val="E5DCC8"/>
          </a:solidFill>
          <a:ln w="12700">
            <a:solidFill>
              <a:srgbClr val="E5DCC8">
                <a:alpha val="0"/>
              </a:srgbClr>
            </a:solidFill>
            <a:prstDash val="solid"/>
          </a:ln>
        </p:spPr>
      </p:sp>
      <p:sp>
        <p:nvSpPr>
          <p:cNvPr id="50" name="Shape 47"/>
          <p:cNvSpPr/>
          <p:nvPr/>
        </p:nvSpPr>
        <p:spPr>
          <a:xfrm>
            <a:off x="2793492" y="4193667"/>
            <a:ext cx="476631" cy="476631"/>
          </a:xfrm>
          <a:prstGeom prst="rect">
            <a:avLst/>
          </a:prstGeom>
          <a:solidFill>
            <a:srgbClr val="66735F"/>
          </a:solidFill>
          <a:ln w="12700">
            <a:solidFill>
              <a:srgbClr val="66735F">
                <a:alpha val="0"/>
              </a:srgbClr>
            </a:solidFill>
            <a:prstDash val="solid"/>
          </a:ln>
        </p:spPr>
      </p:sp>
      <p:sp>
        <p:nvSpPr>
          <p:cNvPr id="51" name="Shape 48"/>
          <p:cNvSpPr/>
          <p:nvPr/>
        </p:nvSpPr>
        <p:spPr>
          <a:xfrm>
            <a:off x="3270123" y="4193667"/>
            <a:ext cx="476631" cy="476631"/>
          </a:xfrm>
          <a:prstGeom prst="rect">
            <a:avLst/>
          </a:prstGeom>
          <a:solidFill>
            <a:srgbClr val="E5DCC8"/>
          </a:solidFill>
          <a:ln w="12700">
            <a:solidFill>
              <a:srgbClr val="E5DCC8">
                <a:alpha val="0"/>
              </a:srgbClr>
            </a:solidFill>
            <a:prstDash val="solid"/>
          </a:ln>
        </p:spPr>
      </p:sp>
      <p:sp>
        <p:nvSpPr>
          <p:cNvPr id="52" name="Shape 49"/>
          <p:cNvSpPr/>
          <p:nvPr/>
        </p:nvSpPr>
        <p:spPr>
          <a:xfrm>
            <a:off x="3746754" y="4193667"/>
            <a:ext cx="476631" cy="476631"/>
          </a:xfrm>
          <a:prstGeom prst="rect">
            <a:avLst/>
          </a:prstGeom>
          <a:solidFill>
            <a:srgbClr val="66735F"/>
          </a:solidFill>
          <a:ln w="12700">
            <a:solidFill>
              <a:srgbClr val="66735F">
                <a:alpha val="0"/>
              </a:srgbClr>
            </a:solidFill>
            <a:prstDash val="solid"/>
          </a:ln>
        </p:spPr>
      </p:sp>
      <p:sp>
        <p:nvSpPr>
          <p:cNvPr id="53" name="Shape 50"/>
          <p:cNvSpPr/>
          <p:nvPr/>
        </p:nvSpPr>
        <p:spPr>
          <a:xfrm>
            <a:off x="4223385" y="4193667"/>
            <a:ext cx="476631" cy="476631"/>
          </a:xfrm>
          <a:prstGeom prst="rect">
            <a:avLst/>
          </a:prstGeom>
          <a:solidFill>
            <a:srgbClr val="E5DCC8"/>
          </a:solidFill>
          <a:ln w="12700">
            <a:solidFill>
              <a:srgbClr val="E5DCC8">
                <a:alpha val="0"/>
              </a:srgbClr>
            </a:solidFill>
            <a:prstDash val="solid"/>
          </a:ln>
        </p:spPr>
      </p:sp>
      <p:sp>
        <p:nvSpPr>
          <p:cNvPr id="54" name="Shape 51"/>
          <p:cNvSpPr/>
          <p:nvPr/>
        </p:nvSpPr>
        <p:spPr>
          <a:xfrm>
            <a:off x="886968" y="4670298"/>
            <a:ext cx="476631" cy="476631"/>
          </a:xfrm>
          <a:prstGeom prst="rect">
            <a:avLst/>
          </a:prstGeom>
          <a:solidFill>
            <a:srgbClr val="E5DCC8"/>
          </a:solidFill>
          <a:ln w="12700">
            <a:solidFill>
              <a:srgbClr val="E5DCC8">
                <a:alpha val="0"/>
              </a:srgbClr>
            </a:solidFill>
            <a:prstDash val="solid"/>
          </a:ln>
        </p:spPr>
      </p:sp>
      <p:sp>
        <p:nvSpPr>
          <p:cNvPr id="55" name="Shape 52"/>
          <p:cNvSpPr/>
          <p:nvPr/>
        </p:nvSpPr>
        <p:spPr>
          <a:xfrm>
            <a:off x="1363599" y="4670298"/>
            <a:ext cx="476631" cy="476631"/>
          </a:xfrm>
          <a:prstGeom prst="rect">
            <a:avLst/>
          </a:prstGeom>
          <a:solidFill>
            <a:srgbClr val="66735F"/>
          </a:solidFill>
          <a:ln w="12700">
            <a:solidFill>
              <a:srgbClr val="66735F">
                <a:alpha val="0"/>
              </a:srgbClr>
            </a:solidFill>
            <a:prstDash val="solid"/>
          </a:ln>
        </p:spPr>
      </p:sp>
      <p:sp>
        <p:nvSpPr>
          <p:cNvPr id="56" name="Shape 53"/>
          <p:cNvSpPr/>
          <p:nvPr/>
        </p:nvSpPr>
        <p:spPr>
          <a:xfrm>
            <a:off x="1840230" y="4670298"/>
            <a:ext cx="476631" cy="476631"/>
          </a:xfrm>
          <a:prstGeom prst="rect">
            <a:avLst/>
          </a:prstGeom>
          <a:solidFill>
            <a:srgbClr val="E5DCC8"/>
          </a:solidFill>
          <a:ln w="12700">
            <a:solidFill>
              <a:srgbClr val="E5DCC8">
                <a:alpha val="0"/>
              </a:srgbClr>
            </a:solidFill>
            <a:prstDash val="solid"/>
          </a:ln>
        </p:spPr>
      </p:sp>
      <p:sp>
        <p:nvSpPr>
          <p:cNvPr id="57" name="Shape 54"/>
          <p:cNvSpPr/>
          <p:nvPr/>
        </p:nvSpPr>
        <p:spPr>
          <a:xfrm>
            <a:off x="2316861" y="4670298"/>
            <a:ext cx="476631" cy="476631"/>
          </a:xfrm>
          <a:prstGeom prst="rect">
            <a:avLst/>
          </a:prstGeom>
          <a:solidFill>
            <a:srgbClr val="66735F"/>
          </a:solidFill>
          <a:ln w="12700">
            <a:solidFill>
              <a:srgbClr val="66735F">
                <a:alpha val="0"/>
              </a:srgbClr>
            </a:solidFill>
            <a:prstDash val="solid"/>
          </a:ln>
        </p:spPr>
      </p:sp>
      <p:sp>
        <p:nvSpPr>
          <p:cNvPr id="58" name="Shape 55"/>
          <p:cNvSpPr/>
          <p:nvPr/>
        </p:nvSpPr>
        <p:spPr>
          <a:xfrm>
            <a:off x="2793492" y="4670298"/>
            <a:ext cx="476631" cy="476631"/>
          </a:xfrm>
          <a:prstGeom prst="rect">
            <a:avLst/>
          </a:prstGeom>
          <a:solidFill>
            <a:srgbClr val="E5DCC8"/>
          </a:solidFill>
          <a:ln w="12700">
            <a:solidFill>
              <a:srgbClr val="E5DCC8">
                <a:alpha val="0"/>
              </a:srgbClr>
            </a:solidFill>
            <a:prstDash val="solid"/>
          </a:ln>
        </p:spPr>
      </p:sp>
      <p:sp>
        <p:nvSpPr>
          <p:cNvPr id="59" name="Shape 56"/>
          <p:cNvSpPr/>
          <p:nvPr/>
        </p:nvSpPr>
        <p:spPr>
          <a:xfrm>
            <a:off x="3270123" y="4670298"/>
            <a:ext cx="476631" cy="476631"/>
          </a:xfrm>
          <a:prstGeom prst="rect">
            <a:avLst/>
          </a:prstGeom>
          <a:solidFill>
            <a:srgbClr val="66735F"/>
          </a:solidFill>
          <a:ln w="12700">
            <a:solidFill>
              <a:srgbClr val="66735F">
                <a:alpha val="0"/>
              </a:srgbClr>
            </a:solidFill>
            <a:prstDash val="solid"/>
          </a:ln>
        </p:spPr>
      </p:sp>
      <p:sp>
        <p:nvSpPr>
          <p:cNvPr id="60" name="Shape 57"/>
          <p:cNvSpPr/>
          <p:nvPr/>
        </p:nvSpPr>
        <p:spPr>
          <a:xfrm>
            <a:off x="3746754" y="4670298"/>
            <a:ext cx="476631" cy="476631"/>
          </a:xfrm>
          <a:prstGeom prst="rect">
            <a:avLst/>
          </a:prstGeom>
          <a:solidFill>
            <a:srgbClr val="E5DCC8"/>
          </a:solidFill>
          <a:ln w="12700">
            <a:solidFill>
              <a:srgbClr val="E5DCC8">
                <a:alpha val="0"/>
              </a:srgbClr>
            </a:solidFill>
            <a:prstDash val="solid"/>
          </a:ln>
        </p:spPr>
      </p:sp>
      <p:sp>
        <p:nvSpPr>
          <p:cNvPr id="61" name="Shape 58"/>
          <p:cNvSpPr/>
          <p:nvPr/>
        </p:nvSpPr>
        <p:spPr>
          <a:xfrm>
            <a:off x="4223385" y="4670298"/>
            <a:ext cx="476631" cy="476631"/>
          </a:xfrm>
          <a:prstGeom prst="rect">
            <a:avLst/>
          </a:prstGeom>
          <a:solidFill>
            <a:srgbClr val="66735F"/>
          </a:solidFill>
          <a:ln w="12700">
            <a:solidFill>
              <a:srgbClr val="66735F">
                <a:alpha val="0"/>
              </a:srgbClr>
            </a:solidFill>
            <a:prstDash val="solid"/>
          </a:ln>
        </p:spPr>
      </p:sp>
      <p:sp>
        <p:nvSpPr>
          <p:cNvPr id="62" name="Shape 59"/>
          <p:cNvSpPr/>
          <p:nvPr/>
        </p:nvSpPr>
        <p:spPr>
          <a:xfrm>
            <a:off x="886968" y="5146929"/>
            <a:ext cx="476631" cy="476631"/>
          </a:xfrm>
          <a:prstGeom prst="rect">
            <a:avLst/>
          </a:prstGeom>
          <a:solidFill>
            <a:srgbClr val="66735F"/>
          </a:solidFill>
          <a:ln w="12700">
            <a:solidFill>
              <a:srgbClr val="66735F">
                <a:alpha val="0"/>
              </a:srgbClr>
            </a:solidFill>
            <a:prstDash val="solid"/>
          </a:ln>
        </p:spPr>
      </p:sp>
      <p:sp>
        <p:nvSpPr>
          <p:cNvPr id="63" name="Shape 60"/>
          <p:cNvSpPr/>
          <p:nvPr/>
        </p:nvSpPr>
        <p:spPr>
          <a:xfrm>
            <a:off x="1363599" y="5146929"/>
            <a:ext cx="476631" cy="476631"/>
          </a:xfrm>
          <a:prstGeom prst="rect">
            <a:avLst/>
          </a:prstGeom>
          <a:solidFill>
            <a:srgbClr val="E5DCC8"/>
          </a:solidFill>
          <a:ln w="12700">
            <a:solidFill>
              <a:srgbClr val="E5DCC8">
                <a:alpha val="0"/>
              </a:srgbClr>
            </a:solidFill>
            <a:prstDash val="solid"/>
          </a:ln>
        </p:spPr>
      </p:sp>
      <p:sp>
        <p:nvSpPr>
          <p:cNvPr id="64" name="Shape 61"/>
          <p:cNvSpPr/>
          <p:nvPr/>
        </p:nvSpPr>
        <p:spPr>
          <a:xfrm>
            <a:off x="1840230" y="5146929"/>
            <a:ext cx="476631" cy="476631"/>
          </a:xfrm>
          <a:prstGeom prst="rect">
            <a:avLst/>
          </a:prstGeom>
          <a:solidFill>
            <a:srgbClr val="66735F"/>
          </a:solidFill>
          <a:ln w="12700">
            <a:solidFill>
              <a:srgbClr val="66735F">
                <a:alpha val="0"/>
              </a:srgbClr>
            </a:solidFill>
            <a:prstDash val="solid"/>
          </a:ln>
        </p:spPr>
      </p:sp>
      <p:sp>
        <p:nvSpPr>
          <p:cNvPr id="65" name="Shape 62"/>
          <p:cNvSpPr/>
          <p:nvPr/>
        </p:nvSpPr>
        <p:spPr>
          <a:xfrm>
            <a:off x="2316861" y="5146929"/>
            <a:ext cx="476631" cy="476631"/>
          </a:xfrm>
          <a:prstGeom prst="rect">
            <a:avLst/>
          </a:prstGeom>
          <a:solidFill>
            <a:srgbClr val="E5DCC8"/>
          </a:solidFill>
          <a:ln w="12700">
            <a:solidFill>
              <a:srgbClr val="E5DCC8">
                <a:alpha val="0"/>
              </a:srgbClr>
            </a:solidFill>
            <a:prstDash val="solid"/>
          </a:ln>
        </p:spPr>
      </p:sp>
      <p:sp>
        <p:nvSpPr>
          <p:cNvPr id="66" name="Shape 63"/>
          <p:cNvSpPr/>
          <p:nvPr/>
        </p:nvSpPr>
        <p:spPr>
          <a:xfrm>
            <a:off x="2793492" y="5146929"/>
            <a:ext cx="476631" cy="476631"/>
          </a:xfrm>
          <a:prstGeom prst="rect">
            <a:avLst/>
          </a:prstGeom>
          <a:solidFill>
            <a:srgbClr val="66735F"/>
          </a:solidFill>
          <a:ln w="12700">
            <a:solidFill>
              <a:srgbClr val="66735F">
                <a:alpha val="0"/>
              </a:srgbClr>
            </a:solidFill>
            <a:prstDash val="solid"/>
          </a:ln>
        </p:spPr>
      </p:sp>
      <p:sp>
        <p:nvSpPr>
          <p:cNvPr id="67" name="Shape 64"/>
          <p:cNvSpPr/>
          <p:nvPr/>
        </p:nvSpPr>
        <p:spPr>
          <a:xfrm>
            <a:off x="3270123" y="5146929"/>
            <a:ext cx="476631" cy="476631"/>
          </a:xfrm>
          <a:prstGeom prst="rect">
            <a:avLst/>
          </a:prstGeom>
          <a:solidFill>
            <a:srgbClr val="E5DCC8"/>
          </a:solidFill>
          <a:ln w="12700">
            <a:solidFill>
              <a:srgbClr val="E5DCC8">
                <a:alpha val="0"/>
              </a:srgbClr>
            </a:solidFill>
            <a:prstDash val="solid"/>
          </a:ln>
        </p:spPr>
      </p:sp>
      <p:sp>
        <p:nvSpPr>
          <p:cNvPr id="68" name="Shape 65"/>
          <p:cNvSpPr/>
          <p:nvPr/>
        </p:nvSpPr>
        <p:spPr>
          <a:xfrm>
            <a:off x="3746754" y="5146929"/>
            <a:ext cx="476631" cy="476631"/>
          </a:xfrm>
          <a:prstGeom prst="rect">
            <a:avLst/>
          </a:prstGeom>
          <a:solidFill>
            <a:srgbClr val="66735F"/>
          </a:solidFill>
          <a:ln w="12700">
            <a:solidFill>
              <a:srgbClr val="66735F">
                <a:alpha val="0"/>
              </a:srgbClr>
            </a:solidFill>
            <a:prstDash val="solid"/>
          </a:ln>
        </p:spPr>
      </p:sp>
      <p:sp>
        <p:nvSpPr>
          <p:cNvPr id="69" name="Shape 66"/>
          <p:cNvSpPr/>
          <p:nvPr/>
        </p:nvSpPr>
        <p:spPr>
          <a:xfrm>
            <a:off x="4223385" y="5146929"/>
            <a:ext cx="476631" cy="476631"/>
          </a:xfrm>
          <a:prstGeom prst="rect">
            <a:avLst/>
          </a:prstGeom>
          <a:solidFill>
            <a:srgbClr val="E5DCC8"/>
          </a:solidFill>
          <a:ln w="12700">
            <a:solidFill>
              <a:srgbClr val="E5DCC8">
                <a:alpha val="0"/>
              </a:srgbClr>
            </a:solidFill>
            <a:prstDash val="solid"/>
          </a:ln>
        </p:spPr>
      </p:sp>
      <p:sp>
        <p:nvSpPr>
          <p:cNvPr id="70" name="Text 67"/>
          <p:cNvSpPr/>
          <p:nvPr/>
        </p:nvSpPr>
        <p:spPr>
          <a:xfrm>
            <a:off x="886968" y="1792224"/>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080A08"/>
                </a:solidFill>
                <a:latin typeface="DejaVu Sans" pitchFamily="34" charset="0"/>
                <a:ea typeface="DejaVu Sans" pitchFamily="34" charset="-122"/>
                <a:cs typeface="DejaVu Sans" pitchFamily="34" charset="-120"/>
              </a:rPr>
              <a:t>♜</a:t>
            </a:r>
            <a:endParaRPr lang="en-US" sz="1460" dirty="0"/>
          </a:p>
        </p:txBody>
      </p:sp>
      <p:sp>
        <p:nvSpPr>
          <p:cNvPr id="71" name="Text 68"/>
          <p:cNvSpPr/>
          <p:nvPr/>
        </p:nvSpPr>
        <p:spPr>
          <a:xfrm>
            <a:off x="2793492" y="1792224"/>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080A08"/>
                </a:solidFill>
                <a:latin typeface="DejaVu Sans" pitchFamily="34" charset="0"/>
                <a:ea typeface="DejaVu Sans" pitchFamily="34" charset="-122"/>
                <a:cs typeface="DejaVu Sans" pitchFamily="34" charset="-120"/>
              </a:rPr>
              <a:t>♚</a:t>
            </a:r>
            <a:endParaRPr lang="en-US" sz="1460" dirty="0"/>
          </a:p>
        </p:txBody>
      </p:sp>
      <p:sp>
        <p:nvSpPr>
          <p:cNvPr id="72" name="Text 69"/>
          <p:cNvSpPr/>
          <p:nvPr/>
        </p:nvSpPr>
        <p:spPr>
          <a:xfrm>
            <a:off x="4223385" y="1792224"/>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080A08"/>
                </a:solidFill>
                <a:latin typeface="DejaVu Sans" pitchFamily="34" charset="0"/>
                <a:ea typeface="DejaVu Sans" pitchFamily="34" charset="-122"/>
                <a:cs typeface="DejaVu Sans" pitchFamily="34" charset="-120"/>
              </a:rPr>
              <a:t>♜</a:t>
            </a:r>
            <a:endParaRPr lang="en-US" sz="1460" dirty="0"/>
          </a:p>
        </p:txBody>
      </p:sp>
      <p:sp>
        <p:nvSpPr>
          <p:cNvPr id="73" name="Text 70"/>
          <p:cNvSpPr/>
          <p:nvPr/>
        </p:nvSpPr>
        <p:spPr>
          <a:xfrm>
            <a:off x="2316861" y="2268855"/>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080A08"/>
                </a:solidFill>
                <a:latin typeface="DejaVu Sans" pitchFamily="34" charset="0"/>
                <a:ea typeface="DejaVu Sans" pitchFamily="34" charset="-122"/>
                <a:cs typeface="DejaVu Sans" pitchFamily="34" charset="-120"/>
              </a:rPr>
              <a:t>♟</a:t>
            </a:r>
            <a:endParaRPr lang="en-US" sz="1460" dirty="0"/>
          </a:p>
        </p:txBody>
      </p:sp>
      <p:sp>
        <p:nvSpPr>
          <p:cNvPr id="74" name="Text 71"/>
          <p:cNvSpPr/>
          <p:nvPr/>
        </p:nvSpPr>
        <p:spPr>
          <a:xfrm>
            <a:off x="2793492" y="3222117"/>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080A08"/>
                </a:solidFill>
                <a:latin typeface="DejaVu Sans" pitchFamily="34" charset="0"/>
                <a:ea typeface="DejaVu Sans" pitchFamily="34" charset="-122"/>
                <a:cs typeface="DejaVu Sans" pitchFamily="34" charset="-120"/>
              </a:rPr>
              <a:t>♟</a:t>
            </a:r>
            <a:endParaRPr lang="en-US" sz="1460" dirty="0"/>
          </a:p>
        </p:txBody>
      </p:sp>
      <p:sp>
        <p:nvSpPr>
          <p:cNvPr id="75" name="Text 72"/>
          <p:cNvSpPr/>
          <p:nvPr/>
        </p:nvSpPr>
        <p:spPr>
          <a:xfrm>
            <a:off x="2316861" y="3698748"/>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FFFDF7"/>
                </a:solidFill>
                <a:latin typeface="DejaVu Sans" pitchFamily="34" charset="0"/>
                <a:ea typeface="DejaVu Sans" pitchFamily="34" charset="-122"/>
                <a:cs typeface="DejaVu Sans" pitchFamily="34" charset="-120"/>
              </a:rPr>
              <a:t>♙</a:t>
            </a:r>
            <a:endParaRPr lang="en-US" sz="1460" dirty="0"/>
          </a:p>
        </p:txBody>
      </p:sp>
      <p:sp>
        <p:nvSpPr>
          <p:cNvPr id="76" name="Text 73"/>
          <p:cNvSpPr/>
          <p:nvPr/>
        </p:nvSpPr>
        <p:spPr>
          <a:xfrm>
            <a:off x="2793492" y="4652010"/>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FFFDF7"/>
                </a:solidFill>
                <a:latin typeface="DejaVu Sans" pitchFamily="34" charset="0"/>
                <a:ea typeface="DejaVu Sans" pitchFamily="34" charset="-122"/>
                <a:cs typeface="DejaVu Sans" pitchFamily="34" charset="-120"/>
              </a:rPr>
              <a:t>♙</a:t>
            </a:r>
            <a:endParaRPr lang="en-US" sz="1460" dirty="0"/>
          </a:p>
        </p:txBody>
      </p:sp>
      <p:sp>
        <p:nvSpPr>
          <p:cNvPr id="77" name="Text 74"/>
          <p:cNvSpPr/>
          <p:nvPr/>
        </p:nvSpPr>
        <p:spPr>
          <a:xfrm>
            <a:off x="886968" y="5128641"/>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FFFDF7"/>
                </a:solidFill>
                <a:latin typeface="DejaVu Sans" pitchFamily="34" charset="0"/>
                <a:ea typeface="DejaVu Sans" pitchFamily="34" charset="-122"/>
                <a:cs typeface="DejaVu Sans" pitchFamily="34" charset="-120"/>
              </a:rPr>
              <a:t>♖</a:t>
            </a:r>
            <a:endParaRPr lang="en-US" sz="1460" dirty="0"/>
          </a:p>
        </p:txBody>
      </p:sp>
      <p:sp>
        <p:nvSpPr>
          <p:cNvPr id="78" name="Text 75"/>
          <p:cNvSpPr/>
          <p:nvPr/>
        </p:nvSpPr>
        <p:spPr>
          <a:xfrm>
            <a:off x="2793492" y="5128641"/>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FFFDF7"/>
                </a:solidFill>
                <a:latin typeface="DejaVu Sans" pitchFamily="34" charset="0"/>
                <a:ea typeface="DejaVu Sans" pitchFamily="34" charset="-122"/>
                <a:cs typeface="DejaVu Sans" pitchFamily="34" charset="-120"/>
              </a:rPr>
              <a:t>♔</a:t>
            </a:r>
            <a:endParaRPr lang="en-US" sz="1460" dirty="0"/>
          </a:p>
        </p:txBody>
      </p:sp>
      <p:sp>
        <p:nvSpPr>
          <p:cNvPr id="79" name="Text 76"/>
          <p:cNvSpPr/>
          <p:nvPr/>
        </p:nvSpPr>
        <p:spPr>
          <a:xfrm>
            <a:off x="4223385" y="5128641"/>
            <a:ext cx="476631" cy="476631"/>
          </a:xfrm>
          <a:prstGeom prst="rect">
            <a:avLst/>
          </a:prstGeom>
          <a:noFill/>
          <a:ln/>
        </p:spPr>
        <p:txBody>
          <a:bodyPr wrap="square" lIns="0" tIns="0" rIns="0" bIns="0" rtlCol="0" anchor="ctr">
            <a:normAutofit/>
          </a:bodyPr>
          <a:lstStyle/>
          <a:p>
            <a:pPr algn="ctr" indent="0" marL="0">
              <a:buNone/>
            </a:pPr>
            <a:r>
              <a:rPr lang="en-US" sz="1460" dirty="0">
                <a:solidFill>
                  <a:srgbClr val="FFFDF7"/>
                </a:solidFill>
                <a:latin typeface="DejaVu Sans" pitchFamily="34" charset="0"/>
                <a:ea typeface="DejaVu Sans" pitchFamily="34" charset="-122"/>
                <a:cs typeface="DejaVu Sans" pitchFamily="34" charset="-120"/>
              </a:rPr>
              <a:t>♖</a:t>
            </a:r>
            <a:endParaRPr lang="en-US" sz="1460" dirty="0"/>
          </a:p>
        </p:txBody>
      </p:sp>
      <p:sp>
        <p:nvSpPr>
          <p:cNvPr id="80" name="Text 77"/>
          <p:cNvSpPr/>
          <p:nvPr/>
        </p:nvSpPr>
        <p:spPr>
          <a:xfrm>
            <a:off x="5001768" y="1828800"/>
            <a:ext cx="1737360" cy="256032"/>
          </a:xfrm>
          <a:prstGeom prst="rect">
            <a:avLst/>
          </a:prstGeom>
          <a:noFill/>
          <a:ln/>
        </p:spPr>
        <p:txBody>
          <a:bodyPr wrap="square" lIns="0" tIns="0" rIns="0" bIns="0" rtlCol="0" anchor="ctr">
            <a:normAutofit/>
          </a:bodyPr>
          <a:lstStyle/>
          <a:p>
            <a:pPr indent="0" marL="0">
              <a:buNone/>
            </a:pPr>
            <a:r>
              <a:rPr lang="en-US" sz="1000" b="1" spc="120" kern="0" dirty="0">
                <a:solidFill>
                  <a:srgbClr val="E89B45"/>
                </a:solidFill>
                <a:latin typeface="Liberation Mono" pitchFamily="34" charset="0"/>
                <a:ea typeface="Liberation Mono" pitchFamily="34" charset="-122"/>
                <a:cs typeface="Liberation Mono" pitchFamily="34" charset="-120"/>
              </a:rPr>
              <a:t>DECISION TRACE</a:t>
            </a:r>
            <a:endParaRPr lang="en-US" sz="1000" dirty="0"/>
          </a:p>
        </p:txBody>
      </p:sp>
      <p:sp>
        <p:nvSpPr>
          <p:cNvPr id="81" name="Text 78"/>
          <p:cNvSpPr/>
          <p:nvPr/>
        </p:nvSpPr>
        <p:spPr>
          <a:xfrm>
            <a:off x="5001768" y="2267712"/>
            <a:ext cx="1810512" cy="438912"/>
          </a:xfrm>
          <a:prstGeom prst="rect">
            <a:avLst/>
          </a:prstGeom>
          <a:noFill/>
          <a:ln/>
        </p:spPr>
        <p:txBody>
          <a:bodyPr wrap="square" lIns="0" tIns="0" rIns="0" bIns="0" rtlCol="0" anchor="ctr">
            <a:normAutofit/>
          </a:bodyPr>
          <a:lstStyle/>
          <a:p>
            <a:pPr indent="0" marL="0">
              <a:buNone/>
            </a:pPr>
            <a:r>
              <a:rPr lang="en-US" sz="1120" dirty="0">
                <a:solidFill>
                  <a:srgbClr val="FFFDF7"/>
                </a:solidFill>
                <a:latin typeface="Liberation Mono" pitchFamily="34" charset="0"/>
                <a:ea typeface="Liberation Mono" pitchFamily="34" charset="-122"/>
                <a:cs typeface="Liberation Mono" pitchFamily="34" charset="-120"/>
              </a:rPr>
              <a:t>Stockfish → e4, Nf3, d4</a:t>
            </a:r>
            <a:endParaRPr lang="en-US" sz="1120" dirty="0"/>
          </a:p>
        </p:txBody>
      </p:sp>
      <p:sp>
        <p:nvSpPr>
          <p:cNvPr id="82" name="Text 79"/>
          <p:cNvSpPr/>
          <p:nvPr/>
        </p:nvSpPr>
        <p:spPr>
          <a:xfrm>
            <a:off x="5001768" y="2880360"/>
            <a:ext cx="1810512" cy="438912"/>
          </a:xfrm>
          <a:prstGeom prst="rect">
            <a:avLst/>
          </a:prstGeom>
          <a:noFill/>
          <a:ln/>
        </p:spPr>
        <p:txBody>
          <a:bodyPr wrap="square" lIns="0" tIns="0" rIns="0" bIns="0" rtlCol="0" anchor="ctr">
            <a:normAutofit/>
          </a:bodyPr>
          <a:lstStyle/>
          <a:p>
            <a:pPr indent="0" marL="0">
              <a:buNone/>
            </a:pPr>
            <a:r>
              <a:rPr lang="en-US" sz="1120" b="1" dirty="0">
                <a:solidFill>
                  <a:srgbClr val="E89B45"/>
                </a:solidFill>
                <a:latin typeface="Liberation Mono" pitchFamily="34" charset="0"/>
                <a:ea typeface="Liberation Mono" pitchFamily="34" charset="-122"/>
                <a:cs typeface="Liberation Mono" pitchFamily="34" charset="-120"/>
              </a:rPr>
              <a:t>Qwen3-4B → e4</a:t>
            </a:r>
            <a:endParaRPr lang="en-US" sz="1120" dirty="0"/>
          </a:p>
        </p:txBody>
      </p:sp>
      <p:sp>
        <p:nvSpPr>
          <p:cNvPr id="83" name="Text 80"/>
          <p:cNvSpPr/>
          <p:nvPr/>
        </p:nvSpPr>
        <p:spPr>
          <a:xfrm>
            <a:off x="5001768" y="3493008"/>
            <a:ext cx="1810512" cy="438912"/>
          </a:xfrm>
          <a:prstGeom prst="rect">
            <a:avLst/>
          </a:prstGeom>
          <a:noFill/>
          <a:ln/>
        </p:spPr>
        <p:txBody>
          <a:bodyPr wrap="square" lIns="0" tIns="0" rIns="0" bIns="0" rtlCol="0" anchor="ctr">
            <a:normAutofit/>
          </a:bodyPr>
          <a:lstStyle/>
          <a:p>
            <a:pPr indent="0" marL="0">
              <a:buNone/>
            </a:pPr>
            <a:r>
              <a:rPr lang="en-US" sz="1120" dirty="0">
                <a:solidFill>
                  <a:srgbClr val="FFFDF7"/>
                </a:solidFill>
                <a:latin typeface="Liberation Mono" pitchFamily="34" charset="0"/>
                <a:ea typeface="Liberation Mono" pitchFamily="34" charset="-122"/>
                <a:cs typeface="Liberation Mono" pitchFamily="34" charset="-120"/>
              </a:rPr>
              <a:t>Gateway → valid</a:t>
            </a:r>
            <a:endParaRPr lang="en-US" sz="1120" dirty="0"/>
          </a:p>
        </p:txBody>
      </p:sp>
      <p:sp>
        <p:nvSpPr>
          <p:cNvPr id="84" name="Text 81"/>
          <p:cNvSpPr/>
          <p:nvPr/>
        </p:nvSpPr>
        <p:spPr>
          <a:xfrm>
            <a:off x="5001768" y="4105656"/>
            <a:ext cx="1810512" cy="438912"/>
          </a:xfrm>
          <a:prstGeom prst="rect">
            <a:avLst/>
          </a:prstGeom>
          <a:noFill/>
          <a:ln/>
        </p:spPr>
        <p:txBody>
          <a:bodyPr wrap="square" lIns="0" tIns="0" rIns="0" bIns="0" rtlCol="0" anchor="ctr">
            <a:normAutofit/>
          </a:bodyPr>
          <a:lstStyle/>
          <a:p>
            <a:pPr indent="0" marL="0">
              <a:buNone/>
            </a:pPr>
            <a:r>
              <a:rPr lang="en-US" sz="1120" dirty="0">
                <a:solidFill>
                  <a:srgbClr val="FFFDF7"/>
                </a:solidFill>
                <a:latin typeface="Liberation Mono" pitchFamily="34" charset="0"/>
                <a:ea typeface="Liberation Mono" pitchFamily="34" charset="-122"/>
                <a:cs typeface="Liberation Mono" pitchFamily="34" charset="-120"/>
              </a:rPr>
              <a:t>Saved → move + evidence</a:t>
            </a:r>
            <a:endParaRPr lang="en-US" sz="1120" dirty="0"/>
          </a:p>
        </p:txBody>
      </p:sp>
      <p:sp>
        <p:nvSpPr>
          <p:cNvPr id="85" name="Shape 82"/>
          <p:cNvSpPr/>
          <p:nvPr/>
        </p:nvSpPr>
        <p:spPr>
          <a:xfrm>
            <a:off x="4965192" y="5010912"/>
            <a:ext cx="1810512" cy="402336"/>
          </a:xfrm>
          <a:prstGeom prst="roundRect">
            <a:avLst>
              <a:gd name="adj" fmla="val 27273"/>
            </a:avLst>
          </a:prstGeom>
          <a:solidFill>
            <a:srgbClr val="34735B"/>
          </a:solidFill>
          <a:ln w="12700">
            <a:solidFill>
              <a:srgbClr val="34735B">
                <a:alpha val="0"/>
              </a:srgbClr>
            </a:solidFill>
            <a:prstDash val="solid"/>
          </a:ln>
        </p:spPr>
      </p:sp>
      <p:sp>
        <p:nvSpPr>
          <p:cNvPr id="86" name="Text 83"/>
          <p:cNvSpPr/>
          <p:nvPr/>
        </p:nvSpPr>
        <p:spPr>
          <a:xfrm>
            <a:off x="4965192" y="5010912"/>
            <a:ext cx="1810512" cy="402336"/>
          </a:xfrm>
          <a:prstGeom prst="rect">
            <a:avLst/>
          </a:prstGeom>
          <a:noFill/>
          <a:ln/>
        </p:spPr>
        <p:txBody>
          <a:bodyPr wrap="square" lIns="0" tIns="0" rIns="0" bIns="0" rtlCol="0" anchor="ctr">
            <a:normAutofit/>
          </a:bodyPr>
          <a:lstStyle/>
          <a:p>
            <a:pPr algn="ctr" indent="0" marL="0">
              <a:buNone/>
            </a:pPr>
            <a:r>
              <a:rPr lang="en-US" sz="1100" b="1" dirty="0">
                <a:solidFill>
                  <a:srgbClr val="FFFDF7"/>
                </a:solidFill>
                <a:latin typeface="Liberation Mono" pitchFamily="34" charset="0"/>
                <a:ea typeface="Liberation Mono" pitchFamily="34" charset="-122"/>
                <a:cs typeface="Liberation Mono" pitchFamily="34" charset="-120"/>
              </a:rPr>
              <a:t>1.8 s · 34 tok/s</a:t>
            </a:r>
            <a:endParaRPr lang="en-US" sz="1100" dirty="0"/>
          </a:p>
        </p:txBody>
      </p:sp>
      <p:sp>
        <p:nvSpPr>
          <p:cNvPr id="87" name="Text 84"/>
          <p:cNvSpPr/>
          <p:nvPr/>
        </p:nvSpPr>
        <p:spPr>
          <a:xfrm>
            <a:off x="7552944" y="1609344"/>
            <a:ext cx="1920240" cy="237744"/>
          </a:xfrm>
          <a:prstGeom prst="rect">
            <a:avLst/>
          </a:prstGeom>
          <a:noFill/>
          <a:ln/>
        </p:spPr>
        <p:txBody>
          <a:bodyPr wrap="square" lIns="0" tIns="0" rIns="0" bIns="0" rtlCol="0" anchor="ctr">
            <a:normAutofit/>
          </a:bodyPr>
          <a:lstStyle/>
          <a:p>
            <a:pPr indent="0" marL="0">
              <a:buNone/>
            </a:pPr>
            <a:r>
              <a:rPr lang="en-US" sz="1050" b="1" dirty="0">
                <a:solidFill>
                  <a:srgbClr val="D65B35"/>
                </a:solidFill>
                <a:latin typeface="Liberation Mono" pitchFamily="34" charset="0"/>
                <a:ea typeface="Liberation Mono" pitchFamily="34" charset="-122"/>
                <a:cs typeface="Liberation Mono" pitchFamily="34" charset="-120"/>
              </a:rPr>
              <a:t>RUNNING LOCALLY</a:t>
            </a:r>
            <a:endParaRPr lang="en-US" sz="1050" dirty="0"/>
          </a:p>
        </p:txBody>
      </p:sp>
      <p:sp>
        <p:nvSpPr>
          <p:cNvPr id="88" name="Shape 85"/>
          <p:cNvSpPr/>
          <p:nvPr/>
        </p:nvSpPr>
        <p:spPr>
          <a:xfrm>
            <a:off x="7562088" y="1984248"/>
            <a:ext cx="182880" cy="182880"/>
          </a:xfrm>
          <a:prstGeom prst="roundRect">
            <a:avLst>
              <a:gd name="adj" fmla="val 20000"/>
            </a:avLst>
          </a:prstGeom>
          <a:solidFill>
            <a:srgbClr val="34735B"/>
          </a:solidFill>
          <a:ln w="12700">
            <a:solidFill>
              <a:srgbClr val="34735B">
                <a:alpha val="0"/>
              </a:srgbClr>
            </a:solidFill>
            <a:prstDash val="solid"/>
          </a:ln>
        </p:spPr>
      </p:sp>
      <p:sp>
        <p:nvSpPr>
          <p:cNvPr id="89" name="Text 86"/>
          <p:cNvSpPr/>
          <p:nvPr/>
        </p:nvSpPr>
        <p:spPr>
          <a:xfrm>
            <a:off x="7936992" y="1856232"/>
            <a:ext cx="3246120" cy="438912"/>
          </a:xfrm>
          <a:prstGeom prst="rect">
            <a:avLst/>
          </a:prstGeom>
          <a:noFill/>
          <a:ln/>
        </p:spPr>
        <p:txBody>
          <a:bodyPr wrap="square" lIns="0" tIns="0" rIns="0" bIns="0" rtlCol="0" anchor="ctr">
            <a:normAutofit/>
          </a:bodyPr>
          <a:lstStyle/>
          <a:p>
            <a:pPr indent="0" marL="0">
              <a:buNone/>
            </a:pPr>
            <a:r>
              <a:rPr lang="en-US" sz="1650" b="1" dirty="0">
                <a:solidFill>
                  <a:srgbClr val="171A16"/>
                </a:solidFill>
                <a:latin typeface="Liberation Sans" pitchFamily="34" charset="0"/>
                <a:ea typeface="Liberation Sans" pitchFamily="34" charset="-122"/>
                <a:cs typeface="Liberation Sans" pitchFamily="34" charset="-120"/>
              </a:rPr>
              <a:t>Model: Qwen3-4B</a:t>
            </a:r>
            <a:endParaRPr lang="en-US" sz="1650" dirty="0"/>
          </a:p>
        </p:txBody>
      </p:sp>
      <p:sp>
        <p:nvSpPr>
          <p:cNvPr id="90" name="Shape 87"/>
          <p:cNvSpPr/>
          <p:nvPr/>
        </p:nvSpPr>
        <p:spPr>
          <a:xfrm>
            <a:off x="7562088" y="2514600"/>
            <a:ext cx="182880" cy="182880"/>
          </a:xfrm>
          <a:prstGeom prst="roundRect">
            <a:avLst>
              <a:gd name="adj" fmla="val 20000"/>
            </a:avLst>
          </a:prstGeom>
          <a:solidFill>
            <a:srgbClr val="34735B"/>
          </a:solidFill>
          <a:ln w="12700">
            <a:solidFill>
              <a:srgbClr val="34735B">
                <a:alpha val="0"/>
              </a:srgbClr>
            </a:solidFill>
            <a:prstDash val="solid"/>
          </a:ln>
        </p:spPr>
      </p:sp>
      <p:sp>
        <p:nvSpPr>
          <p:cNvPr id="91" name="Text 88"/>
          <p:cNvSpPr/>
          <p:nvPr/>
        </p:nvSpPr>
        <p:spPr>
          <a:xfrm>
            <a:off x="7936992" y="2386584"/>
            <a:ext cx="3246120" cy="438912"/>
          </a:xfrm>
          <a:prstGeom prst="rect">
            <a:avLst/>
          </a:prstGeom>
          <a:noFill/>
          <a:ln/>
        </p:spPr>
        <p:txBody>
          <a:bodyPr wrap="square" lIns="0" tIns="0" rIns="0" bIns="0" rtlCol="0" anchor="ctr">
            <a:normAutofit/>
          </a:bodyPr>
          <a:lstStyle/>
          <a:p>
            <a:pPr indent="0" marL="0">
              <a:buNone/>
            </a:pPr>
            <a:r>
              <a:rPr lang="en-US" sz="1650" b="1" dirty="0">
                <a:solidFill>
                  <a:srgbClr val="171A16"/>
                </a:solidFill>
                <a:latin typeface="Liberation Sans" pitchFamily="34" charset="0"/>
                <a:ea typeface="Liberation Sans" pitchFamily="34" charset="-122"/>
                <a:cs typeface="Liberation Sans" pitchFamily="34" charset="-120"/>
              </a:rPr>
              <a:t>Quantization: Q4_K_M</a:t>
            </a:r>
            <a:endParaRPr lang="en-US" sz="1650" dirty="0"/>
          </a:p>
        </p:txBody>
      </p:sp>
      <p:sp>
        <p:nvSpPr>
          <p:cNvPr id="92" name="Shape 89"/>
          <p:cNvSpPr/>
          <p:nvPr/>
        </p:nvSpPr>
        <p:spPr>
          <a:xfrm>
            <a:off x="7562088" y="3044952"/>
            <a:ext cx="182880" cy="182880"/>
          </a:xfrm>
          <a:prstGeom prst="roundRect">
            <a:avLst>
              <a:gd name="adj" fmla="val 20000"/>
            </a:avLst>
          </a:prstGeom>
          <a:solidFill>
            <a:srgbClr val="34735B"/>
          </a:solidFill>
          <a:ln w="12700">
            <a:solidFill>
              <a:srgbClr val="34735B">
                <a:alpha val="0"/>
              </a:srgbClr>
            </a:solidFill>
            <a:prstDash val="solid"/>
          </a:ln>
        </p:spPr>
      </p:sp>
      <p:sp>
        <p:nvSpPr>
          <p:cNvPr id="93" name="Text 90"/>
          <p:cNvSpPr/>
          <p:nvPr/>
        </p:nvSpPr>
        <p:spPr>
          <a:xfrm>
            <a:off x="7936992" y="2916936"/>
            <a:ext cx="3246120" cy="438912"/>
          </a:xfrm>
          <a:prstGeom prst="rect">
            <a:avLst/>
          </a:prstGeom>
          <a:noFill/>
          <a:ln/>
        </p:spPr>
        <p:txBody>
          <a:bodyPr wrap="square" lIns="0" tIns="0" rIns="0" bIns="0" rtlCol="0" anchor="ctr">
            <a:normAutofit/>
          </a:bodyPr>
          <a:lstStyle/>
          <a:p>
            <a:pPr indent="0" marL="0">
              <a:buNone/>
            </a:pPr>
            <a:r>
              <a:rPr lang="en-US" sz="1650" b="1" dirty="0">
                <a:solidFill>
                  <a:srgbClr val="171A16"/>
                </a:solidFill>
                <a:latin typeface="Liberation Sans" pitchFamily="34" charset="0"/>
                <a:ea typeface="Liberation Sans" pitchFamily="34" charset="-122"/>
                <a:cs typeface="Liberation Sans" pitchFamily="34" charset="-120"/>
              </a:rPr>
              <a:t>Backend: CUDA</a:t>
            </a:r>
            <a:endParaRPr lang="en-US" sz="1650" dirty="0"/>
          </a:p>
        </p:txBody>
      </p:sp>
      <p:sp>
        <p:nvSpPr>
          <p:cNvPr id="94" name="Shape 91"/>
          <p:cNvSpPr/>
          <p:nvPr/>
        </p:nvSpPr>
        <p:spPr>
          <a:xfrm>
            <a:off x="7562088" y="3575304"/>
            <a:ext cx="182880" cy="182880"/>
          </a:xfrm>
          <a:prstGeom prst="roundRect">
            <a:avLst>
              <a:gd name="adj" fmla="val 20000"/>
            </a:avLst>
          </a:prstGeom>
          <a:solidFill>
            <a:srgbClr val="34735B"/>
          </a:solidFill>
          <a:ln w="12700">
            <a:solidFill>
              <a:srgbClr val="34735B">
                <a:alpha val="0"/>
              </a:srgbClr>
            </a:solidFill>
            <a:prstDash val="solid"/>
          </a:ln>
        </p:spPr>
      </p:sp>
      <p:sp>
        <p:nvSpPr>
          <p:cNvPr id="95" name="Text 92"/>
          <p:cNvSpPr/>
          <p:nvPr/>
        </p:nvSpPr>
        <p:spPr>
          <a:xfrm>
            <a:off x="7936992" y="3447288"/>
            <a:ext cx="3246120" cy="438912"/>
          </a:xfrm>
          <a:prstGeom prst="rect">
            <a:avLst/>
          </a:prstGeom>
          <a:noFill/>
          <a:ln/>
        </p:spPr>
        <p:txBody>
          <a:bodyPr wrap="square" lIns="0" tIns="0" rIns="0" bIns="0" rtlCol="0" anchor="ctr">
            <a:normAutofit/>
          </a:bodyPr>
          <a:lstStyle/>
          <a:p>
            <a:pPr indent="0" marL="0">
              <a:buNone/>
            </a:pPr>
            <a:r>
              <a:rPr lang="en-US" sz="1650" b="1" dirty="0">
                <a:solidFill>
                  <a:srgbClr val="171A16"/>
                </a:solidFill>
                <a:latin typeface="Liberation Sans" pitchFamily="34" charset="0"/>
                <a:ea typeface="Liberation Sans" pitchFamily="34" charset="-122"/>
                <a:cs typeface="Liberation Sans" pitchFamily="34" charset="-120"/>
              </a:rPr>
              <a:t>GPU memory: 8 GB</a:t>
            </a:r>
            <a:endParaRPr lang="en-US" sz="1650" dirty="0"/>
          </a:p>
        </p:txBody>
      </p:sp>
      <p:sp>
        <p:nvSpPr>
          <p:cNvPr id="96" name="Shape 93"/>
          <p:cNvSpPr/>
          <p:nvPr/>
        </p:nvSpPr>
        <p:spPr>
          <a:xfrm>
            <a:off x="7562088" y="4105656"/>
            <a:ext cx="182880" cy="182880"/>
          </a:xfrm>
          <a:prstGeom prst="roundRect">
            <a:avLst>
              <a:gd name="adj" fmla="val 20000"/>
            </a:avLst>
          </a:prstGeom>
          <a:solidFill>
            <a:srgbClr val="34735B"/>
          </a:solidFill>
          <a:ln w="12700">
            <a:solidFill>
              <a:srgbClr val="34735B">
                <a:alpha val="0"/>
              </a:srgbClr>
            </a:solidFill>
            <a:prstDash val="solid"/>
          </a:ln>
        </p:spPr>
      </p:sp>
      <p:sp>
        <p:nvSpPr>
          <p:cNvPr id="97" name="Text 94"/>
          <p:cNvSpPr/>
          <p:nvPr/>
        </p:nvSpPr>
        <p:spPr>
          <a:xfrm>
            <a:off x="7936992" y="3977640"/>
            <a:ext cx="3246120" cy="438912"/>
          </a:xfrm>
          <a:prstGeom prst="rect">
            <a:avLst/>
          </a:prstGeom>
          <a:noFill/>
          <a:ln/>
        </p:spPr>
        <p:txBody>
          <a:bodyPr wrap="square" lIns="0" tIns="0" rIns="0" bIns="0" rtlCol="0" anchor="ctr">
            <a:normAutofit/>
          </a:bodyPr>
          <a:lstStyle/>
          <a:p>
            <a:pPr indent="0" marL="0">
              <a:buNone/>
            </a:pPr>
            <a:r>
              <a:rPr lang="en-US" sz="1650" b="1" dirty="0">
                <a:solidFill>
                  <a:srgbClr val="171A16"/>
                </a:solidFill>
                <a:latin typeface="Liberation Sans" pitchFamily="34" charset="0"/>
                <a:ea typeface="Liberation Sans" pitchFamily="34" charset="-122"/>
                <a:cs typeface="Liberation Sans" pitchFamily="34" charset="-120"/>
              </a:rPr>
              <a:t>Network: not required after setup</a:t>
            </a:r>
            <a:endParaRPr lang="en-US" sz="1650" dirty="0"/>
          </a:p>
        </p:txBody>
      </p:sp>
      <p:sp>
        <p:nvSpPr>
          <p:cNvPr id="98" name="Text 95"/>
          <p:cNvSpPr/>
          <p:nvPr/>
        </p:nvSpPr>
        <p:spPr>
          <a:xfrm>
            <a:off x="7552944" y="4818888"/>
            <a:ext cx="640080" cy="228600"/>
          </a:xfrm>
          <a:prstGeom prst="rect">
            <a:avLst/>
          </a:prstGeom>
          <a:noFill/>
          <a:ln/>
        </p:spPr>
        <p:txBody>
          <a:bodyPr wrap="square" lIns="0" tIns="0" rIns="0" bIns="0" rtlCol="0" anchor="ctr">
            <a:normAutofit/>
          </a:bodyPr>
          <a:lstStyle/>
          <a:p>
            <a:pPr indent="0" marL="0">
              <a:buNone/>
            </a:pPr>
            <a:r>
              <a:rPr lang="en-US" sz="1050" b="1" dirty="0">
                <a:solidFill>
                  <a:srgbClr val="D65B35"/>
                </a:solidFill>
                <a:latin typeface="Liberation Mono" pitchFamily="34" charset="0"/>
                <a:ea typeface="Liberation Mono" pitchFamily="34" charset="-122"/>
                <a:cs typeface="Liberation Mono" pitchFamily="34" charset="-120"/>
              </a:rPr>
              <a:t>WATCH</a:t>
            </a:r>
            <a:endParaRPr lang="en-US" sz="1050" dirty="0"/>
          </a:p>
        </p:txBody>
      </p:sp>
      <p:sp>
        <p:nvSpPr>
          <p:cNvPr id="99" name="Shape 96"/>
          <p:cNvSpPr/>
          <p:nvPr/>
        </p:nvSpPr>
        <p:spPr>
          <a:xfrm>
            <a:off x="7543800" y="5148072"/>
            <a:ext cx="1371600" cy="402336"/>
          </a:xfrm>
          <a:prstGeom prst="roundRect">
            <a:avLst>
              <a:gd name="adj" fmla="val 27273"/>
            </a:avLst>
          </a:prstGeom>
          <a:solidFill>
            <a:srgbClr val="DCE8DF"/>
          </a:solidFill>
          <a:ln w="12700">
            <a:solidFill>
              <a:srgbClr val="DCE8DF">
                <a:alpha val="0"/>
              </a:srgbClr>
            </a:solidFill>
            <a:prstDash val="solid"/>
          </a:ln>
        </p:spPr>
      </p:sp>
      <p:sp>
        <p:nvSpPr>
          <p:cNvPr id="100" name="Text 97"/>
          <p:cNvSpPr/>
          <p:nvPr/>
        </p:nvSpPr>
        <p:spPr>
          <a:xfrm>
            <a:off x="7543800" y="5148072"/>
            <a:ext cx="137160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Candidate moves</a:t>
            </a:r>
            <a:endParaRPr lang="en-US" sz="1100" dirty="0"/>
          </a:p>
        </p:txBody>
      </p:sp>
      <p:sp>
        <p:nvSpPr>
          <p:cNvPr id="101" name="Shape 98"/>
          <p:cNvSpPr/>
          <p:nvPr/>
        </p:nvSpPr>
        <p:spPr>
          <a:xfrm>
            <a:off x="9116568" y="5148072"/>
            <a:ext cx="1371600" cy="402336"/>
          </a:xfrm>
          <a:prstGeom prst="roundRect">
            <a:avLst>
              <a:gd name="adj" fmla="val 27273"/>
            </a:avLst>
          </a:prstGeom>
          <a:solidFill>
            <a:srgbClr val="F3D8C6"/>
          </a:solidFill>
          <a:ln w="12700">
            <a:solidFill>
              <a:srgbClr val="F3D8C6">
                <a:alpha val="0"/>
              </a:srgbClr>
            </a:solidFill>
            <a:prstDash val="solid"/>
          </a:ln>
        </p:spPr>
      </p:sp>
      <p:sp>
        <p:nvSpPr>
          <p:cNvPr id="102" name="Text 99"/>
          <p:cNvSpPr/>
          <p:nvPr/>
        </p:nvSpPr>
        <p:spPr>
          <a:xfrm>
            <a:off x="9116568" y="5148072"/>
            <a:ext cx="137160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Chosen move</a:t>
            </a:r>
            <a:endParaRPr lang="en-US" sz="1100" dirty="0"/>
          </a:p>
        </p:txBody>
      </p:sp>
      <p:sp>
        <p:nvSpPr>
          <p:cNvPr id="103" name="Shape 100"/>
          <p:cNvSpPr/>
          <p:nvPr/>
        </p:nvSpPr>
        <p:spPr>
          <a:xfrm>
            <a:off x="7543800" y="5614416"/>
            <a:ext cx="1371600" cy="402336"/>
          </a:xfrm>
          <a:prstGeom prst="roundRect">
            <a:avLst>
              <a:gd name="adj" fmla="val 27273"/>
            </a:avLst>
          </a:prstGeom>
          <a:solidFill>
            <a:srgbClr val="DCE8DF"/>
          </a:solidFill>
          <a:ln w="12700">
            <a:solidFill>
              <a:srgbClr val="DCE8DF">
                <a:alpha val="0"/>
              </a:srgbClr>
            </a:solidFill>
            <a:prstDash val="solid"/>
          </a:ln>
        </p:spPr>
      </p:sp>
      <p:sp>
        <p:nvSpPr>
          <p:cNvPr id="104" name="Text 101"/>
          <p:cNvSpPr/>
          <p:nvPr/>
        </p:nvSpPr>
        <p:spPr>
          <a:xfrm>
            <a:off x="7543800" y="5614416"/>
            <a:ext cx="137160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Commentary</a:t>
            </a:r>
            <a:endParaRPr lang="en-US" sz="1100" dirty="0"/>
          </a:p>
        </p:txBody>
      </p:sp>
      <p:sp>
        <p:nvSpPr>
          <p:cNvPr id="105" name="Shape 102"/>
          <p:cNvSpPr/>
          <p:nvPr/>
        </p:nvSpPr>
        <p:spPr>
          <a:xfrm>
            <a:off x="9116568" y="5614416"/>
            <a:ext cx="1371600" cy="402336"/>
          </a:xfrm>
          <a:prstGeom prst="roundRect">
            <a:avLst>
              <a:gd name="adj" fmla="val 27273"/>
            </a:avLst>
          </a:prstGeom>
          <a:solidFill>
            <a:srgbClr val="DCE8DF"/>
          </a:solidFill>
          <a:ln w="12700">
            <a:solidFill>
              <a:srgbClr val="DCE8DF">
                <a:alpha val="0"/>
              </a:srgbClr>
            </a:solidFill>
            <a:prstDash val="solid"/>
          </a:ln>
        </p:spPr>
      </p:sp>
      <p:sp>
        <p:nvSpPr>
          <p:cNvPr id="106" name="Text 103"/>
          <p:cNvSpPr/>
          <p:nvPr/>
        </p:nvSpPr>
        <p:spPr>
          <a:xfrm>
            <a:off x="9116568" y="5614416"/>
            <a:ext cx="137160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Latency</a:t>
            </a:r>
            <a:endParaRPr lang="en-US" sz="1100" dirty="0"/>
          </a:p>
        </p:txBody>
      </p:sp>
      <p:sp>
        <p:nvSpPr>
          <p:cNvPr id="107" name="Shape 104"/>
          <p:cNvSpPr/>
          <p:nvPr/>
        </p:nvSpPr>
        <p:spPr>
          <a:xfrm>
            <a:off x="7543800" y="6080760"/>
            <a:ext cx="1371600" cy="402336"/>
          </a:xfrm>
          <a:prstGeom prst="roundRect">
            <a:avLst>
              <a:gd name="adj" fmla="val 27273"/>
            </a:avLst>
          </a:prstGeom>
          <a:solidFill>
            <a:srgbClr val="DCE8DF"/>
          </a:solidFill>
          <a:ln w="12700">
            <a:solidFill>
              <a:srgbClr val="DCE8DF">
                <a:alpha val="0"/>
              </a:srgbClr>
            </a:solidFill>
            <a:prstDash val="solid"/>
          </a:ln>
        </p:spPr>
      </p:sp>
      <p:sp>
        <p:nvSpPr>
          <p:cNvPr id="108" name="Text 105"/>
          <p:cNvSpPr/>
          <p:nvPr/>
        </p:nvSpPr>
        <p:spPr>
          <a:xfrm>
            <a:off x="7543800" y="6080760"/>
            <a:ext cx="1371600" cy="402336"/>
          </a:xfrm>
          <a:prstGeom prst="rect">
            <a:avLst/>
          </a:prstGeom>
          <a:noFill/>
          <a:ln/>
        </p:spPr>
        <p:txBody>
          <a:bodyPr wrap="square" lIns="0" tIns="0" rIns="0" bIns="0" rtlCol="0" anchor="ctr">
            <a:normAutofit/>
          </a:bodyPr>
          <a:lstStyle/>
          <a:p>
            <a:pPr algn="ctr" indent="0" marL="0">
              <a:buNone/>
            </a:pPr>
            <a:r>
              <a:rPr lang="en-US" sz="1100" b="1" dirty="0">
                <a:solidFill>
                  <a:srgbClr val="171A16"/>
                </a:solidFill>
                <a:latin typeface="Liberation Mono" pitchFamily="34" charset="0"/>
                <a:ea typeface="Liberation Mono" pitchFamily="34" charset="-122"/>
                <a:cs typeface="Liberation Mono" pitchFamily="34" charset="-120"/>
              </a:rPr>
              <a:t>Tokens / second</a:t>
            </a:r>
            <a:endParaRPr lang="en-US" sz="110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40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D65B35"/>
          </a:solidFill>
          <a:ln w="12700">
            <a:solidFill>
              <a:srgbClr val="D65B35">
                <a:alpha val="0"/>
              </a:srgbClr>
            </a:solidFill>
            <a:prstDash val="solid"/>
          </a:ln>
        </p:spPr>
      </p:sp>
      <p:sp>
        <p:nvSpPr>
          <p:cNvPr id="3" name="Text 1"/>
          <p:cNvSpPr/>
          <p:nvPr/>
        </p:nvSpPr>
        <p:spPr>
          <a:xfrm>
            <a:off x="676656" y="557784"/>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E89B45"/>
                </a:solidFill>
                <a:latin typeface="Liberation Mono" pitchFamily="34" charset="0"/>
                <a:ea typeface="Liberation Mono" pitchFamily="34" charset="-122"/>
                <a:cs typeface="Liberation Mono" pitchFamily="34" charset="-120"/>
              </a:rPr>
              <a:t>THE OPPORTUNITY IS OWNERSHIP</a:t>
            </a:r>
            <a:endParaRPr lang="en-US" sz="1100" dirty="0"/>
          </a:p>
        </p:txBody>
      </p:sp>
      <p:sp>
        <p:nvSpPr>
          <p:cNvPr id="4" name="Text 2"/>
          <p:cNvSpPr/>
          <p:nvPr/>
        </p:nvSpPr>
        <p:spPr>
          <a:xfrm>
            <a:off x="658368" y="1033272"/>
            <a:ext cx="6629400" cy="777240"/>
          </a:xfrm>
          <a:prstGeom prst="rect">
            <a:avLst/>
          </a:prstGeom>
          <a:noFill/>
          <a:ln/>
        </p:spPr>
        <p:txBody>
          <a:bodyPr wrap="square" lIns="0" tIns="0" rIns="0" bIns="0" rtlCol="0" anchor="ctr">
            <a:normAutofit/>
          </a:bodyPr>
          <a:lstStyle/>
          <a:p>
            <a:pPr indent="0" marL="0">
              <a:buNone/>
            </a:pPr>
            <a:r>
              <a:rPr lang="en-US" sz="3600" b="1" dirty="0">
                <a:solidFill>
                  <a:srgbClr val="FFFDF7"/>
                </a:solidFill>
                <a:latin typeface="Liberation Sans" pitchFamily="34" charset="0"/>
                <a:ea typeface="Liberation Sans" pitchFamily="34" charset="-122"/>
                <a:cs typeface="Liberation Sans" pitchFamily="34" charset="-120"/>
              </a:rPr>
              <a:t>Start with one bounded task</a:t>
            </a:r>
            <a:endParaRPr lang="en-US" sz="3600" dirty="0"/>
          </a:p>
        </p:txBody>
      </p:sp>
      <p:sp>
        <p:nvSpPr>
          <p:cNvPr id="5" name="Text 3"/>
          <p:cNvSpPr/>
          <p:nvPr/>
        </p:nvSpPr>
        <p:spPr>
          <a:xfrm>
            <a:off x="685800" y="2331720"/>
            <a:ext cx="512064" cy="301752"/>
          </a:xfrm>
          <a:prstGeom prst="rect">
            <a:avLst/>
          </a:prstGeom>
          <a:noFill/>
          <a:ln/>
        </p:spPr>
        <p:txBody>
          <a:bodyPr wrap="square" lIns="0" tIns="0" rIns="0" bIns="0" rtlCol="0" anchor="ctr">
            <a:normAutofit/>
          </a:bodyPr>
          <a:lstStyle/>
          <a:p>
            <a:pPr indent="0" marL="0">
              <a:buNone/>
            </a:pPr>
            <a:r>
              <a:rPr lang="en-US" sz="1200" b="1" dirty="0">
                <a:solidFill>
                  <a:srgbClr val="E89B45"/>
                </a:solidFill>
                <a:latin typeface="Liberation Mono" pitchFamily="34" charset="0"/>
                <a:ea typeface="Liberation Mono" pitchFamily="34" charset="-122"/>
                <a:cs typeface="Liberation Mono" pitchFamily="34" charset="-120"/>
              </a:rPr>
              <a:t>01</a:t>
            </a:r>
            <a:endParaRPr lang="en-US" sz="1200" dirty="0"/>
          </a:p>
        </p:txBody>
      </p:sp>
      <p:sp>
        <p:nvSpPr>
          <p:cNvPr id="6" name="Text 4"/>
          <p:cNvSpPr/>
          <p:nvPr/>
        </p:nvSpPr>
        <p:spPr>
          <a:xfrm>
            <a:off x="1417320" y="2185416"/>
            <a:ext cx="5532120" cy="566928"/>
          </a:xfrm>
          <a:prstGeom prst="rect">
            <a:avLst/>
          </a:prstGeom>
          <a:noFill/>
          <a:ln/>
        </p:spPr>
        <p:txBody>
          <a:bodyPr wrap="square" lIns="0" tIns="0" rIns="0" bIns="0" rtlCol="0" anchor="ctr">
            <a:normAutofit/>
          </a:bodyPr>
          <a:lstStyle/>
          <a:p>
            <a:pPr indent="0" marL="0">
              <a:buNone/>
            </a:pPr>
            <a:r>
              <a:rPr lang="en-US" sz="1800" dirty="0">
                <a:solidFill>
                  <a:srgbClr val="E1E4DC"/>
                </a:solidFill>
                <a:latin typeface="Liberation Sans" pitchFamily="34" charset="0"/>
                <a:ea typeface="Liberation Sans" pitchFamily="34" charset="-122"/>
                <a:cs typeface="Liberation Sans" pitchFamily="34" charset="-120"/>
              </a:rPr>
              <a:t>Use cloud models when maximum capability matters.</a:t>
            </a:r>
            <a:endParaRPr lang="en-US" sz="1800" dirty="0"/>
          </a:p>
        </p:txBody>
      </p:sp>
      <p:sp>
        <p:nvSpPr>
          <p:cNvPr id="7" name="Text 5"/>
          <p:cNvSpPr/>
          <p:nvPr/>
        </p:nvSpPr>
        <p:spPr>
          <a:xfrm>
            <a:off x="685800" y="3163824"/>
            <a:ext cx="512064" cy="301752"/>
          </a:xfrm>
          <a:prstGeom prst="rect">
            <a:avLst/>
          </a:prstGeom>
          <a:noFill/>
          <a:ln/>
        </p:spPr>
        <p:txBody>
          <a:bodyPr wrap="square" lIns="0" tIns="0" rIns="0" bIns="0" rtlCol="0" anchor="ctr">
            <a:normAutofit/>
          </a:bodyPr>
          <a:lstStyle/>
          <a:p>
            <a:pPr indent="0" marL="0">
              <a:buNone/>
            </a:pPr>
            <a:r>
              <a:rPr lang="en-US" sz="1200" b="1" dirty="0">
                <a:solidFill>
                  <a:srgbClr val="E89B45"/>
                </a:solidFill>
                <a:latin typeface="Liberation Mono" pitchFamily="34" charset="0"/>
                <a:ea typeface="Liberation Mono" pitchFamily="34" charset="-122"/>
                <a:cs typeface="Liberation Mono" pitchFamily="34" charset="-120"/>
              </a:rPr>
              <a:t>02</a:t>
            </a:r>
            <a:endParaRPr lang="en-US" sz="1200" dirty="0"/>
          </a:p>
        </p:txBody>
      </p:sp>
      <p:sp>
        <p:nvSpPr>
          <p:cNvPr id="8" name="Text 6"/>
          <p:cNvSpPr/>
          <p:nvPr/>
        </p:nvSpPr>
        <p:spPr>
          <a:xfrm>
            <a:off x="1417320" y="3017520"/>
            <a:ext cx="5532120" cy="566928"/>
          </a:xfrm>
          <a:prstGeom prst="rect">
            <a:avLst/>
          </a:prstGeom>
          <a:noFill/>
          <a:ln/>
        </p:spPr>
        <p:txBody>
          <a:bodyPr wrap="square" lIns="0" tIns="0" rIns="0" bIns="0" rtlCol="0" anchor="ctr">
            <a:normAutofit/>
          </a:bodyPr>
          <a:lstStyle/>
          <a:p>
            <a:pPr indent="0" marL="0">
              <a:buNone/>
            </a:pPr>
            <a:r>
              <a:rPr lang="en-US" sz="1800" dirty="0">
                <a:solidFill>
                  <a:srgbClr val="E1E4DC"/>
                </a:solidFill>
                <a:latin typeface="Liberation Sans" pitchFamily="34" charset="0"/>
                <a:ea typeface="Liberation Sans" pitchFamily="34" charset="-122"/>
                <a:cs typeface="Liberation Sans" pitchFamily="34" charset="-120"/>
              </a:rPr>
              <a:t>Use local models when privacy, control, latency, or learning matters.</a:t>
            </a:r>
            <a:endParaRPr lang="en-US" sz="1800" dirty="0"/>
          </a:p>
        </p:txBody>
      </p:sp>
      <p:sp>
        <p:nvSpPr>
          <p:cNvPr id="9" name="Text 7"/>
          <p:cNvSpPr/>
          <p:nvPr/>
        </p:nvSpPr>
        <p:spPr>
          <a:xfrm>
            <a:off x="685800" y="3995928"/>
            <a:ext cx="512064" cy="301752"/>
          </a:xfrm>
          <a:prstGeom prst="rect">
            <a:avLst/>
          </a:prstGeom>
          <a:noFill/>
          <a:ln/>
        </p:spPr>
        <p:txBody>
          <a:bodyPr wrap="square" lIns="0" tIns="0" rIns="0" bIns="0" rtlCol="0" anchor="ctr">
            <a:normAutofit/>
          </a:bodyPr>
          <a:lstStyle/>
          <a:p>
            <a:pPr indent="0" marL="0">
              <a:buNone/>
            </a:pPr>
            <a:r>
              <a:rPr lang="en-US" sz="1200" b="1" dirty="0">
                <a:solidFill>
                  <a:srgbClr val="E89B45"/>
                </a:solidFill>
                <a:latin typeface="Liberation Mono" pitchFamily="34" charset="0"/>
                <a:ea typeface="Liberation Mono" pitchFamily="34" charset="-122"/>
                <a:cs typeface="Liberation Mono" pitchFamily="34" charset="-120"/>
              </a:rPr>
              <a:t>03</a:t>
            </a:r>
            <a:endParaRPr lang="en-US" sz="1200" dirty="0"/>
          </a:p>
        </p:txBody>
      </p:sp>
      <p:sp>
        <p:nvSpPr>
          <p:cNvPr id="10" name="Text 8"/>
          <p:cNvSpPr/>
          <p:nvPr/>
        </p:nvSpPr>
        <p:spPr>
          <a:xfrm>
            <a:off x="1417320" y="3849624"/>
            <a:ext cx="5532120" cy="566928"/>
          </a:xfrm>
          <a:prstGeom prst="rect">
            <a:avLst/>
          </a:prstGeom>
          <a:noFill/>
          <a:ln/>
        </p:spPr>
        <p:txBody>
          <a:bodyPr wrap="square" lIns="0" tIns="0" rIns="0" bIns="0" rtlCol="0" anchor="ctr">
            <a:normAutofit/>
          </a:bodyPr>
          <a:lstStyle/>
          <a:p>
            <a:pPr indent="0" marL="0">
              <a:buNone/>
            </a:pPr>
            <a:r>
              <a:rPr lang="en-US" sz="1800" dirty="0">
                <a:solidFill>
                  <a:srgbClr val="E1E4DC"/>
                </a:solidFill>
                <a:latin typeface="Liberation Sans" pitchFamily="34" charset="0"/>
                <a:ea typeface="Liberation Sans" pitchFamily="34" charset="-122"/>
                <a:cs typeface="Liberation Sans" pitchFamily="34" charset="-120"/>
              </a:rPr>
              <a:t>Build systems that decide what the model may decide.</a:t>
            </a:r>
            <a:endParaRPr lang="en-US" sz="1800" dirty="0"/>
          </a:p>
        </p:txBody>
      </p:sp>
      <p:sp>
        <p:nvSpPr>
          <p:cNvPr id="11" name="Shape 9"/>
          <p:cNvSpPr/>
          <p:nvPr/>
        </p:nvSpPr>
        <p:spPr>
          <a:xfrm>
            <a:off x="7973568" y="0"/>
            <a:ext cx="4215384" cy="6858000"/>
          </a:xfrm>
          <a:prstGeom prst="rect">
            <a:avLst/>
          </a:prstGeom>
          <a:solidFill>
            <a:srgbClr val="232821"/>
          </a:solidFill>
          <a:ln w="12700">
            <a:solidFill>
              <a:srgbClr val="232821">
                <a:alpha val="0"/>
              </a:srgbClr>
            </a:solidFill>
            <a:prstDash val="solid"/>
          </a:ln>
        </p:spPr>
      </p:sp>
      <p:sp>
        <p:nvSpPr>
          <p:cNvPr id="12" name="Text 10"/>
          <p:cNvSpPr/>
          <p:nvPr/>
        </p:nvSpPr>
        <p:spPr>
          <a:xfrm>
            <a:off x="8476488" y="914400"/>
            <a:ext cx="2743200" cy="2057400"/>
          </a:xfrm>
          <a:prstGeom prst="rect">
            <a:avLst/>
          </a:prstGeom>
          <a:noFill/>
          <a:ln/>
        </p:spPr>
        <p:txBody>
          <a:bodyPr wrap="square" lIns="0" tIns="0" rIns="0" bIns="0" rtlCol="0" anchor="ctr">
            <a:normAutofit/>
          </a:bodyPr>
          <a:lstStyle/>
          <a:p>
            <a:pPr algn="ctr" indent="0" marL="0">
              <a:buNone/>
            </a:pPr>
            <a:r>
              <a:rPr lang="en-US" sz="10500" b="1" dirty="0">
                <a:solidFill>
                  <a:srgbClr val="D65B35"/>
                </a:solidFill>
                <a:latin typeface="Liberation Sans" pitchFamily="34" charset="0"/>
                <a:ea typeface="Liberation Sans" pitchFamily="34" charset="-122"/>
                <a:cs typeface="Liberation Sans" pitchFamily="34" charset="-120"/>
              </a:rPr>
              <a:t>8</a:t>
            </a:r>
            <a:endParaRPr lang="en-US" sz="10500" dirty="0"/>
          </a:p>
        </p:txBody>
      </p:sp>
      <p:sp>
        <p:nvSpPr>
          <p:cNvPr id="13" name="Text 11"/>
          <p:cNvSpPr/>
          <p:nvPr/>
        </p:nvSpPr>
        <p:spPr>
          <a:xfrm>
            <a:off x="8641080" y="2651760"/>
            <a:ext cx="2423160" cy="548640"/>
          </a:xfrm>
          <a:prstGeom prst="rect">
            <a:avLst/>
          </a:prstGeom>
          <a:noFill/>
          <a:ln/>
        </p:spPr>
        <p:txBody>
          <a:bodyPr wrap="square" lIns="0" tIns="0" rIns="0" bIns="0" rtlCol="0" anchor="ctr">
            <a:normAutofit/>
          </a:bodyPr>
          <a:lstStyle/>
          <a:p>
            <a:pPr algn="ctr" indent="0" marL="0">
              <a:buNone/>
            </a:pPr>
            <a:r>
              <a:rPr lang="en-US" sz="2500" b="1" spc="500" kern="0" dirty="0">
                <a:solidFill>
                  <a:srgbClr val="E89B45"/>
                </a:solidFill>
                <a:latin typeface="Liberation Mono" pitchFamily="34" charset="0"/>
                <a:ea typeface="Liberation Mono" pitchFamily="34" charset="-122"/>
                <a:cs typeface="Liberation Mono" pitchFamily="34" charset="-120"/>
              </a:rPr>
              <a:t>GB</a:t>
            </a:r>
            <a:endParaRPr lang="en-US" sz="2500" dirty="0"/>
          </a:p>
        </p:txBody>
      </p:sp>
      <p:sp>
        <p:nvSpPr>
          <p:cNvPr id="14" name="Shape 12"/>
          <p:cNvSpPr/>
          <p:nvPr/>
        </p:nvSpPr>
        <p:spPr>
          <a:xfrm>
            <a:off x="8577072" y="3611880"/>
            <a:ext cx="2606040" cy="0"/>
          </a:xfrm>
          <a:prstGeom prst="line">
            <a:avLst/>
          </a:prstGeom>
          <a:noFill/>
          <a:ln w="15240">
            <a:solidFill>
              <a:srgbClr val="555D50"/>
            </a:solidFill>
            <a:prstDash val="solid"/>
          </a:ln>
        </p:spPr>
      </p:sp>
      <p:sp>
        <p:nvSpPr>
          <p:cNvPr id="15" name="Text 13"/>
          <p:cNvSpPr/>
          <p:nvPr/>
        </p:nvSpPr>
        <p:spPr>
          <a:xfrm>
            <a:off x="8375904" y="4069080"/>
            <a:ext cx="3017520" cy="1170432"/>
          </a:xfrm>
          <a:prstGeom prst="rect">
            <a:avLst/>
          </a:prstGeom>
          <a:noFill/>
          <a:ln/>
        </p:spPr>
        <p:txBody>
          <a:bodyPr wrap="square" lIns="0" tIns="0" rIns="0" bIns="0" rtlCol="0" anchor="ctr">
            <a:normAutofit/>
          </a:bodyPr>
          <a:lstStyle/>
          <a:p>
            <a:pPr algn="ctr" indent="0" marL="0">
              <a:buNone/>
            </a:pPr>
            <a:r>
              <a:rPr lang="en-US" sz="2100" b="1" dirty="0">
                <a:solidFill>
                  <a:srgbClr val="FFFDF7"/>
                </a:solidFill>
                <a:latin typeface="Liberation Sans" pitchFamily="34" charset="0"/>
                <a:ea typeface="Liberation Sans" pitchFamily="34" charset="-122"/>
                <a:cs typeface="Liberation Sans" pitchFamily="34" charset="-120"/>
              </a:rPr>
              <a:t>The future is hybrid—and part of it fits in 8 GB.</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APPENDIX · SOURCES</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Sources</a:t>
            </a:r>
            <a:endParaRPr lang="en-US" sz="3100" dirty="0"/>
          </a:p>
        </p:txBody>
      </p:sp>
      <p:sp>
        <p:nvSpPr>
          <p:cNvPr id="5" name="Shape 2"/>
          <p:cNvSpPr/>
          <p:nvPr/>
        </p:nvSpPr>
        <p:spPr>
          <a:xfrm>
            <a:off x="603504" y="1508760"/>
            <a:ext cx="5230368" cy="1225296"/>
          </a:xfrm>
          <a:prstGeom prst="roundRect">
            <a:avLst>
              <a:gd name="adj" fmla="val 7463"/>
            </a:avLst>
          </a:prstGeom>
          <a:solidFill>
            <a:srgbClr val="FFFDF6"/>
          </a:solidFill>
          <a:ln w="12700">
            <a:solidFill>
              <a:srgbClr val="D4CEBE"/>
            </a:solidFill>
            <a:prstDash val="solid"/>
          </a:ln>
        </p:spPr>
      </p:sp>
      <p:sp>
        <p:nvSpPr>
          <p:cNvPr id="6" name="Text 3"/>
          <p:cNvSpPr/>
          <p:nvPr/>
        </p:nvSpPr>
        <p:spPr>
          <a:xfrm>
            <a:off x="822960" y="1691640"/>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STATE OF AI</a:t>
            </a:r>
            <a:endParaRPr lang="en-US" sz="900" dirty="0"/>
          </a:p>
        </p:txBody>
      </p:sp>
      <p:sp>
        <p:nvSpPr>
          <p:cNvPr id="7" name="Text 4"/>
          <p:cNvSpPr/>
          <p:nvPr/>
        </p:nvSpPr>
        <p:spPr>
          <a:xfrm>
            <a:off x="822960" y="1993392"/>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Stanford HAI · 2026 AI Index, Technical Performance</a:t>
            </a:r>
            <a:endParaRPr lang="en-US" sz="1550" dirty="0"/>
          </a:p>
        </p:txBody>
      </p:sp>
      <p:sp>
        <p:nvSpPr>
          <p:cNvPr id="8" name="Shape 5"/>
          <p:cNvSpPr/>
          <p:nvPr/>
        </p:nvSpPr>
        <p:spPr>
          <a:xfrm>
            <a:off x="6181344" y="1508760"/>
            <a:ext cx="5230368" cy="1225296"/>
          </a:xfrm>
          <a:prstGeom prst="roundRect">
            <a:avLst>
              <a:gd name="adj" fmla="val 7463"/>
            </a:avLst>
          </a:prstGeom>
          <a:solidFill>
            <a:srgbClr val="FFFDF6"/>
          </a:solidFill>
          <a:ln w="12700">
            <a:solidFill>
              <a:srgbClr val="D4CEBE"/>
            </a:solidFill>
            <a:prstDash val="solid"/>
          </a:ln>
        </p:spPr>
      </p:sp>
      <p:sp>
        <p:nvSpPr>
          <p:cNvPr id="9" name="Text 6"/>
          <p:cNvSpPr/>
          <p:nvPr/>
        </p:nvSpPr>
        <p:spPr>
          <a:xfrm>
            <a:off x="6400800" y="1691640"/>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HISTORY</a:t>
            </a:r>
            <a:endParaRPr lang="en-US" sz="900" dirty="0"/>
          </a:p>
        </p:txBody>
      </p:sp>
      <p:sp>
        <p:nvSpPr>
          <p:cNvPr id="10" name="Text 7"/>
          <p:cNvSpPr/>
          <p:nvPr/>
        </p:nvSpPr>
        <p:spPr>
          <a:xfrm>
            <a:off x="6400800" y="1993392"/>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Computer History Museum · Timeline of Computer History</a:t>
            </a:r>
            <a:endParaRPr lang="en-US" sz="1550" dirty="0"/>
          </a:p>
        </p:txBody>
      </p:sp>
      <p:sp>
        <p:nvSpPr>
          <p:cNvPr id="11" name="Shape 8"/>
          <p:cNvSpPr/>
          <p:nvPr/>
        </p:nvSpPr>
        <p:spPr>
          <a:xfrm>
            <a:off x="603504" y="3044952"/>
            <a:ext cx="5230368" cy="1225296"/>
          </a:xfrm>
          <a:prstGeom prst="roundRect">
            <a:avLst>
              <a:gd name="adj" fmla="val 7463"/>
            </a:avLst>
          </a:prstGeom>
          <a:solidFill>
            <a:srgbClr val="FFFDF6"/>
          </a:solidFill>
          <a:ln w="12700">
            <a:solidFill>
              <a:srgbClr val="D4CEBE"/>
            </a:solidFill>
            <a:prstDash val="solid"/>
          </a:ln>
        </p:spPr>
      </p:sp>
      <p:sp>
        <p:nvSpPr>
          <p:cNvPr id="12" name="Text 9"/>
          <p:cNvSpPr/>
          <p:nvPr/>
        </p:nvSpPr>
        <p:spPr>
          <a:xfrm>
            <a:off x="822960" y="3227832"/>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MILESTONES</a:t>
            </a:r>
            <a:endParaRPr lang="en-US" sz="900" dirty="0"/>
          </a:p>
        </p:txBody>
      </p:sp>
      <p:sp>
        <p:nvSpPr>
          <p:cNvPr id="13" name="Text 10"/>
          <p:cNvSpPr/>
          <p:nvPr/>
        </p:nvSpPr>
        <p:spPr>
          <a:xfrm>
            <a:off x="822960" y="3529584"/>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Google Research · Attention Is All You Need; OpenAI · Introducing ChatGPT</a:t>
            </a:r>
            <a:endParaRPr lang="en-US" sz="1550" dirty="0"/>
          </a:p>
        </p:txBody>
      </p:sp>
      <p:sp>
        <p:nvSpPr>
          <p:cNvPr id="14" name="Shape 11"/>
          <p:cNvSpPr/>
          <p:nvPr/>
        </p:nvSpPr>
        <p:spPr>
          <a:xfrm>
            <a:off x="6181344" y="3044952"/>
            <a:ext cx="5230368" cy="1225296"/>
          </a:xfrm>
          <a:prstGeom prst="roundRect">
            <a:avLst>
              <a:gd name="adj" fmla="val 7463"/>
            </a:avLst>
          </a:prstGeom>
          <a:solidFill>
            <a:srgbClr val="FFFDF6"/>
          </a:solidFill>
          <a:ln w="12700">
            <a:solidFill>
              <a:srgbClr val="D4CEBE"/>
            </a:solidFill>
            <a:prstDash val="solid"/>
          </a:ln>
        </p:spPr>
      </p:sp>
      <p:sp>
        <p:nvSpPr>
          <p:cNvPr id="15" name="Text 12"/>
          <p:cNvSpPr/>
          <p:nvPr/>
        </p:nvSpPr>
        <p:spPr>
          <a:xfrm>
            <a:off x="6400800" y="3227832"/>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LOCAL STACK</a:t>
            </a:r>
            <a:endParaRPr lang="en-US" sz="900" dirty="0"/>
          </a:p>
        </p:txBody>
      </p:sp>
      <p:sp>
        <p:nvSpPr>
          <p:cNvPr id="16" name="Text 13"/>
          <p:cNvSpPr/>
          <p:nvPr/>
        </p:nvSpPr>
        <p:spPr>
          <a:xfrm>
            <a:off x="6400800" y="3529584"/>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Hugging Face GGUF + Local Apps; llama.cpp server docs</a:t>
            </a:r>
            <a:endParaRPr lang="en-US" sz="1550" dirty="0"/>
          </a:p>
        </p:txBody>
      </p:sp>
      <p:sp>
        <p:nvSpPr>
          <p:cNvPr id="17" name="Shape 14"/>
          <p:cNvSpPr/>
          <p:nvPr/>
        </p:nvSpPr>
        <p:spPr>
          <a:xfrm>
            <a:off x="603504" y="4581144"/>
            <a:ext cx="5230368" cy="1225296"/>
          </a:xfrm>
          <a:prstGeom prst="roundRect">
            <a:avLst>
              <a:gd name="adj" fmla="val 7463"/>
            </a:avLst>
          </a:prstGeom>
          <a:solidFill>
            <a:srgbClr val="DCE8DF"/>
          </a:solidFill>
          <a:ln w="12700">
            <a:solidFill>
              <a:srgbClr val="D4CEBE"/>
            </a:solidFill>
            <a:prstDash val="solid"/>
          </a:ln>
        </p:spPr>
      </p:sp>
      <p:sp>
        <p:nvSpPr>
          <p:cNvPr id="18" name="Text 15"/>
          <p:cNvSpPr/>
          <p:nvPr/>
        </p:nvSpPr>
        <p:spPr>
          <a:xfrm>
            <a:off x="822960" y="4764024"/>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HARDWARE</a:t>
            </a:r>
            <a:endParaRPr lang="en-US" sz="900" dirty="0"/>
          </a:p>
        </p:txBody>
      </p:sp>
      <p:sp>
        <p:nvSpPr>
          <p:cNvPr id="19" name="Text 16"/>
          <p:cNvSpPr/>
          <p:nvPr/>
        </p:nvSpPr>
        <p:spPr>
          <a:xfrm>
            <a:off x="822960" y="5065776"/>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NVIDIA · GeForce RTX 4060 specifications</a:t>
            </a:r>
            <a:endParaRPr lang="en-US" sz="1550" dirty="0"/>
          </a:p>
        </p:txBody>
      </p:sp>
      <p:sp>
        <p:nvSpPr>
          <p:cNvPr id="20" name="Shape 17"/>
          <p:cNvSpPr/>
          <p:nvPr/>
        </p:nvSpPr>
        <p:spPr>
          <a:xfrm>
            <a:off x="6181344" y="4581144"/>
            <a:ext cx="5230368" cy="1225296"/>
          </a:xfrm>
          <a:prstGeom prst="roundRect">
            <a:avLst>
              <a:gd name="adj" fmla="val 7463"/>
            </a:avLst>
          </a:prstGeom>
          <a:solidFill>
            <a:srgbClr val="DCE8DF"/>
          </a:solidFill>
          <a:ln w="12700">
            <a:solidFill>
              <a:srgbClr val="D4CEBE"/>
            </a:solidFill>
            <a:prstDash val="solid"/>
          </a:ln>
        </p:spPr>
      </p:sp>
      <p:sp>
        <p:nvSpPr>
          <p:cNvPr id="21" name="Text 18"/>
          <p:cNvSpPr/>
          <p:nvPr/>
        </p:nvSpPr>
        <p:spPr>
          <a:xfrm>
            <a:off x="6400800" y="4764024"/>
            <a:ext cx="1143000" cy="219456"/>
          </a:xfrm>
          <a:prstGeom prst="rect">
            <a:avLst/>
          </a:prstGeom>
          <a:noFill/>
          <a:ln/>
        </p:spPr>
        <p:txBody>
          <a:bodyPr wrap="square" lIns="0" tIns="0" rIns="0" bIns="0" rtlCol="0" anchor="ctr">
            <a:normAutofit/>
          </a:bodyPr>
          <a:lstStyle/>
          <a:p>
            <a:pPr indent="0" marL="0">
              <a:buNone/>
            </a:pPr>
            <a:r>
              <a:rPr lang="en-US" sz="900" b="1" spc="100" kern="0" dirty="0">
                <a:solidFill>
                  <a:srgbClr val="D65B35"/>
                </a:solidFill>
                <a:latin typeface="Liberation Mono" pitchFamily="34" charset="0"/>
                <a:ea typeface="Liberation Mono" pitchFamily="34" charset="-122"/>
                <a:cs typeface="Liberation Mono" pitchFamily="34" charset="-120"/>
              </a:rPr>
              <a:t>DEMO</a:t>
            </a:r>
            <a:endParaRPr lang="en-US" sz="900" dirty="0"/>
          </a:p>
        </p:txBody>
      </p:sp>
      <p:sp>
        <p:nvSpPr>
          <p:cNvPr id="22" name="Text 19"/>
          <p:cNvSpPr/>
          <p:nvPr/>
        </p:nvSpPr>
        <p:spPr>
          <a:xfrm>
            <a:off x="6400800" y="5065776"/>
            <a:ext cx="4754880" cy="530352"/>
          </a:xfrm>
          <a:prstGeom prst="rect">
            <a:avLst/>
          </a:prstGeom>
          <a:noFill/>
          <a:ln/>
        </p:spPr>
        <p:txBody>
          <a:bodyPr wrap="square" lIns="0" tIns="0" rIns="0" bIns="0" rtlCol="0" anchor="t">
            <a:normAutofit/>
          </a:bodyPr>
          <a:lstStyle/>
          <a:p>
            <a:pPr indent="0" marL="0">
              <a:buNone/>
            </a:pPr>
            <a:r>
              <a:rPr lang="en-US" sz="1550" b="1" dirty="0">
                <a:solidFill>
                  <a:srgbClr val="171A16"/>
                </a:solidFill>
                <a:latin typeface="Liberation Sans" pitchFamily="34" charset="0"/>
                <a:ea typeface="Liberation Sans" pitchFamily="34" charset="-122"/>
                <a:cs typeface="Liberation Sans" pitchFamily="34" charset="-120"/>
              </a:rPr>
              <a:t>Chess Llama repository architecture and runtime manifest</a:t>
            </a:r>
            <a:endParaRPr lang="en-US" sz="1550" dirty="0"/>
          </a:p>
        </p:txBody>
      </p:sp>
      <p:sp>
        <p:nvSpPr>
          <p:cNvPr id="23" name="Text 20"/>
          <p:cNvSpPr/>
          <p:nvPr/>
        </p:nvSpPr>
        <p:spPr>
          <a:xfrm>
            <a:off x="603504" y="6108192"/>
            <a:ext cx="10789920" cy="246888"/>
          </a:xfrm>
          <a:prstGeom prst="rect">
            <a:avLst/>
          </a:prstGeom>
          <a:noFill/>
          <a:ln/>
        </p:spPr>
        <p:txBody>
          <a:bodyPr wrap="square" lIns="0" tIns="0" rIns="0" bIns="0" rtlCol="0" anchor="ctr">
            <a:normAutofit/>
          </a:bodyPr>
          <a:lstStyle/>
          <a:p>
            <a:pPr algn="ctr" indent="0" marL="0">
              <a:buNone/>
            </a:pPr>
            <a:r>
              <a:rPr lang="en-US" sz="1150" i="1" dirty="0">
                <a:solidFill>
                  <a:srgbClr val="62695D"/>
                </a:solidFill>
                <a:latin typeface="Liberation Sans" pitchFamily="34" charset="0"/>
                <a:ea typeface="Liberation Sans" pitchFamily="34" charset="-122"/>
                <a:cs typeface="Liberation Sans" pitchFamily="34" charset="-120"/>
              </a:rPr>
              <a:t>Full URLs live in slide notes and presentation/README.md.</a:t>
            </a:r>
            <a:endParaRPr lang="en-US" sz="115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594360" y="384048"/>
            <a:ext cx="7772400" cy="219456"/>
          </a:xfrm>
          <a:prstGeom prst="rect">
            <a:avLst/>
          </a:prstGeom>
          <a:noFill/>
          <a:ln/>
        </p:spPr>
        <p:txBody>
          <a:bodyPr wrap="square" lIns="0" tIns="0" rIns="0" bIns="0" rtlCol="0" anchor="ctr">
            <a:normAutofit/>
          </a:bodyPr>
          <a:lstStyle/>
          <a:p>
            <a:pPr indent="0" marL="0">
              <a:buNone/>
            </a:pPr>
            <a:r>
              <a:rPr lang="en-US" sz="1100" b="1" spc="180" kern="0" dirty="0">
                <a:solidFill>
                  <a:srgbClr val="D65B35"/>
                </a:solidFill>
                <a:latin typeface="Liberation Mono" pitchFamily="34" charset="0"/>
                <a:ea typeface="Liberation Mono" pitchFamily="34" charset="-122"/>
                <a:cs typeface="Liberation Mono" pitchFamily="34" charset="-120"/>
              </a:rPr>
              <a:t>APPENDIX · MEDIA</a:t>
            </a:r>
            <a:endParaRPr lang="en-US" sz="1100" dirty="0"/>
          </a:p>
        </p:txBody>
      </p:sp>
      <p:sp>
        <p:nvSpPr>
          <p:cNvPr id="4" name="Text 1"/>
          <p:cNvSpPr/>
          <p:nvPr/>
        </p:nvSpPr>
        <p:spPr>
          <a:xfrm>
            <a:off x="566928" y="713232"/>
            <a:ext cx="10789920" cy="658368"/>
          </a:xfrm>
          <a:prstGeom prst="rect">
            <a:avLst/>
          </a:prstGeom>
          <a:noFill/>
          <a:ln/>
        </p:spPr>
        <p:txBody>
          <a:bodyPr wrap="square" lIns="0" tIns="0" rIns="0" bIns="0" rtlCol="0" anchor="ctr">
            <a:normAutofit/>
          </a:bodyPr>
          <a:lstStyle/>
          <a:p>
            <a:pPr indent="0" marL="0">
              <a:buNone/>
            </a:pPr>
            <a:r>
              <a:rPr lang="en-US" sz="3100" b="1" dirty="0">
                <a:solidFill>
                  <a:srgbClr val="171A16"/>
                </a:solidFill>
                <a:latin typeface="Liberation Sans" pitchFamily="34" charset="0"/>
                <a:ea typeface="Liberation Sans" pitchFamily="34" charset="-122"/>
                <a:cs typeface="Liberation Sans" pitchFamily="34" charset="-120"/>
              </a:rPr>
              <a:t>Image and logo credits</a:t>
            </a:r>
            <a:endParaRPr lang="en-US" sz="3100" dirty="0"/>
          </a:p>
        </p:txBody>
      </p:sp>
      <p:sp>
        <p:nvSpPr>
          <p:cNvPr id="5" name="Shape 2"/>
          <p:cNvSpPr/>
          <p:nvPr/>
        </p:nvSpPr>
        <p:spPr>
          <a:xfrm>
            <a:off x="603504" y="1444752"/>
            <a:ext cx="5212080" cy="877824"/>
          </a:xfrm>
          <a:prstGeom prst="roundRect">
            <a:avLst>
              <a:gd name="adj" fmla="val 8333"/>
            </a:avLst>
          </a:prstGeom>
          <a:solidFill>
            <a:srgbClr val="FFFDF6"/>
          </a:solidFill>
          <a:ln w="12700">
            <a:solidFill>
              <a:srgbClr val="D4CEBE"/>
            </a:solidFill>
            <a:prstDash val="solid"/>
          </a:ln>
        </p:spPr>
      </p:sp>
      <p:sp>
        <p:nvSpPr>
          <p:cNvPr id="6" name="Text 3"/>
          <p:cNvSpPr/>
          <p:nvPr/>
        </p:nvSpPr>
        <p:spPr>
          <a:xfrm>
            <a:off x="786384" y="1609344"/>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01</a:t>
            </a:r>
            <a:endParaRPr lang="en-US" sz="950" dirty="0"/>
          </a:p>
        </p:txBody>
      </p:sp>
      <p:sp>
        <p:nvSpPr>
          <p:cNvPr id="7" name="Text 4"/>
          <p:cNvSpPr/>
          <p:nvPr/>
        </p:nvSpPr>
        <p:spPr>
          <a:xfrm>
            <a:off x="1261872" y="1554480"/>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Reprogramming ENIAC · U.S. Army / ARL Technical Library · Public domain</a:t>
            </a:r>
            <a:endParaRPr lang="en-US" sz="1350" dirty="0"/>
          </a:p>
        </p:txBody>
      </p:sp>
      <p:sp>
        <p:nvSpPr>
          <p:cNvPr id="8" name="Shape 5"/>
          <p:cNvSpPr/>
          <p:nvPr/>
        </p:nvSpPr>
        <p:spPr>
          <a:xfrm>
            <a:off x="6199632" y="1444752"/>
            <a:ext cx="5212080" cy="877824"/>
          </a:xfrm>
          <a:prstGeom prst="roundRect">
            <a:avLst>
              <a:gd name="adj" fmla="val 8333"/>
            </a:avLst>
          </a:prstGeom>
          <a:solidFill>
            <a:srgbClr val="FFFDF6"/>
          </a:solidFill>
          <a:ln w="12700">
            <a:solidFill>
              <a:srgbClr val="D4CEBE"/>
            </a:solidFill>
            <a:prstDash val="solid"/>
          </a:ln>
        </p:spPr>
      </p:sp>
      <p:sp>
        <p:nvSpPr>
          <p:cNvPr id="9" name="Text 6"/>
          <p:cNvSpPr/>
          <p:nvPr/>
        </p:nvSpPr>
        <p:spPr>
          <a:xfrm>
            <a:off x="6382512" y="1609344"/>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02</a:t>
            </a:r>
            <a:endParaRPr lang="en-US" sz="950" dirty="0"/>
          </a:p>
        </p:txBody>
      </p:sp>
      <p:sp>
        <p:nvSpPr>
          <p:cNvPr id="10" name="Text 7"/>
          <p:cNvSpPr/>
          <p:nvPr/>
        </p:nvSpPr>
        <p:spPr>
          <a:xfrm>
            <a:off x="6858000" y="1554480"/>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IBM 2030 in New Haven · Warren K. Leffler / Library of Congress · Public domain</a:t>
            </a:r>
            <a:endParaRPr lang="en-US" sz="1350" dirty="0"/>
          </a:p>
        </p:txBody>
      </p:sp>
      <p:sp>
        <p:nvSpPr>
          <p:cNvPr id="11" name="Shape 8"/>
          <p:cNvSpPr/>
          <p:nvPr/>
        </p:nvSpPr>
        <p:spPr>
          <a:xfrm>
            <a:off x="603504" y="2578608"/>
            <a:ext cx="5212080" cy="877824"/>
          </a:xfrm>
          <a:prstGeom prst="roundRect">
            <a:avLst>
              <a:gd name="adj" fmla="val 8333"/>
            </a:avLst>
          </a:prstGeom>
          <a:solidFill>
            <a:srgbClr val="FFFDF6"/>
          </a:solidFill>
          <a:ln w="12700">
            <a:solidFill>
              <a:srgbClr val="D4CEBE"/>
            </a:solidFill>
            <a:prstDash val="solid"/>
          </a:ln>
        </p:spPr>
      </p:sp>
      <p:sp>
        <p:nvSpPr>
          <p:cNvPr id="12" name="Text 9"/>
          <p:cNvSpPr/>
          <p:nvPr/>
        </p:nvSpPr>
        <p:spPr>
          <a:xfrm>
            <a:off x="786384" y="2743200"/>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03</a:t>
            </a:r>
            <a:endParaRPr lang="en-US" sz="950" dirty="0"/>
          </a:p>
        </p:txBody>
      </p:sp>
      <p:sp>
        <p:nvSpPr>
          <p:cNvPr id="13" name="Text 10"/>
          <p:cNvSpPr/>
          <p:nvPr/>
        </p:nvSpPr>
        <p:spPr>
          <a:xfrm>
            <a:off x="1261872" y="2688336"/>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Kenbak-1 · Kathryn Greenhill · CC BY-SA 2.0 · cropped</a:t>
            </a:r>
            <a:endParaRPr lang="en-US" sz="1350" dirty="0"/>
          </a:p>
        </p:txBody>
      </p:sp>
      <p:sp>
        <p:nvSpPr>
          <p:cNvPr id="14" name="Shape 11"/>
          <p:cNvSpPr/>
          <p:nvPr/>
        </p:nvSpPr>
        <p:spPr>
          <a:xfrm>
            <a:off x="6199632" y="2578608"/>
            <a:ext cx="5212080" cy="877824"/>
          </a:xfrm>
          <a:prstGeom prst="roundRect">
            <a:avLst>
              <a:gd name="adj" fmla="val 8333"/>
            </a:avLst>
          </a:prstGeom>
          <a:solidFill>
            <a:srgbClr val="FFFDF6"/>
          </a:solidFill>
          <a:ln w="12700">
            <a:solidFill>
              <a:srgbClr val="D4CEBE"/>
            </a:solidFill>
            <a:prstDash val="solid"/>
          </a:ln>
        </p:spPr>
      </p:sp>
      <p:sp>
        <p:nvSpPr>
          <p:cNvPr id="15" name="Text 12"/>
          <p:cNvSpPr/>
          <p:nvPr/>
        </p:nvSpPr>
        <p:spPr>
          <a:xfrm>
            <a:off x="6382512" y="2743200"/>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04</a:t>
            </a:r>
            <a:endParaRPr lang="en-US" sz="950" dirty="0"/>
          </a:p>
        </p:txBody>
      </p:sp>
      <p:sp>
        <p:nvSpPr>
          <p:cNvPr id="16" name="Text 13"/>
          <p:cNvSpPr/>
          <p:nvPr/>
        </p:nvSpPr>
        <p:spPr>
          <a:xfrm>
            <a:off x="6858000" y="2688336"/>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Hugging Face logo · official Hugging Face brand asset</a:t>
            </a:r>
            <a:endParaRPr lang="en-US" sz="1350" dirty="0"/>
          </a:p>
        </p:txBody>
      </p:sp>
      <p:sp>
        <p:nvSpPr>
          <p:cNvPr id="17" name="Shape 14"/>
          <p:cNvSpPr/>
          <p:nvPr/>
        </p:nvSpPr>
        <p:spPr>
          <a:xfrm>
            <a:off x="603504" y="3712464"/>
            <a:ext cx="5212080" cy="877824"/>
          </a:xfrm>
          <a:prstGeom prst="roundRect">
            <a:avLst>
              <a:gd name="adj" fmla="val 8333"/>
            </a:avLst>
          </a:prstGeom>
          <a:solidFill>
            <a:srgbClr val="FFFDF6"/>
          </a:solidFill>
          <a:ln w="12700">
            <a:solidFill>
              <a:srgbClr val="D4CEBE"/>
            </a:solidFill>
            <a:prstDash val="solid"/>
          </a:ln>
        </p:spPr>
      </p:sp>
      <p:sp>
        <p:nvSpPr>
          <p:cNvPr id="18" name="Text 15"/>
          <p:cNvSpPr/>
          <p:nvPr/>
        </p:nvSpPr>
        <p:spPr>
          <a:xfrm>
            <a:off x="786384" y="3877056"/>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05</a:t>
            </a:r>
            <a:endParaRPr lang="en-US" sz="950" dirty="0"/>
          </a:p>
        </p:txBody>
      </p:sp>
      <p:sp>
        <p:nvSpPr>
          <p:cNvPr id="19" name="Text 16"/>
          <p:cNvSpPr/>
          <p:nvPr/>
        </p:nvSpPr>
        <p:spPr>
          <a:xfrm>
            <a:off x="1261872" y="3822192"/>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llama.cpp logo · ggml-org llama.brand · CC BY-NC 4.0 + nominative-use permission</a:t>
            </a:r>
            <a:endParaRPr lang="en-US" sz="1350" dirty="0"/>
          </a:p>
        </p:txBody>
      </p:sp>
      <p:sp>
        <p:nvSpPr>
          <p:cNvPr id="20" name="Shape 17"/>
          <p:cNvSpPr/>
          <p:nvPr/>
        </p:nvSpPr>
        <p:spPr>
          <a:xfrm>
            <a:off x="6199632" y="3712464"/>
            <a:ext cx="5212080" cy="877824"/>
          </a:xfrm>
          <a:prstGeom prst="roundRect">
            <a:avLst>
              <a:gd name="adj" fmla="val 8333"/>
            </a:avLst>
          </a:prstGeom>
          <a:solidFill>
            <a:srgbClr val="FFFDF6"/>
          </a:solidFill>
          <a:ln w="12700">
            <a:solidFill>
              <a:srgbClr val="D4CEBE"/>
            </a:solidFill>
            <a:prstDash val="solid"/>
          </a:ln>
        </p:spPr>
      </p:sp>
      <p:sp>
        <p:nvSpPr>
          <p:cNvPr id="21" name="Text 18"/>
          <p:cNvSpPr/>
          <p:nvPr/>
        </p:nvSpPr>
        <p:spPr>
          <a:xfrm>
            <a:off x="6382512" y="3877056"/>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06</a:t>
            </a:r>
            <a:endParaRPr lang="en-US" sz="950" dirty="0"/>
          </a:p>
        </p:txBody>
      </p:sp>
      <p:sp>
        <p:nvSpPr>
          <p:cNvPr id="22" name="Text 19"/>
          <p:cNvSpPr/>
          <p:nvPr/>
        </p:nvSpPr>
        <p:spPr>
          <a:xfrm>
            <a:off x="6858000" y="3822192"/>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Ollama logo · Ollama repository · MIT license</a:t>
            </a:r>
            <a:endParaRPr lang="en-US" sz="1350" dirty="0"/>
          </a:p>
        </p:txBody>
      </p:sp>
      <p:sp>
        <p:nvSpPr>
          <p:cNvPr id="23" name="Shape 20"/>
          <p:cNvSpPr/>
          <p:nvPr/>
        </p:nvSpPr>
        <p:spPr>
          <a:xfrm>
            <a:off x="603504" y="4846320"/>
            <a:ext cx="5212080" cy="877824"/>
          </a:xfrm>
          <a:prstGeom prst="roundRect">
            <a:avLst>
              <a:gd name="adj" fmla="val 8333"/>
            </a:avLst>
          </a:prstGeom>
          <a:solidFill>
            <a:srgbClr val="F3D8C6"/>
          </a:solidFill>
          <a:ln w="12700">
            <a:solidFill>
              <a:srgbClr val="D4CEBE"/>
            </a:solidFill>
            <a:prstDash val="solid"/>
          </a:ln>
        </p:spPr>
      </p:sp>
      <p:sp>
        <p:nvSpPr>
          <p:cNvPr id="24" name="Text 21"/>
          <p:cNvSpPr/>
          <p:nvPr/>
        </p:nvSpPr>
        <p:spPr>
          <a:xfrm>
            <a:off x="786384" y="5010912"/>
            <a:ext cx="347472" cy="228600"/>
          </a:xfrm>
          <a:prstGeom prst="rect">
            <a:avLst/>
          </a:prstGeom>
          <a:noFill/>
          <a:ln/>
        </p:spPr>
        <p:txBody>
          <a:bodyPr wrap="square" lIns="0" tIns="0" rIns="0" bIns="0" rtlCol="0" anchor="ctr">
            <a:normAutofit/>
          </a:bodyPr>
          <a:lstStyle/>
          <a:p>
            <a:pPr indent="0" marL="0">
              <a:buNone/>
            </a:pPr>
            <a:r>
              <a:rPr lang="en-US" sz="950" b="1" dirty="0">
                <a:solidFill>
                  <a:srgbClr val="D65B35"/>
                </a:solidFill>
                <a:latin typeface="Liberation Mono" pitchFamily="34" charset="0"/>
                <a:ea typeface="Liberation Mono" pitchFamily="34" charset="-122"/>
                <a:cs typeface="Liberation Mono" pitchFamily="34" charset="-120"/>
              </a:rPr>
              <a:t>07</a:t>
            </a:r>
            <a:endParaRPr lang="en-US" sz="950" dirty="0"/>
          </a:p>
        </p:txBody>
      </p:sp>
      <p:sp>
        <p:nvSpPr>
          <p:cNvPr id="25" name="Text 22"/>
          <p:cNvSpPr/>
          <p:nvPr/>
        </p:nvSpPr>
        <p:spPr>
          <a:xfrm>
            <a:off x="1261872" y="4956048"/>
            <a:ext cx="4279392" cy="621792"/>
          </a:xfrm>
          <a:prstGeom prst="rect">
            <a:avLst/>
          </a:prstGeom>
          <a:noFill/>
          <a:ln/>
        </p:spPr>
        <p:txBody>
          <a:bodyPr wrap="square" lIns="0" tIns="0" rIns="0" bIns="0" rtlCol="0" anchor="ctr">
            <a:normAutofit/>
          </a:bodyPr>
          <a:lstStyle/>
          <a:p>
            <a:pPr indent="0" marL="0">
              <a:buNone/>
            </a:pPr>
            <a:r>
              <a:rPr lang="en-US" sz="1350" dirty="0">
                <a:solidFill>
                  <a:srgbClr val="171A16"/>
                </a:solidFill>
                <a:latin typeface="Liberation Sans" pitchFamily="34" charset="0"/>
                <a:ea typeface="Liberation Sans" pitchFamily="34" charset="-122"/>
                <a:cs typeface="Liberation Sans" pitchFamily="34" charset="-120"/>
              </a:rPr>
              <a:t>Chess Llama interface preview · original vector composition for this deck</a:t>
            </a:r>
            <a:endParaRPr lang="en-US" sz="1350" dirty="0"/>
          </a:p>
        </p:txBody>
      </p:sp>
      <p:sp>
        <p:nvSpPr>
          <p:cNvPr id="26" name="Text 23"/>
          <p:cNvSpPr/>
          <p:nvPr/>
        </p:nvSpPr>
        <p:spPr>
          <a:xfrm>
            <a:off x="603504" y="6099048"/>
            <a:ext cx="10789920" cy="246888"/>
          </a:xfrm>
          <a:prstGeom prst="rect">
            <a:avLst/>
          </a:prstGeom>
          <a:noFill/>
          <a:ln/>
        </p:spPr>
        <p:txBody>
          <a:bodyPr wrap="square" lIns="0" tIns="0" rIns="0" bIns="0" rtlCol="0" anchor="ctr">
            <a:normAutofit/>
          </a:bodyPr>
          <a:lstStyle/>
          <a:p>
            <a:pPr algn="ctr" indent="0" marL="0">
              <a:buNone/>
            </a:pPr>
            <a:r>
              <a:rPr lang="en-US" sz="1150" i="1" dirty="0">
                <a:solidFill>
                  <a:srgbClr val="62695D"/>
                </a:solidFill>
                <a:latin typeface="Liberation Sans" pitchFamily="34" charset="0"/>
                <a:ea typeface="Liberation Sans" pitchFamily="34" charset="-122"/>
                <a:cs typeface="Liberation Sans" pitchFamily="34" charset="-120"/>
              </a:rPr>
              <a:t>Full URLs, licenses, hashes, and modification notes: assets/ATTRIBUTION.md</a:t>
            </a:r>
            <a:endParaRPr lang="en-US" sz="1150" dirty="0"/>
          </a:p>
        </p:txBody>
      </p:sp>
      <p:sp>
        <p:nvSpPr>
          <p:cNvPr id="25" name="Slide Number Placeholder 0"/>
          <p:cNvSpPr>
            <a:spLocks noGrp="1"/>
          </p:cNvSpPr>
          <p:nvPr>
            <p:ph type="sldNum" sz="quarter" idx="4294967295"/>
          </p:nvPr>
        </p:nvSpPr>
        <p:spPr>
          <a:xfrm>
            <a:off x="11292840" y="6547104"/>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62695D"/>
                </a:solidFill>
                <a:latin typeface="Liberation Mono"/>
                <a:ea typeface="Liberation Mono"/>
                <a:cs typeface="Liberation Mono"/>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Chess Llama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LLMs: My 8GB VRAM vs the World</dc:title>
  <dc:subject>The potential of local language models</dc:subject>
  <dc:creator>Chess Llama project</dc:creator>
  <cp:lastModifiedBy>Chess Llama project</cp:lastModifiedBy>
  <cp:revision>1</cp:revision>
  <dcterms:created xsi:type="dcterms:W3CDTF">2026-09-18T16:02:20Z</dcterms:created>
  <dcterms:modified xsi:type="dcterms:W3CDTF">2026-09-18T16:02:20Z</dcterms:modified>
</cp:coreProperties>
</file>